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4" d="100"/>
          <a:sy n="94" d="100"/>
        </p:scale>
        <p:origin x="-1284" y="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EBAA41-FF5F-4B68-A582-FAC4B94B1A67}" type="datetimeFigureOut">
              <a:rPr lang="en-US" smtClean="0"/>
              <a:t>9/17/2026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958B47-D112-4F11-9B87-C538EA1E046F}" type="slidenum">
              <a:rPr lang="en-US" smtClean="0"/>
              <a:t>‹#›</a:t>
            </a:fld>
            <a:endParaRPr lang="en-US"/>
          </a:p>
        </p:txBody>
      </p:sp>
    </p:spTree>
    <p:extLst>
      <p:ext uri="{BB962C8B-B14F-4D97-AF65-F5344CB8AC3E}">
        <p14:creationId xmlns:p14="http://schemas.microsoft.com/office/powerpoint/2010/main" val="2533011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69ADD29-6227-49E1-B5C7-1945733841F3}"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1060225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C5C111-D058-4107-869F-064C67DE75D9}"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3985929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297F4DC-E9E6-4480-AB79-66F412FFB98D}"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3375014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1A85DD9-461B-4A44-AEDB-31691997D862}" type="datetime1">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3886235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F6D640E-81A0-4283-B103-04AEBF0BAC83}" type="datetime1">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1685678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A15C0B1-93CC-4915-A40C-6D763CD52A34}" type="datetime1">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117528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573693-7CA0-4CF9-B6DF-5774393AD443}" type="datetime1">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2387801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A8DDA2-4CF3-4296-8532-C70591543EEB}" type="datetime1">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1203270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2BCB4A-17B7-4E9C-80AC-FAE22EB89230}" type="datetime1">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3850277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B2353-81AF-4558-BB9E-7A7D623AF756}"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1669871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9B45D3-F681-4478-9A49-8818C9BED27A}"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A877B-B6CF-4F4C-A5D9-57B57A685460}" type="slidenum">
              <a:rPr lang="en-US" smtClean="0"/>
              <a:t>‹#›</a:t>
            </a:fld>
            <a:endParaRPr lang="en-US"/>
          </a:p>
        </p:txBody>
      </p:sp>
    </p:spTree>
    <p:extLst>
      <p:ext uri="{BB962C8B-B14F-4D97-AF65-F5344CB8AC3E}">
        <p14:creationId xmlns:p14="http://schemas.microsoft.com/office/powerpoint/2010/main" val="961654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66F505-4CA8-4DA6-8E34-330C96864CA2}" type="datetime1">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CA877B-B6CF-4F4C-A5D9-57B57A685460}" type="slidenum">
              <a:rPr lang="en-US" smtClean="0"/>
              <a:t>‹#›</a:t>
            </a:fld>
            <a:endParaRPr lang="en-US"/>
          </a:p>
        </p:txBody>
      </p:sp>
    </p:spTree>
    <p:extLst>
      <p:ext uri="{BB962C8B-B14F-4D97-AF65-F5344CB8AC3E}">
        <p14:creationId xmlns:p14="http://schemas.microsoft.com/office/powerpoint/2010/main" val="308396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librarysearch.library.utoronto.ca/permalink/01UTORONTO_INST/1dl2m71/alma99110742568580619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librarysearch.library.utoronto.ca/permalink/01UTORONTO_INST/14bjeso/alma991107061413606196"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librarysearch.library.utoronto.ca/permalink/01UTORONTO_INST/10oudkq/cdi_walterdegruyter_books_10_0000_9781789134698_001"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librarysearch.library.utoronto.ca/permalink/01UTORONTO_INST/1dl2m71/alma991107212149706196"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librarysearch.library.utoronto.ca/permalink/01UTORONTO_INST/1dl2m71/alma991107753593906196"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ing.oreilly.com/library/view/machine-learning-for/9781803246970/?sso_link=yes&amp;sso_link_from=utoronto-edu" TargetMode="External"/><Relationship Id="rId2" Type="http://schemas.openxmlformats.org/officeDocument/2006/relationships/hyperlink" Target="https://librarysearch.library.utoronto.ca/permalink/01UTORONTO_INST/10oudkq/cdi_walterdegruyter_books_10_0000_9781789342710_00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ca.investing.com/indices/s-p-tsx-composite-candlestic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CASES TO SELECT FROM TO PRESENT IN </a:t>
            </a:r>
            <a:r>
              <a:rPr lang="en-US" b="1" dirty="0" smtClean="0"/>
              <a:t>APS1053</a:t>
            </a:r>
            <a:endParaRPr lang="en-US" dirty="0"/>
          </a:p>
        </p:txBody>
      </p:sp>
      <p:sp>
        <p:nvSpPr>
          <p:cNvPr id="3" name="Subtitle 2"/>
          <p:cNvSpPr>
            <a:spLocks noGrp="1"/>
          </p:cNvSpPr>
          <p:nvPr>
            <p:ph type="subTitle" idx="1"/>
          </p:nvPr>
        </p:nvSpPr>
        <p:spPr/>
        <p:txBody>
          <a:bodyPr/>
          <a:lstStyle/>
          <a:p>
            <a:r>
              <a:rPr lang="en-US" dirty="0" smtClean="0"/>
              <a:t>Reinforcement Learning</a:t>
            </a:r>
          </a:p>
          <a:p>
            <a:r>
              <a:rPr lang="en-US" dirty="0" smtClean="0"/>
              <a:t>Generative AI</a:t>
            </a:r>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a:t>
            </a:fld>
            <a:endParaRPr lang="en-US"/>
          </a:p>
        </p:txBody>
      </p:sp>
    </p:spTree>
    <p:extLst>
      <p:ext uri="{BB962C8B-B14F-4D97-AF65-F5344CB8AC3E}">
        <p14:creationId xmlns:p14="http://schemas.microsoft.com/office/powerpoint/2010/main" val="2087757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b="1" dirty="0"/>
              <a:t>BOOK 1:  Reinforcement Learning for Finance by </a:t>
            </a:r>
            <a:r>
              <a:rPr lang="en-US" b="1" dirty="0" err="1"/>
              <a:t>Hilpisch</a:t>
            </a:r>
            <a:r>
              <a:rPr lang="en-US" b="1" dirty="0"/>
              <a:t>: </a:t>
            </a:r>
            <a:r>
              <a:rPr lang="en-US" b="1" dirty="0" err="1"/>
              <a:t>UofT</a:t>
            </a:r>
            <a:r>
              <a:rPr lang="en-US" b="1" dirty="0" smtClean="0"/>
              <a:t>:</a:t>
            </a:r>
          </a:p>
          <a:p>
            <a:r>
              <a:rPr lang="en-US" dirty="0">
                <a:hlinkClick r:id="rId2"/>
              </a:rPr>
              <a:t>https://</a:t>
            </a:r>
            <a:r>
              <a:rPr lang="en-US" dirty="0" smtClean="0">
                <a:hlinkClick r:id="rId2"/>
              </a:rPr>
              <a:t>librarysearch.library.utoronto.ca/permalink/01UTORONTO_INST/1dl2m71/alma991107425685806196</a:t>
            </a:r>
            <a:r>
              <a:rPr lang="en-US" dirty="0" smtClean="0"/>
              <a:t> </a:t>
            </a:r>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a:t>
            </a:fld>
            <a:endParaRPr lang="en-US"/>
          </a:p>
        </p:txBody>
      </p:sp>
    </p:spTree>
    <p:extLst>
      <p:ext uri="{BB962C8B-B14F-4D97-AF65-F5344CB8AC3E}">
        <p14:creationId xmlns:p14="http://schemas.microsoft.com/office/powerpoint/2010/main" val="1294026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normAutofit fontScale="70000" lnSpcReduction="20000"/>
          </a:bodyPr>
          <a:lstStyle/>
          <a:p>
            <a:r>
              <a:rPr lang="en-US" dirty="0"/>
              <a:t>THE BASICS:</a:t>
            </a:r>
          </a:p>
          <a:p>
            <a:r>
              <a:rPr lang="en-US" dirty="0"/>
              <a:t>Case Study 1: Chapter 1: Learning through interaction [p.3]: The first chapter focuses on learning through interaction with four major examples: probability matching, Bayesian updating, RL, and DQL.</a:t>
            </a:r>
          </a:p>
          <a:p>
            <a:pPr marL="0" indent="0">
              <a:buNone/>
            </a:pPr>
            <a:endParaRPr lang="en-US" dirty="0"/>
          </a:p>
          <a:p>
            <a:r>
              <a:rPr lang="en-US" dirty="0"/>
              <a:t>Case Study 2: Chapter 2: Deep Q Learning [p.19]: The second chapter introduces concepts from dynamic programming (DP) and discusses DQL as an approach to approximate solutions to DP problems. The major theme is the derivation of optimal policies to maximize a given objective function through taking a sequence of actions and updating the optimal policy iteratively. DQL is illustrated on the basis of a DQL agent that learns to play the </a:t>
            </a:r>
            <a:r>
              <a:rPr lang="en-US" dirty="0" err="1"/>
              <a:t>CartPole</a:t>
            </a:r>
            <a:r>
              <a:rPr lang="en-US" dirty="0"/>
              <a:t> game from the Gymnasium Python package</a:t>
            </a:r>
            <a:r>
              <a:rPr lang="en-US" dirty="0" smtClean="0"/>
              <a:t>.</a:t>
            </a:r>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3</a:t>
            </a:fld>
            <a:endParaRPr lang="en-US"/>
          </a:p>
        </p:txBody>
      </p:sp>
    </p:spTree>
    <p:extLst>
      <p:ext uri="{BB962C8B-B14F-4D97-AF65-F5344CB8AC3E}">
        <p14:creationId xmlns:p14="http://schemas.microsoft.com/office/powerpoint/2010/main" val="213850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Case Study 3: Chapter 3: Financial Q Learning [p.37]: The third chapter develops a first Finance environment that allows the DQL agent from Chapter 2 to learn a financial prediction game. Although the environment formally replicates the API of the </a:t>
            </a:r>
            <a:r>
              <a:rPr lang="en-US" dirty="0" err="1"/>
              <a:t>CartPole</a:t>
            </a:r>
            <a:r>
              <a:rPr lang="en-US" dirty="0"/>
              <a:t> game, it misses some important characteristics that are needed to apply RL successfully.</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4</a:t>
            </a:fld>
            <a:endParaRPr lang="en-US"/>
          </a:p>
        </p:txBody>
      </p:sp>
    </p:spTree>
    <p:extLst>
      <p:ext uri="{BB962C8B-B14F-4D97-AF65-F5344CB8AC3E}">
        <p14:creationId xmlns:p14="http://schemas.microsoft.com/office/powerpoint/2010/main" val="2080996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DATA AUGMENTATION:</a:t>
            </a:r>
          </a:p>
          <a:p>
            <a:r>
              <a:rPr lang="en-US" dirty="0"/>
              <a:t>Case Study 4: Chapter 4: Simulated Data [p.51]: The fourth chapter is about data augmentation based on Monte Carlo simulation (MCS) approaches, and it discusses the addition of noise to historical data and the simulation of stochastic processes.</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5</a:t>
            </a:fld>
            <a:endParaRPr lang="en-US"/>
          </a:p>
        </p:txBody>
      </p:sp>
    </p:spTree>
    <p:extLst>
      <p:ext uri="{BB962C8B-B14F-4D97-AF65-F5344CB8AC3E}">
        <p14:creationId xmlns:p14="http://schemas.microsoft.com/office/powerpoint/2010/main" val="127471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Case Study 5: Chapter 5: Generated Data [p.67]: The fifth chapter introduces generative adversarial networks (GANs) to synthetically generate time series data that has statistical characteristics that are similar to those of historical time series data on which a GAN was trained.</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6</a:t>
            </a:fld>
            <a:endParaRPr lang="en-US"/>
          </a:p>
        </p:txBody>
      </p:sp>
    </p:spTree>
    <p:extLst>
      <p:ext uri="{BB962C8B-B14F-4D97-AF65-F5344CB8AC3E}">
        <p14:creationId xmlns:p14="http://schemas.microsoft.com/office/powerpoint/2010/main" val="1158256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FINANCIAL APPLICATIONS:</a:t>
            </a:r>
          </a:p>
          <a:p>
            <a:r>
              <a:rPr lang="en-US" dirty="0"/>
              <a:t>Case Study 6: Chapter 6: Algorithmic Trading [p.85]: Building on the example from Chapter 3, this chapter applies DQL to the problem of algorithmic trading based on the prediction of the next price movement’s direction.</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7</a:t>
            </a:fld>
            <a:endParaRPr lang="en-US"/>
          </a:p>
        </p:txBody>
      </p:sp>
    </p:spTree>
    <p:extLst>
      <p:ext uri="{BB962C8B-B14F-4D97-AF65-F5344CB8AC3E}">
        <p14:creationId xmlns:p14="http://schemas.microsoft.com/office/powerpoint/2010/main" val="3723521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Case Study 7: Chapter 7: Dynamic Hedging [p.105]: The seventh chapter is about learning optimal dynamic hedging strategies for an option with European exercise in the Black-Scholes-Merton (1973) model. In other words, delta hedging or dynamic replication of the option is the goal.</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8</a:t>
            </a:fld>
            <a:endParaRPr lang="en-US"/>
          </a:p>
        </p:txBody>
      </p:sp>
    </p:spTree>
    <p:extLst>
      <p:ext uri="{BB962C8B-B14F-4D97-AF65-F5344CB8AC3E}">
        <p14:creationId xmlns:p14="http://schemas.microsoft.com/office/powerpoint/2010/main" val="3258356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Case Study 8: Chapter 8: Dynamic Asset Allocation [p.129]: This chapter applies DQL to three canonical examples in asset management: one risky asset and one risk-free asset, two risky assets, and three risky assets. The problem is to dynamically allocate funds to the available assets to maximize a profit target or a risk-adjusted return (Sharpe ratio).</a:t>
            </a:r>
          </a:p>
        </p:txBody>
      </p:sp>
      <p:sp>
        <p:nvSpPr>
          <p:cNvPr id="4" name="Slide Number Placeholder 3"/>
          <p:cNvSpPr>
            <a:spLocks noGrp="1"/>
          </p:cNvSpPr>
          <p:nvPr>
            <p:ph type="sldNum" sz="quarter" idx="12"/>
          </p:nvPr>
        </p:nvSpPr>
        <p:spPr/>
        <p:txBody>
          <a:bodyPr/>
          <a:lstStyle/>
          <a:p>
            <a:fld id="{B5CA877B-B6CF-4F4C-A5D9-57B57A685460}" type="slidenum">
              <a:rPr lang="en-US" smtClean="0"/>
              <a:t>9</a:t>
            </a:fld>
            <a:endParaRPr lang="en-US"/>
          </a:p>
        </p:txBody>
      </p:sp>
    </p:spTree>
    <p:extLst>
      <p:ext uri="{BB962C8B-B14F-4D97-AF65-F5344CB8AC3E}">
        <p14:creationId xmlns:p14="http://schemas.microsoft.com/office/powerpoint/2010/main" val="611710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normAutofit lnSpcReduction="10000"/>
          </a:bodyPr>
          <a:lstStyle/>
          <a:p>
            <a:r>
              <a:rPr lang="en-US" dirty="0"/>
              <a:t>Case Study 9: Chapter 9: Optimal Execution [p.167]: The ninth chapter is about the optimal liquidation of a large position in a stock. Given a certain risk aversion, the total execution costs are to be minimized. This use case differs from the others in that all actions are tightly connected with each other through an additional constraint. The chapter also introduces an additional RL algorithm in the form of an actor-critic implementation.</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10</a:t>
            </a:fld>
            <a:endParaRPr lang="en-US"/>
          </a:p>
        </p:txBody>
      </p:sp>
    </p:spTree>
    <p:extLst>
      <p:ext uri="{BB962C8B-B14F-4D97-AF65-F5344CB8AC3E}">
        <p14:creationId xmlns:p14="http://schemas.microsoft.com/office/powerpoint/2010/main" val="186123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b="1" dirty="0"/>
              <a:t>BOOK 2:  Machine Learning Blueprints for Finance by </a:t>
            </a:r>
            <a:r>
              <a:rPr lang="en-US" b="1" dirty="0" err="1"/>
              <a:t>Tatsat</a:t>
            </a:r>
            <a:r>
              <a:rPr lang="en-US" b="1" dirty="0"/>
              <a:t> </a:t>
            </a:r>
            <a:r>
              <a:rPr lang="en-US" b="1" dirty="0" err="1"/>
              <a:t>UofT</a:t>
            </a:r>
            <a:r>
              <a:rPr lang="en-US" b="1" dirty="0"/>
              <a:t>:</a:t>
            </a:r>
            <a:endParaRPr lang="en-US" dirty="0"/>
          </a:p>
          <a:p>
            <a:r>
              <a:rPr lang="en-US" u="sng" dirty="0">
                <a:hlinkClick r:id="rId2"/>
              </a:rPr>
              <a:t>https://librarysearch.library.utoronto.ca/permalink/01UTORONTO_INST/14bjeso/alma991107061413606196</a:t>
            </a:r>
            <a:r>
              <a:rPr lang="en-US" dirty="0"/>
              <a:t> </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11</a:t>
            </a:fld>
            <a:endParaRPr lang="en-US"/>
          </a:p>
        </p:txBody>
      </p:sp>
    </p:spTree>
    <p:extLst>
      <p:ext uri="{BB962C8B-B14F-4D97-AF65-F5344CB8AC3E}">
        <p14:creationId xmlns:p14="http://schemas.microsoft.com/office/powerpoint/2010/main" val="2458067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normAutofit fontScale="70000" lnSpcReduction="20000"/>
          </a:bodyPr>
          <a:lstStyle/>
          <a:p>
            <a:r>
              <a:rPr lang="en-US" dirty="0"/>
              <a:t>Case Study 23: Reinforcement Learning–Based Trading Strategy [p.298]:                        </a:t>
            </a:r>
          </a:p>
          <a:p>
            <a:r>
              <a:rPr lang="en-US" dirty="0"/>
              <a:t>Blueprint for Creating a Reinforcement Learning–Based Trading Strategy  </a:t>
            </a:r>
          </a:p>
          <a:p>
            <a:pPr marL="0" indent="0">
              <a:buNone/>
            </a:pPr>
            <a:endParaRPr lang="en-US" dirty="0"/>
          </a:p>
          <a:p>
            <a:r>
              <a:rPr lang="en-US" dirty="0"/>
              <a:t>Case Study 24: Derivatives Hedging  [p.316]:                                                                         </a:t>
            </a:r>
          </a:p>
          <a:p>
            <a:r>
              <a:rPr lang="en-US" dirty="0"/>
              <a:t>Blueprint for Implementing a Reinforcement Learning–Based Hedging Strategy  (See Part III of </a:t>
            </a:r>
            <a:r>
              <a:rPr lang="en-US" dirty="0" err="1"/>
              <a:t>Benninga</a:t>
            </a:r>
            <a:r>
              <a:rPr lang="en-US" dirty="0"/>
              <a:t> in </a:t>
            </a:r>
            <a:r>
              <a:rPr lang="en-US" dirty="0" err="1"/>
              <a:t>Nyholm</a:t>
            </a:r>
            <a:r>
              <a:rPr lang="en-US" dirty="0"/>
              <a:t> </a:t>
            </a:r>
            <a:r>
              <a:rPr lang="en-US" dirty="0" err="1"/>
              <a:t>minicourse</a:t>
            </a:r>
            <a:r>
              <a:rPr lang="en-US" dirty="0"/>
              <a:t>).</a:t>
            </a:r>
          </a:p>
          <a:p>
            <a:pPr marL="0" indent="0">
              <a:buNone/>
            </a:pPr>
            <a:endParaRPr lang="en-US" dirty="0"/>
          </a:p>
          <a:p>
            <a:r>
              <a:rPr lang="en-US" dirty="0"/>
              <a:t>Case Study 25: Portfolio Allocation [p.334] </a:t>
            </a:r>
          </a:p>
          <a:p>
            <a:r>
              <a:rPr lang="en-US" dirty="0"/>
              <a:t>Blueprint for Implementing a Reinforcement Learning–Based Portfolio Allocation (See Part II of </a:t>
            </a:r>
            <a:r>
              <a:rPr lang="en-US" dirty="0" err="1"/>
              <a:t>Benninga</a:t>
            </a:r>
            <a:r>
              <a:rPr lang="en-US" dirty="0"/>
              <a:t> in </a:t>
            </a:r>
            <a:r>
              <a:rPr lang="en-US" dirty="0" err="1"/>
              <a:t>Nyholm</a:t>
            </a:r>
            <a:r>
              <a:rPr lang="en-US" dirty="0"/>
              <a:t> </a:t>
            </a:r>
            <a:r>
              <a:rPr lang="en-US" dirty="0" err="1"/>
              <a:t>minicourse</a:t>
            </a:r>
            <a:r>
              <a:rPr lang="en-US" dirty="0"/>
              <a:t>)</a:t>
            </a:r>
          </a:p>
          <a:p>
            <a:pPr marL="0" indent="0">
              <a:buNone/>
            </a:pPr>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12</a:t>
            </a:fld>
            <a:endParaRPr lang="en-US"/>
          </a:p>
        </p:txBody>
      </p:sp>
    </p:spTree>
    <p:extLst>
      <p:ext uri="{BB962C8B-B14F-4D97-AF65-F5344CB8AC3E}">
        <p14:creationId xmlns:p14="http://schemas.microsoft.com/office/powerpoint/2010/main" val="1742457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b="1" dirty="0"/>
              <a:t>BOOK 6:  Machine Learning for Finance by </a:t>
            </a:r>
            <a:r>
              <a:rPr lang="en-US" b="1" dirty="0" err="1"/>
              <a:t>Klaas</a:t>
            </a:r>
            <a:r>
              <a:rPr lang="en-US" b="1" dirty="0"/>
              <a:t>: </a:t>
            </a:r>
            <a:r>
              <a:rPr lang="en-US" b="1" dirty="0" err="1" smtClean="0"/>
              <a:t>UofT</a:t>
            </a:r>
            <a:r>
              <a:rPr lang="en-US" b="1" dirty="0" smtClean="0"/>
              <a:t>:</a:t>
            </a:r>
          </a:p>
          <a:p>
            <a:r>
              <a:rPr lang="en-US" dirty="0" smtClean="0">
                <a:hlinkClick r:id="rId2"/>
              </a:rPr>
              <a:t>https</a:t>
            </a:r>
            <a:r>
              <a:rPr lang="en-US" dirty="0">
                <a:hlinkClick r:id="rId2"/>
              </a:rPr>
              <a:t>://</a:t>
            </a:r>
            <a:r>
              <a:rPr lang="en-US" dirty="0" smtClean="0">
                <a:hlinkClick r:id="rId2"/>
              </a:rPr>
              <a:t>librarysearch.library.utoronto.ca/permalink/01UTORONTO_INST/10oudkq/cdi_walterdegruyter_books_10_0000_9781789134698_001</a:t>
            </a:r>
            <a:r>
              <a:rPr lang="en-US" dirty="0" smtClean="0"/>
              <a:t> </a:t>
            </a:r>
            <a:endParaRPr lang="en-US" dirty="0"/>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13</a:t>
            </a:fld>
            <a:endParaRPr lang="en-US"/>
          </a:p>
        </p:txBody>
      </p:sp>
    </p:spTree>
    <p:extLst>
      <p:ext uri="{BB962C8B-B14F-4D97-AF65-F5344CB8AC3E}">
        <p14:creationId xmlns:p14="http://schemas.microsoft.com/office/powerpoint/2010/main" val="3462469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Case 44 Chapter 7 [p.277]  – Reinforcement Learning for Financial Markets</a:t>
            </a:r>
          </a:p>
          <a:p>
            <a:r>
              <a:rPr lang="en-US" dirty="0"/>
              <a:t>Presents reinforcement learning concepts and algorithms (Q-learning, actor-critic methods) and connects them to economic theory. Practical examples illustrate how RL can be applied to trading, portfolio construction, and sequential decision-making under uncertainty.</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14</a:t>
            </a:fld>
            <a:endParaRPr lang="en-US"/>
          </a:p>
        </p:txBody>
      </p:sp>
    </p:spTree>
    <p:extLst>
      <p:ext uri="{BB962C8B-B14F-4D97-AF65-F5344CB8AC3E}">
        <p14:creationId xmlns:p14="http://schemas.microsoft.com/office/powerpoint/2010/main" val="1291245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normAutofit lnSpcReduction="10000"/>
          </a:bodyPr>
          <a:lstStyle/>
          <a:p>
            <a:r>
              <a:rPr lang="en-US" b="1" dirty="0"/>
              <a:t>BOOK 7: Machine learning for algorithmic trading : predictive models to extract signals from market and alternative data for systematic trading strategies with Python, 2nd edition</a:t>
            </a:r>
            <a:endParaRPr lang="en-US" dirty="0"/>
          </a:p>
          <a:p>
            <a:r>
              <a:rPr lang="en-US" b="1" dirty="0"/>
              <a:t>By Stephen Jansen @ </a:t>
            </a:r>
            <a:r>
              <a:rPr lang="en-US" b="1" dirty="0" err="1"/>
              <a:t>uoft</a:t>
            </a:r>
            <a:r>
              <a:rPr lang="en-US" b="1" dirty="0"/>
              <a:t>:</a:t>
            </a:r>
            <a:endParaRPr lang="en-US" dirty="0"/>
          </a:p>
          <a:p>
            <a:r>
              <a:rPr lang="en-US" dirty="0">
                <a:hlinkClick r:id="rId2"/>
              </a:rPr>
              <a:t>https://</a:t>
            </a:r>
            <a:r>
              <a:rPr lang="en-US" dirty="0" smtClean="0">
                <a:hlinkClick r:id="rId2"/>
              </a:rPr>
              <a:t>librarysearch.library.utoronto.ca/permalink/01UTORONTO_INST/1dl2m71/alma991107212149706196</a:t>
            </a:r>
            <a:r>
              <a:rPr lang="en-US" dirty="0" smtClean="0"/>
              <a:t>  </a:t>
            </a:r>
            <a:endParaRPr lang="en-US" dirty="0"/>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15</a:t>
            </a:fld>
            <a:endParaRPr lang="en-US"/>
          </a:p>
        </p:txBody>
      </p:sp>
    </p:spTree>
    <p:extLst>
      <p:ext uri="{BB962C8B-B14F-4D97-AF65-F5344CB8AC3E}">
        <p14:creationId xmlns:p14="http://schemas.microsoft.com/office/powerpoint/2010/main" val="2828990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Learning Cases</a:t>
            </a:r>
            <a:endParaRPr lang="en-US" dirty="0"/>
          </a:p>
        </p:txBody>
      </p:sp>
      <p:sp>
        <p:nvSpPr>
          <p:cNvPr id="3" name="Content Placeholder 2"/>
          <p:cNvSpPr>
            <a:spLocks noGrp="1"/>
          </p:cNvSpPr>
          <p:nvPr>
            <p:ph idx="1"/>
          </p:nvPr>
        </p:nvSpPr>
        <p:spPr/>
        <p:txBody>
          <a:bodyPr/>
          <a:lstStyle/>
          <a:p>
            <a:r>
              <a:rPr lang="en-US" dirty="0"/>
              <a:t>Case 60 Chapter 22, Deep Reinforcement Learning – Building a Trading Agent [p.679], presents how reinforcement learning (RL) permits the design and training of agents that learn to optimize decisions over time in response to their environment. You will see how to create a custom trading environment and build an agent that responds to market signals using </a:t>
            </a:r>
            <a:r>
              <a:rPr lang="en-US" dirty="0" err="1"/>
              <a:t>OpenAI</a:t>
            </a:r>
            <a:r>
              <a:rPr lang="en-US" dirty="0"/>
              <a:t> Gym. </a:t>
            </a:r>
          </a:p>
        </p:txBody>
      </p:sp>
      <p:sp>
        <p:nvSpPr>
          <p:cNvPr id="4" name="Slide Number Placeholder 3"/>
          <p:cNvSpPr>
            <a:spLocks noGrp="1"/>
          </p:cNvSpPr>
          <p:nvPr>
            <p:ph type="sldNum" sz="quarter" idx="12"/>
          </p:nvPr>
        </p:nvSpPr>
        <p:spPr/>
        <p:txBody>
          <a:bodyPr/>
          <a:lstStyle/>
          <a:p>
            <a:fld id="{B5CA877B-B6CF-4F4C-A5D9-57B57A685460}" type="slidenum">
              <a:rPr lang="en-US" smtClean="0"/>
              <a:t>16</a:t>
            </a:fld>
            <a:endParaRPr lang="en-US"/>
          </a:p>
        </p:txBody>
      </p:sp>
    </p:spTree>
    <p:extLst>
      <p:ext uri="{BB962C8B-B14F-4D97-AF65-F5344CB8AC3E}">
        <p14:creationId xmlns:p14="http://schemas.microsoft.com/office/powerpoint/2010/main" val="3172086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b="1" dirty="0"/>
              <a:t>BOOK 8: Generative AI for Trading and Asset Management by Jesse Hamlet, 2025  </a:t>
            </a:r>
            <a:r>
              <a:rPr lang="en-US" b="1" dirty="0" err="1"/>
              <a:t>UofT</a:t>
            </a:r>
            <a:r>
              <a:rPr lang="en-US" b="1" dirty="0"/>
              <a:t>: </a:t>
            </a:r>
            <a:endParaRPr lang="en-US" dirty="0"/>
          </a:p>
          <a:p>
            <a:r>
              <a:rPr lang="en-US" dirty="0">
                <a:hlinkClick r:id="rId2"/>
              </a:rPr>
              <a:t>https://</a:t>
            </a:r>
            <a:r>
              <a:rPr lang="en-US" dirty="0" smtClean="0">
                <a:hlinkClick r:id="rId2"/>
              </a:rPr>
              <a:t>librarysearch.library.utoronto.ca/permalink/01UTORONTO_INST/1dl2m71/alma991107753593906196</a:t>
            </a:r>
            <a:r>
              <a:rPr lang="en-US" dirty="0" smtClean="0"/>
              <a:t> </a:t>
            </a:r>
            <a:r>
              <a:rPr lang="en-US" b="1" dirty="0" smtClean="0"/>
              <a:t> </a:t>
            </a:r>
            <a:endParaRPr lang="en-US" dirty="0"/>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17</a:t>
            </a:fld>
            <a:endParaRPr lang="en-US"/>
          </a:p>
        </p:txBody>
      </p:sp>
    </p:spTree>
    <p:extLst>
      <p:ext uri="{BB962C8B-B14F-4D97-AF65-F5344CB8AC3E}">
        <p14:creationId xmlns:p14="http://schemas.microsoft.com/office/powerpoint/2010/main" val="650873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normAutofit fontScale="92500" lnSpcReduction="20000"/>
          </a:bodyPr>
          <a:lstStyle/>
          <a:p>
            <a:r>
              <a:rPr lang="en-US" dirty="0"/>
              <a:t>Case 61 Ch. 4 — Understanding Generative AI  (THEORETICAL CHAPTER)</a:t>
            </a:r>
          </a:p>
          <a:p>
            <a:r>
              <a:rPr lang="en-US" dirty="0"/>
              <a:t>Why Generative Models, Difference with Discriminative Models, Probability Density Estimation, Generating New Data, Learning New Data Representations, Language Modeling, Sampling, Conditional Language Generation, Representation Learning with </a:t>
            </a:r>
            <a:r>
              <a:rPr lang="en-US" dirty="0" err="1"/>
              <a:t>ChatGPT</a:t>
            </a:r>
            <a:r>
              <a:rPr lang="en-US" dirty="0"/>
              <a:t>, Hybrid Modeling: Combining Generative and Discriminative Models, Taxonomy of Generative Models</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18</a:t>
            </a:fld>
            <a:endParaRPr lang="en-US"/>
          </a:p>
        </p:txBody>
      </p:sp>
    </p:spTree>
    <p:extLst>
      <p:ext uri="{BB962C8B-B14F-4D97-AF65-F5344CB8AC3E}">
        <p14:creationId xmlns:p14="http://schemas.microsoft.com/office/powerpoint/2010/main" val="174710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dirty="0"/>
              <a:t>Case 62  Ch. 5 — Deep Autoregressive Models for Sequence Modeling (THEORETICAL CHAPTER)</a:t>
            </a:r>
          </a:p>
          <a:p>
            <a:r>
              <a:rPr lang="en-US" dirty="0"/>
              <a:t>Logistic regression/FVSN, MADE, causal masked networks/</a:t>
            </a:r>
            <a:r>
              <a:rPr lang="en-US" dirty="0" err="1"/>
              <a:t>WaveNet</a:t>
            </a:r>
            <a:r>
              <a:rPr lang="en-US" dirty="0"/>
              <a:t>, RNNs, Transformers (attention, positional encoding, multi-head attention, encoder), time-series transformers (</a:t>
            </a:r>
            <a:r>
              <a:rPr lang="en-US" dirty="0" err="1"/>
              <a:t>Chronos</a:t>
            </a:r>
            <a:r>
              <a:rPr lang="en-US" dirty="0"/>
              <a:t>, Lag-Llama)</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19</a:t>
            </a:fld>
            <a:endParaRPr lang="en-US"/>
          </a:p>
        </p:txBody>
      </p:sp>
    </p:spTree>
    <p:extLst>
      <p:ext uri="{BB962C8B-B14F-4D97-AF65-F5344CB8AC3E}">
        <p14:creationId xmlns:p14="http://schemas.microsoft.com/office/powerpoint/2010/main" val="3367274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normAutofit lnSpcReduction="10000"/>
          </a:bodyPr>
          <a:lstStyle/>
          <a:p>
            <a:r>
              <a:rPr lang="en-US" dirty="0"/>
              <a:t>Case 63 Ch. 9 — Leveraging LLMs for Sentiment Analysis in Trading (FINAL PROJECT CASE)</a:t>
            </a:r>
          </a:p>
          <a:p>
            <a:r>
              <a:rPr lang="en-US" dirty="0"/>
              <a:t>Sentiment Analysis in Fed Press Conference Speeches Using Large Language Models; Data: </a:t>
            </a:r>
            <a:r>
              <a:rPr lang="en-US" dirty="0" err="1"/>
              <a:t>Video+Market</a:t>
            </a:r>
            <a:r>
              <a:rPr lang="en-US" dirty="0"/>
              <a:t> Prices, Speech-to-text Conversion, Sentiment Analysis, Experiment Results</a:t>
            </a:r>
          </a:p>
          <a:p>
            <a:pPr marL="0" indent="0">
              <a:buNone/>
            </a:pPr>
            <a:r>
              <a:rPr lang="en-US" dirty="0"/>
              <a:t> </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20</a:t>
            </a:fld>
            <a:endParaRPr lang="en-US"/>
          </a:p>
        </p:txBody>
      </p:sp>
    </p:spTree>
    <p:extLst>
      <p:ext uri="{BB962C8B-B14F-4D97-AF65-F5344CB8AC3E}">
        <p14:creationId xmlns:p14="http://schemas.microsoft.com/office/powerpoint/2010/main" val="3914901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BOOK 9: Machine Learning For Trading 3</a:t>
            </a:r>
            <a:r>
              <a:rPr lang="en-US" b="1" baseline="30000" dirty="0"/>
              <a:t>rd</a:t>
            </a:r>
            <a:r>
              <a:rPr lang="en-US" b="1" dirty="0"/>
              <a:t> Edition by Stefan Jansen, 2026  </a:t>
            </a:r>
            <a:r>
              <a:rPr lang="en-US" b="1" dirty="0" err="1"/>
              <a:t>UofT</a:t>
            </a:r>
            <a:r>
              <a:rPr lang="en-US" b="1" dirty="0"/>
              <a:t>:  </a:t>
            </a:r>
            <a:endParaRPr lang="en-US" dirty="0"/>
          </a:p>
          <a:p>
            <a:r>
              <a:rPr lang="en-US" dirty="0">
                <a:hlinkClick r:id="rId2"/>
              </a:rPr>
              <a:t>https://</a:t>
            </a:r>
            <a:r>
              <a:rPr lang="en-US" dirty="0" smtClean="0">
                <a:hlinkClick r:id="rId2"/>
              </a:rPr>
              <a:t>librarysearch.library.utoronto.ca/permalink/01UTORONTO_INST/10oudkq/cdi_walterdegruyter_books_10_0000_9781789342710_001</a:t>
            </a:r>
            <a:r>
              <a:rPr lang="en-US" dirty="0" smtClean="0"/>
              <a:t> </a:t>
            </a:r>
          </a:p>
          <a:p>
            <a:r>
              <a:rPr lang="en-US" u="sng" dirty="0">
                <a:hlinkClick r:id="rId3"/>
              </a:rPr>
              <a:t>https://learning.oreilly.com/library/view/machine-learning-for/9781803246970/?sso_link=yes&amp;sso_link_from=utoronto-edu</a:t>
            </a:r>
            <a:r>
              <a:rPr lang="en-US" dirty="0"/>
              <a:t>  </a:t>
            </a:r>
          </a:p>
          <a:p>
            <a:r>
              <a:rPr lang="en-US" smtClean="0"/>
              <a:t> </a:t>
            </a:r>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21</a:t>
            </a:fld>
            <a:endParaRPr lang="en-US"/>
          </a:p>
        </p:txBody>
      </p:sp>
    </p:spTree>
    <p:extLst>
      <p:ext uri="{BB962C8B-B14F-4D97-AF65-F5344CB8AC3E}">
        <p14:creationId xmlns:p14="http://schemas.microsoft.com/office/powerpoint/2010/main" val="1794794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dirty="0"/>
              <a:t>Case 64  Ch. 22 — RAG for Financial Research</a:t>
            </a:r>
          </a:p>
          <a:p>
            <a:r>
              <a:rPr lang="en-US" dirty="0"/>
              <a:t>Builds retrieval-augmented generation grounded in SEC filings, from ingestion and domain </a:t>
            </a:r>
            <a:r>
              <a:rPr lang="en-US" dirty="0" err="1"/>
              <a:t>embeddings</a:t>
            </a:r>
            <a:r>
              <a:rPr lang="en-US" dirty="0"/>
              <a:t> through hybrid retrieval, evaluation, and the transition to agentic workflows.</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22</a:t>
            </a:fld>
            <a:endParaRPr lang="en-US"/>
          </a:p>
        </p:txBody>
      </p:sp>
    </p:spTree>
    <p:extLst>
      <p:ext uri="{BB962C8B-B14F-4D97-AF65-F5344CB8AC3E}">
        <p14:creationId xmlns:p14="http://schemas.microsoft.com/office/powerpoint/2010/main" val="1252506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dirty="0"/>
              <a:t>Case 65  Ch. 23 — Knowledge Graphs</a:t>
            </a:r>
          </a:p>
          <a:p>
            <a:r>
              <a:rPr lang="en-US" dirty="0"/>
              <a:t>Covers KG construction from filings, Graph RAG for multi-hop reasoning, graph features for ML, and temporal-leakage prevention</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23</a:t>
            </a:fld>
            <a:endParaRPr lang="en-US"/>
          </a:p>
        </p:txBody>
      </p:sp>
    </p:spTree>
    <p:extLst>
      <p:ext uri="{BB962C8B-B14F-4D97-AF65-F5344CB8AC3E}">
        <p14:creationId xmlns:p14="http://schemas.microsoft.com/office/powerpoint/2010/main" val="1022757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dirty="0"/>
              <a:t>Case 66  Ch. 24 — Autonomous Agents</a:t>
            </a:r>
          </a:p>
          <a:p>
            <a:r>
              <a:rPr lang="en-US" dirty="0"/>
              <a:t> Covers agent architectures, memory and tools, the engineering stack, a </a:t>
            </a:r>
            <a:r>
              <a:rPr lang="en-US" dirty="0" err="1"/>
              <a:t>stateful</a:t>
            </a:r>
            <a:r>
              <a:rPr lang="en-US" dirty="0"/>
              <a:t> equity-research agent, and multi-agent forecasting with adversarial debate.</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24</a:t>
            </a:fld>
            <a:endParaRPr lang="en-US"/>
          </a:p>
        </p:txBody>
      </p:sp>
    </p:spTree>
    <p:extLst>
      <p:ext uri="{BB962C8B-B14F-4D97-AF65-F5344CB8AC3E}">
        <p14:creationId xmlns:p14="http://schemas.microsoft.com/office/powerpoint/2010/main" val="3231517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dirty="0" smtClean="0"/>
              <a:t>OTHER  (GITHUB)</a:t>
            </a:r>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25</a:t>
            </a:fld>
            <a:endParaRPr lang="en-US"/>
          </a:p>
        </p:txBody>
      </p:sp>
    </p:spTree>
    <p:extLst>
      <p:ext uri="{BB962C8B-B14F-4D97-AF65-F5344CB8AC3E}">
        <p14:creationId xmlns:p14="http://schemas.microsoft.com/office/powerpoint/2010/main" val="1085153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dirty="0"/>
              <a:t>Case 67 GITHUB: </a:t>
            </a:r>
          </a:p>
          <a:p>
            <a:r>
              <a:rPr lang="en-US" dirty="0" err="1"/>
              <a:t>StockTime</a:t>
            </a:r>
            <a:r>
              <a:rPr lang="en-US" dirty="0"/>
              <a:t>: A Time Series Specialized Large Language Model Architecture for Stock Price Prediction (Wang et al., 2024-- https://arxiv.org/abs/2409</a:t>
            </a:r>
          </a:p>
        </p:txBody>
      </p:sp>
      <p:sp>
        <p:nvSpPr>
          <p:cNvPr id="4" name="Slide Number Placeholder 3"/>
          <p:cNvSpPr>
            <a:spLocks noGrp="1"/>
          </p:cNvSpPr>
          <p:nvPr>
            <p:ph type="sldNum" sz="quarter" idx="12"/>
          </p:nvPr>
        </p:nvSpPr>
        <p:spPr/>
        <p:txBody>
          <a:bodyPr/>
          <a:lstStyle/>
          <a:p>
            <a:fld id="{B5CA877B-B6CF-4F4C-A5D9-57B57A685460}" type="slidenum">
              <a:rPr lang="en-US" smtClean="0"/>
              <a:t>26</a:t>
            </a:fld>
            <a:endParaRPr lang="en-US"/>
          </a:p>
        </p:txBody>
      </p:sp>
    </p:spTree>
    <p:extLst>
      <p:ext uri="{BB962C8B-B14F-4D97-AF65-F5344CB8AC3E}">
        <p14:creationId xmlns:p14="http://schemas.microsoft.com/office/powerpoint/2010/main" val="4171116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lstStyle/>
          <a:p>
            <a:r>
              <a:rPr lang="en-US" dirty="0"/>
              <a:t>Case 68 GITHUB: </a:t>
            </a:r>
          </a:p>
          <a:p>
            <a:r>
              <a:rPr lang="en-US" dirty="0" err="1"/>
              <a:t>QuantHarness</a:t>
            </a:r>
            <a:r>
              <a:rPr lang="en-US" dirty="0"/>
              <a:t>: Price-Driven Multi-Agent LLMs for High-Frequency Trading  (</a:t>
            </a:r>
            <a:r>
              <a:rPr lang="en-US" dirty="0" err="1"/>
              <a:t>Xiong</a:t>
            </a:r>
            <a:r>
              <a:rPr lang="en-US" dirty="0"/>
              <a:t> et al., 2025— https://arxiv.org/abs/2509.09995 )</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27</a:t>
            </a:fld>
            <a:endParaRPr lang="en-US"/>
          </a:p>
        </p:txBody>
      </p:sp>
    </p:spTree>
    <p:extLst>
      <p:ext uri="{BB962C8B-B14F-4D97-AF65-F5344CB8AC3E}">
        <p14:creationId xmlns:p14="http://schemas.microsoft.com/office/powerpoint/2010/main" val="2375884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AI Cases</a:t>
            </a:r>
            <a:endParaRPr lang="en-US" dirty="0"/>
          </a:p>
        </p:txBody>
      </p:sp>
      <p:sp>
        <p:nvSpPr>
          <p:cNvPr id="3" name="Content Placeholder 2"/>
          <p:cNvSpPr>
            <a:spLocks noGrp="1"/>
          </p:cNvSpPr>
          <p:nvPr>
            <p:ph idx="1"/>
          </p:nvPr>
        </p:nvSpPr>
        <p:spPr/>
        <p:txBody>
          <a:bodyPr>
            <a:normAutofit lnSpcReduction="10000"/>
          </a:bodyPr>
          <a:lstStyle/>
          <a:p>
            <a:r>
              <a:rPr lang="en-US" dirty="0"/>
              <a:t>Case 69 GITHUB: </a:t>
            </a:r>
          </a:p>
          <a:p>
            <a:r>
              <a:rPr lang="en-US" dirty="0"/>
              <a:t>Kronos: A Foundation Model for the Language of Financial Markets (Shi et al., 2025 — https://github.com/shiyu-coder/Kronos )</a:t>
            </a:r>
          </a:p>
          <a:p>
            <a:r>
              <a:rPr lang="en-US" dirty="0"/>
              <a:t>Analyzes prices in terms of Japanese candle stick patterns which are “phrase like” components:</a:t>
            </a:r>
          </a:p>
          <a:p>
            <a:r>
              <a:rPr lang="en-US" dirty="0"/>
              <a:t>e.g. </a:t>
            </a:r>
            <a:r>
              <a:rPr lang="en-US" u="sng" dirty="0">
                <a:hlinkClick r:id="rId2"/>
              </a:rPr>
              <a:t>https://ca.investing.com/indices/s-p-tsx-composite-candlestick</a:t>
            </a:r>
            <a:r>
              <a:rPr lang="en-US" dirty="0"/>
              <a:t> </a:t>
            </a:r>
          </a:p>
          <a:p>
            <a:endParaRPr lang="en-US" dirty="0"/>
          </a:p>
        </p:txBody>
      </p:sp>
      <p:sp>
        <p:nvSpPr>
          <p:cNvPr id="4" name="Slide Number Placeholder 3"/>
          <p:cNvSpPr>
            <a:spLocks noGrp="1"/>
          </p:cNvSpPr>
          <p:nvPr>
            <p:ph type="sldNum" sz="quarter" idx="12"/>
          </p:nvPr>
        </p:nvSpPr>
        <p:spPr/>
        <p:txBody>
          <a:bodyPr/>
          <a:lstStyle/>
          <a:p>
            <a:fld id="{B5CA877B-B6CF-4F4C-A5D9-57B57A685460}" type="slidenum">
              <a:rPr lang="en-US" smtClean="0"/>
              <a:t>28</a:t>
            </a:fld>
            <a:endParaRPr lang="en-US"/>
          </a:p>
        </p:txBody>
      </p:sp>
    </p:spTree>
    <p:extLst>
      <p:ext uri="{BB962C8B-B14F-4D97-AF65-F5344CB8AC3E}">
        <p14:creationId xmlns:p14="http://schemas.microsoft.com/office/powerpoint/2010/main" val="1451698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1320</Words>
  <Application>Microsoft Office PowerPoint</Application>
  <PresentationFormat>On-screen Show (4:3)</PresentationFormat>
  <Paragraphs>119</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CASES TO SELECT FROM TO PRESENT IN APS1053</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Reinforcement Learning Cases</vt:lpstr>
      <vt:lpstr>Generative AI Cases</vt:lpstr>
      <vt:lpstr>Generative AI Cases</vt:lpstr>
      <vt:lpstr>Generative AI Cases</vt:lpstr>
      <vt:lpstr>Generative AI Cases</vt:lpstr>
      <vt:lpstr>Generative AI Cases</vt:lpstr>
      <vt:lpstr>Generative AI Cases</vt:lpstr>
      <vt:lpstr>Generative AI Cases</vt:lpstr>
      <vt:lpstr>Generative AI Cases</vt:lpstr>
      <vt:lpstr>Generative AI Cases</vt:lpstr>
      <vt:lpstr>Generative AI Cases</vt:lpstr>
      <vt:lpstr>Generative AI Cases</vt:lpstr>
      <vt:lpstr>Generative AI Cases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CASES TO SELECT FROM TO PRESENT IN APS1053</dc:title>
  <dc:creator>rosario trigo</dc:creator>
  <cp:lastModifiedBy>ThinkPad</cp:lastModifiedBy>
  <cp:revision>7</cp:revision>
  <dcterms:created xsi:type="dcterms:W3CDTF">2026-09-15T14:00:05Z</dcterms:created>
  <dcterms:modified xsi:type="dcterms:W3CDTF">2026-09-17T20:12:15Z</dcterms:modified>
</cp:coreProperties>
</file>