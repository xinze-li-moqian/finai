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339" r:id="rId43"/>
    <p:sldId id="297" r:id="rId44"/>
    <p:sldId id="324" r:id="rId45"/>
    <p:sldId id="325" r:id="rId46"/>
    <p:sldId id="328" r:id="rId47"/>
    <p:sldId id="326" r:id="rId48"/>
    <p:sldId id="327" r:id="rId49"/>
    <p:sldId id="329" r:id="rId50"/>
    <p:sldId id="330" r:id="rId51"/>
    <p:sldId id="331" r:id="rId52"/>
    <p:sldId id="332" r:id="rId53"/>
    <p:sldId id="298" r:id="rId54"/>
    <p:sldId id="299" r:id="rId55"/>
    <p:sldId id="337" r:id="rId56"/>
    <p:sldId id="338" r:id="rId57"/>
    <p:sldId id="300" r:id="rId58"/>
    <p:sldId id="301" r:id="rId59"/>
    <p:sldId id="302" r:id="rId60"/>
    <p:sldId id="303" r:id="rId61"/>
    <p:sldId id="340" r:id="rId62"/>
    <p:sldId id="333" r:id="rId63"/>
    <p:sldId id="304" r:id="rId64"/>
    <p:sldId id="305" r:id="rId65"/>
    <p:sldId id="306" r:id="rId66"/>
    <p:sldId id="307" r:id="rId67"/>
    <p:sldId id="308" r:id="rId68"/>
    <p:sldId id="309" r:id="rId69"/>
    <p:sldId id="310" r:id="rId70"/>
    <p:sldId id="335" r:id="rId71"/>
    <p:sldId id="336" r:id="rId72"/>
    <p:sldId id="311" r:id="rId73"/>
    <p:sldId id="312" r:id="rId74"/>
    <p:sldId id="313" r:id="rId75"/>
    <p:sldId id="314" r:id="rId76"/>
    <p:sldId id="315" r:id="rId77"/>
    <p:sldId id="316" r:id="rId78"/>
    <p:sldId id="317" r:id="rId79"/>
    <p:sldId id="318" r:id="rId80"/>
    <p:sldId id="319" r:id="rId81"/>
    <p:sldId id="320" r:id="rId82"/>
    <p:sldId id="321" r:id="rId83"/>
    <p:sldId id="322" r:id="rId84"/>
    <p:sldId id="323" r:id="rId85"/>
    <p:sldId id="334" r:id="rId8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481" autoAdjust="0"/>
  </p:normalViewPr>
  <p:slideViewPr>
    <p:cSldViewPr snapToGrid="0">
      <p:cViewPr>
        <p:scale>
          <a:sx n="94" d="100"/>
          <a:sy n="94" d="100"/>
        </p:scale>
        <p:origin x="-38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C65366-ED64-4082-BB0A-B2932ED8C2B4}"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EA2F0BCF-E43C-40B9-8CEB-8BBC4F45F1BF}">
      <dgm:prSet phldrT="[Text]"/>
      <dgm:spPr/>
      <dgm:t>
        <a:bodyPr/>
        <a:lstStyle/>
        <a:p>
          <a:r>
            <a:rPr lang="en-US" dirty="0" err="1" smtClean="0"/>
            <a:t>DeepSeek</a:t>
          </a:r>
          <a:endParaRPr lang="en-US" dirty="0"/>
        </a:p>
      </dgm:t>
    </dgm:pt>
    <dgm:pt modelId="{B15C1FBC-5CC6-4A30-9E01-16F4768E8FC5}" type="parTrans" cxnId="{79FD9E6F-77D5-4135-AD9A-BE30C17B0FF0}">
      <dgm:prSet/>
      <dgm:spPr/>
      <dgm:t>
        <a:bodyPr/>
        <a:lstStyle/>
        <a:p>
          <a:endParaRPr lang="en-US"/>
        </a:p>
      </dgm:t>
    </dgm:pt>
    <dgm:pt modelId="{1568445F-CA10-4F28-A8E1-EC63500D7D4C}" type="sibTrans" cxnId="{79FD9E6F-77D5-4135-AD9A-BE30C17B0FF0}">
      <dgm:prSet/>
      <dgm:spPr/>
      <dgm:t>
        <a:bodyPr/>
        <a:lstStyle/>
        <a:p>
          <a:endParaRPr lang="en-US"/>
        </a:p>
      </dgm:t>
    </dgm:pt>
    <dgm:pt modelId="{A8DC20F8-2AC5-447D-A4CB-0F3AD5C8543E}">
      <dgm:prSet phldrT="[Text]"/>
      <dgm:spPr/>
      <dgm:t>
        <a:bodyPr/>
        <a:lstStyle/>
        <a:p>
          <a:r>
            <a:rPr lang="en-US" dirty="0" smtClean="0"/>
            <a:t>Least Trained</a:t>
          </a:r>
          <a:endParaRPr lang="en-US" dirty="0"/>
        </a:p>
      </dgm:t>
    </dgm:pt>
    <dgm:pt modelId="{5DBF111C-2710-429F-8FAC-74354EE17DA0}" type="parTrans" cxnId="{D82B2C75-E214-41E4-AEE3-84A1B4893125}">
      <dgm:prSet/>
      <dgm:spPr/>
      <dgm:t>
        <a:bodyPr/>
        <a:lstStyle/>
        <a:p>
          <a:endParaRPr lang="en-US"/>
        </a:p>
      </dgm:t>
    </dgm:pt>
    <dgm:pt modelId="{A37D37FF-06A3-454E-96D2-4CFBBBBFEB94}" type="sibTrans" cxnId="{D82B2C75-E214-41E4-AEE3-84A1B4893125}">
      <dgm:prSet/>
      <dgm:spPr/>
      <dgm:t>
        <a:bodyPr/>
        <a:lstStyle/>
        <a:p>
          <a:endParaRPr lang="en-US"/>
        </a:p>
      </dgm:t>
    </dgm:pt>
    <dgm:pt modelId="{AD06888D-6371-4471-ADBF-5AA192D7E70C}">
      <dgm:prSet phldrT="[Text]"/>
      <dgm:spPr/>
      <dgm:t>
        <a:bodyPr/>
        <a:lstStyle/>
        <a:p>
          <a:r>
            <a:rPr lang="en-US" dirty="0" smtClean="0"/>
            <a:t>Most Imperative/Procedural Prompt</a:t>
          </a:r>
          <a:endParaRPr lang="en-US" dirty="0"/>
        </a:p>
      </dgm:t>
    </dgm:pt>
    <dgm:pt modelId="{268CD124-F273-48DB-A695-C24E2EE49C09}" type="parTrans" cxnId="{6572822E-2A71-45E4-AA6B-DBC6180A5A32}">
      <dgm:prSet/>
      <dgm:spPr/>
      <dgm:t>
        <a:bodyPr/>
        <a:lstStyle/>
        <a:p>
          <a:endParaRPr lang="en-US"/>
        </a:p>
      </dgm:t>
    </dgm:pt>
    <dgm:pt modelId="{0AFE3DBF-8CB4-4E32-8CE7-11BE59F19BC1}" type="sibTrans" cxnId="{6572822E-2A71-45E4-AA6B-DBC6180A5A32}">
      <dgm:prSet/>
      <dgm:spPr/>
      <dgm:t>
        <a:bodyPr/>
        <a:lstStyle/>
        <a:p>
          <a:endParaRPr lang="en-US"/>
        </a:p>
      </dgm:t>
    </dgm:pt>
    <dgm:pt modelId="{82BEA242-C273-4B1E-BB3D-ED9815445E9E}">
      <dgm:prSet phldrT="[Text]"/>
      <dgm:spPr/>
      <dgm:t>
        <a:bodyPr/>
        <a:lstStyle/>
        <a:p>
          <a:r>
            <a:rPr lang="en-US" dirty="0" err="1" smtClean="0"/>
            <a:t>ChatGPT</a:t>
          </a:r>
          <a:endParaRPr lang="en-US" dirty="0"/>
        </a:p>
      </dgm:t>
    </dgm:pt>
    <dgm:pt modelId="{7CF3EECE-B4C7-4CF5-B4CC-FFB307A8CA45}" type="parTrans" cxnId="{76EFCC05-8C43-43A9-B800-9EED06BAB63F}">
      <dgm:prSet/>
      <dgm:spPr/>
      <dgm:t>
        <a:bodyPr/>
        <a:lstStyle/>
        <a:p>
          <a:endParaRPr lang="en-US"/>
        </a:p>
      </dgm:t>
    </dgm:pt>
    <dgm:pt modelId="{81C8A003-950F-4D17-AD18-31852038A988}" type="sibTrans" cxnId="{76EFCC05-8C43-43A9-B800-9EED06BAB63F}">
      <dgm:prSet/>
      <dgm:spPr/>
      <dgm:t>
        <a:bodyPr/>
        <a:lstStyle/>
        <a:p>
          <a:endParaRPr lang="en-US"/>
        </a:p>
      </dgm:t>
    </dgm:pt>
    <dgm:pt modelId="{0E3CDC24-32DC-46FB-91EA-BF72AA2EA033}">
      <dgm:prSet phldrT="[Text]"/>
      <dgm:spPr/>
      <dgm:t>
        <a:bodyPr/>
        <a:lstStyle/>
        <a:p>
          <a:r>
            <a:rPr lang="en-US" dirty="0" smtClean="0"/>
            <a:t>More Trained</a:t>
          </a:r>
          <a:endParaRPr lang="en-US" dirty="0"/>
        </a:p>
      </dgm:t>
    </dgm:pt>
    <dgm:pt modelId="{86916292-9AC5-4DBC-875A-103D9B62324E}" type="parTrans" cxnId="{CC5FDFCE-8CD2-44C0-B023-5A19FEA98799}">
      <dgm:prSet/>
      <dgm:spPr/>
      <dgm:t>
        <a:bodyPr/>
        <a:lstStyle/>
        <a:p>
          <a:endParaRPr lang="en-US"/>
        </a:p>
      </dgm:t>
    </dgm:pt>
    <dgm:pt modelId="{247BF9FC-9BF2-428B-A686-011385283668}" type="sibTrans" cxnId="{CC5FDFCE-8CD2-44C0-B023-5A19FEA98799}">
      <dgm:prSet/>
      <dgm:spPr/>
      <dgm:t>
        <a:bodyPr/>
        <a:lstStyle/>
        <a:p>
          <a:endParaRPr lang="en-US"/>
        </a:p>
      </dgm:t>
    </dgm:pt>
    <dgm:pt modelId="{8620F339-1591-4C83-B948-FFF5D6A919AE}">
      <dgm:prSet phldrT="[Text]"/>
      <dgm:spPr/>
      <dgm:t>
        <a:bodyPr/>
        <a:lstStyle/>
        <a:p>
          <a:r>
            <a:rPr lang="en-US" dirty="0" smtClean="0"/>
            <a:t>More Declarative Prompt</a:t>
          </a:r>
          <a:endParaRPr lang="en-US" dirty="0"/>
        </a:p>
      </dgm:t>
    </dgm:pt>
    <dgm:pt modelId="{170F3DFC-CA0E-4006-903A-91C85BE61371}" type="parTrans" cxnId="{510FB2CC-143C-4F39-80BE-0626C0C43922}">
      <dgm:prSet/>
      <dgm:spPr/>
      <dgm:t>
        <a:bodyPr/>
        <a:lstStyle/>
        <a:p>
          <a:endParaRPr lang="en-US"/>
        </a:p>
      </dgm:t>
    </dgm:pt>
    <dgm:pt modelId="{38C4C977-FD42-45EA-B58F-95E23D9D3E4C}" type="sibTrans" cxnId="{510FB2CC-143C-4F39-80BE-0626C0C43922}">
      <dgm:prSet/>
      <dgm:spPr/>
      <dgm:t>
        <a:bodyPr/>
        <a:lstStyle/>
        <a:p>
          <a:endParaRPr lang="en-US"/>
        </a:p>
      </dgm:t>
    </dgm:pt>
    <dgm:pt modelId="{448F7FCB-622E-43F7-A22D-5C99AAE40138}">
      <dgm:prSet phldrT="[Text]"/>
      <dgm:spPr/>
      <dgm:t>
        <a:bodyPr/>
        <a:lstStyle/>
        <a:p>
          <a:r>
            <a:rPr lang="en-US" dirty="0" smtClean="0"/>
            <a:t>Claude</a:t>
          </a:r>
          <a:endParaRPr lang="en-US" dirty="0"/>
        </a:p>
      </dgm:t>
    </dgm:pt>
    <dgm:pt modelId="{4F00F7F9-F18F-488D-BBF0-CBF9428A22AA}" type="parTrans" cxnId="{195F51F8-9F3D-49EB-A601-F89CD89EB0EE}">
      <dgm:prSet/>
      <dgm:spPr/>
      <dgm:t>
        <a:bodyPr/>
        <a:lstStyle/>
        <a:p>
          <a:endParaRPr lang="en-US"/>
        </a:p>
      </dgm:t>
    </dgm:pt>
    <dgm:pt modelId="{22547642-73FF-48FA-8CDE-D17C3385E202}" type="sibTrans" cxnId="{195F51F8-9F3D-49EB-A601-F89CD89EB0EE}">
      <dgm:prSet/>
      <dgm:spPr/>
      <dgm:t>
        <a:bodyPr/>
        <a:lstStyle/>
        <a:p>
          <a:endParaRPr lang="en-US"/>
        </a:p>
      </dgm:t>
    </dgm:pt>
    <dgm:pt modelId="{3C71C636-0BAE-43AD-93C0-480DC7C94CFF}">
      <dgm:prSet phldrT="[Text]"/>
      <dgm:spPr/>
      <dgm:t>
        <a:bodyPr/>
        <a:lstStyle/>
        <a:p>
          <a:r>
            <a:rPr lang="en-US" dirty="0" smtClean="0"/>
            <a:t>Most Trained</a:t>
          </a:r>
          <a:endParaRPr lang="en-US" dirty="0"/>
        </a:p>
      </dgm:t>
    </dgm:pt>
    <dgm:pt modelId="{11A5D5D6-8AAE-488F-BD8C-4DC523522103}" type="parTrans" cxnId="{205AE70E-D6FE-4B4D-A203-C2D8D15F3C6F}">
      <dgm:prSet/>
      <dgm:spPr/>
      <dgm:t>
        <a:bodyPr/>
        <a:lstStyle/>
        <a:p>
          <a:endParaRPr lang="en-US"/>
        </a:p>
      </dgm:t>
    </dgm:pt>
    <dgm:pt modelId="{E854217A-2785-472F-BD8D-AD116784758F}" type="sibTrans" cxnId="{205AE70E-D6FE-4B4D-A203-C2D8D15F3C6F}">
      <dgm:prSet/>
      <dgm:spPr/>
      <dgm:t>
        <a:bodyPr/>
        <a:lstStyle/>
        <a:p>
          <a:endParaRPr lang="en-US"/>
        </a:p>
      </dgm:t>
    </dgm:pt>
    <dgm:pt modelId="{14F8453C-D8BB-4FAB-BBD5-6808E174C386}">
      <dgm:prSet phldrT="[Text]"/>
      <dgm:spPr/>
      <dgm:t>
        <a:bodyPr/>
        <a:lstStyle/>
        <a:p>
          <a:r>
            <a:rPr lang="en-US" dirty="0" smtClean="0"/>
            <a:t>Most Declarative Prompt</a:t>
          </a:r>
          <a:endParaRPr lang="en-US" dirty="0"/>
        </a:p>
      </dgm:t>
    </dgm:pt>
    <dgm:pt modelId="{8432999A-1055-4968-AEDD-E6116267256F}" type="parTrans" cxnId="{3EF8621E-3D5A-40D4-A70D-365F71AA2F97}">
      <dgm:prSet/>
      <dgm:spPr/>
      <dgm:t>
        <a:bodyPr/>
        <a:lstStyle/>
        <a:p>
          <a:endParaRPr lang="en-US"/>
        </a:p>
      </dgm:t>
    </dgm:pt>
    <dgm:pt modelId="{8F1894F9-1835-485B-8F75-CE793E154B5D}" type="sibTrans" cxnId="{3EF8621E-3D5A-40D4-A70D-365F71AA2F97}">
      <dgm:prSet/>
      <dgm:spPr/>
      <dgm:t>
        <a:bodyPr/>
        <a:lstStyle/>
        <a:p>
          <a:endParaRPr lang="en-US"/>
        </a:p>
      </dgm:t>
    </dgm:pt>
    <dgm:pt modelId="{EA910DEA-2DE9-49D5-B6C8-EC8BF177DA15}" type="pres">
      <dgm:prSet presAssocID="{E3C65366-ED64-4082-BB0A-B2932ED8C2B4}" presName="linearFlow" presStyleCnt="0">
        <dgm:presLayoutVars>
          <dgm:dir/>
          <dgm:animLvl val="lvl"/>
          <dgm:resizeHandles val="exact"/>
        </dgm:presLayoutVars>
      </dgm:prSet>
      <dgm:spPr/>
      <dgm:t>
        <a:bodyPr/>
        <a:lstStyle/>
        <a:p>
          <a:endParaRPr lang="en-US"/>
        </a:p>
      </dgm:t>
    </dgm:pt>
    <dgm:pt modelId="{05566CB2-EC9D-4488-9942-5FBCAA4376D1}" type="pres">
      <dgm:prSet presAssocID="{EA2F0BCF-E43C-40B9-8CEB-8BBC4F45F1BF}" presName="composite" presStyleCnt="0"/>
      <dgm:spPr/>
    </dgm:pt>
    <dgm:pt modelId="{CA1FCB04-3124-41BE-9A6B-B75F741F186D}" type="pres">
      <dgm:prSet presAssocID="{EA2F0BCF-E43C-40B9-8CEB-8BBC4F45F1BF}" presName="parentText" presStyleLbl="alignNode1" presStyleIdx="0" presStyleCnt="3">
        <dgm:presLayoutVars>
          <dgm:chMax val="1"/>
          <dgm:bulletEnabled val="1"/>
        </dgm:presLayoutVars>
      </dgm:prSet>
      <dgm:spPr/>
      <dgm:t>
        <a:bodyPr/>
        <a:lstStyle/>
        <a:p>
          <a:endParaRPr lang="en-US"/>
        </a:p>
      </dgm:t>
    </dgm:pt>
    <dgm:pt modelId="{5FB467CC-8F95-4E61-9CB4-50B20BDEBCCF}" type="pres">
      <dgm:prSet presAssocID="{EA2F0BCF-E43C-40B9-8CEB-8BBC4F45F1BF}" presName="descendantText" presStyleLbl="alignAcc1" presStyleIdx="0" presStyleCnt="3">
        <dgm:presLayoutVars>
          <dgm:bulletEnabled val="1"/>
        </dgm:presLayoutVars>
      </dgm:prSet>
      <dgm:spPr/>
      <dgm:t>
        <a:bodyPr/>
        <a:lstStyle/>
        <a:p>
          <a:endParaRPr lang="en-US"/>
        </a:p>
      </dgm:t>
    </dgm:pt>
    <dgm:pt modelId="{823E9076-4B63-4796-AAFA-E081CEB99617}" type="pres">
      <dgm:prSet presAssocID="{1568445F-CA10-4F28-A8E1-EC63500D7D4C}" presName="sp" presStyleCnt="0"/>
      <dgm:spPr/>
    </dgm:pt>
    <dgm:pt modelId="{B6EA3468-3A83-495F-84E7-B8E893B727AB}" type="pres">
      <dgm:prSet presAssocID="{82BEA242-C273-4B1E-BB3D-ED9815445E9E}" presName="composite" presStyleCnt="0"/>
      <dgm:spPr/>
    </dgm:pt>
    <dgm:pt modelId="{5A27CD9E-B137-4BB2-B0F6-C0CE148B8878}" type="pres">
      <dgm:prSet presAssocID="{82BEA242-C273-4B1E-BB3D-ED9815445E9E}" presName="parentText" presStyleLbl="alignNode1" presStyleIdx="1" presStyleCnt="3" custLinFactNeighborX="6647" custLinFactNeighborY="-4433">
        <dgm:presLayoutVars>
          <dgm:chMax val="1"/>
          <dgm:bulletEnabled val="1"/>
        </dgm:presLayoutVars>
      </dgm:prSet>
      <dgm:spPr/>
      <dgm:t>
        <a:bodyPr/>
        <a:lstStyle/>
        <a:p>
          <a:endParaRPr lang="en-US"/>
        </a:p>
      </dgm:t>
    </dgm:pt>
    <dgm:pt modelId="{6C9D759F-DD8C-4A5A-A6BA-877DB937B105}" type="pres">
      <dgm:prSet presAssocID="{82BEA242-C273-4B1E-BB3D-ED9815445E9E}" presName="descendantText" presStyleLbl="alignAcc1" presStyleIdx="1" presStyleCnt="3">
        <dgm:presLayoutVars>
          <dgm:bulletEnabled val="1"/>
        </dgm:presLayoutVars>
      </dgm:prSet>
      <dgm:spPr/>
      <dgm:t>
        <a:bodyPr/>
        <a:lstStyle/>
        <a:p>
          <a:endParaRPr lang="en-US"/>
        </a:p>
      </dgm:t>
    </dgm:pt>
    <dgm:pt modelId="{1F793B15-F68D-4473-8989-D92A30702523}" type="pres">
      <dgm:prSet presAssocID="{81C8A003-950F-4D17-AD18-31852038A988}" presName="sp" presStyleCnt="0"/>
      <dgm:spPr/>
    </dgm:pt>
    <dgm:pt modelId="{52034771-DFB7-47BB-A868-1670D377E01F}" type="pres">
      <dgm:prSet presAssocID="{448F7FCB-622E-43F7-A22D-5C99AAE40138}" presName="composite" presStyleCnt="0"/>
      <dgm:spPr/>
    </dgm:pt>
    <dgm:pt modelId="{FA11F56D-7F06-44E5-A75A-CEB3F7A64765}" type="pres">
      <dgm:prSet presAssocID="{448F7FCB-622E-43F7-A22D-5C99AAE40138}" presName="parentText" presStyleLbl="alignNode1" presStyleIdx="2" presStyleCnt="3">
        <dgm:presLayoutVars>
          <dgm:chMax val="1"/>
          <dgm:bulletEnabled val="1"/>
        </dgm:presLayoutVars>
      </dgm:prSet>
      <dgm:spPr/>
      <dgm:t>
        <a:bodyPr/>
        <a:lstStyle/>
        <a:p>
          <a:endParaRPr lang="en-US"/>
        </a:p>
      </dgm:t>
    </dgm:pt>
    <dgm:pt modelId="{ECB897F4-2E3A-4399-AF70-21B0954B7C7A}" type="pres">
      <dgm:prSet presAssocID="{448F7FCB-622E-43F7-A22D-5C99AAE40138}" presName="descendantText" presStyleLbl="alignAcc1" presStyleIdx="2" presStyleCnt="3">
        <dgm:presLayoutVars>
          <dgm:bulletEnabled val="1"/>
        </dgm:presLayoutVars>
      </dgm:prSet>
      <dgm:spPr/>
      <dgm:t>
        <a:bodyPr/>
        <a:lstStyle/>
        <a:p>
          <a:endParaRPr lang="en-US"/>
        </a:p>
      </dgm:t>
    </dgm:pt>
  </dgm:ptLst>
  <dgm:cxnLst>
    <dgm:cxn modelId="{205AE70E-D6FE-4B4D-A203-C2D8D15F3C6F}" srcId="{448F7FCB-622E-43F7-A22D-5C99AAE40138}" destId="{3C71C636-0BAE-43AD-93C0-480DC7C94CFF}" srcOrd="0" destOrd="0" parTransId="{11A5D5D6-8AAE-488F-BD8C-4DC523522103}" sibTransId="{E854217A-2785-472F-BD8D-AD116784758F}"/>
    <dgm:cxn modelId="{EABE93A0-C47D-485D-9439-43CD0B03D1FD}" type="presOf" srcId="{EA2F0BCF-E43C-40B9-8CEB-8BBC4F45F1BF}" destId="{CA1FCB04-3124-41BE-9A6B-B75F741F186D}" srcOrd="0" destOrd="0" presId="urn:microsoft.com/office/officeart/2005/8/layout/chevron2"/>
    <dgm:cxn modelId="{ECFC7600-EAA6-4C5F-B8F1-0932FCF370EC}" type="presOf" srcId="{82BEA242-C273-4B1E-BB3D-ED9815445E9E}" destId="{5A27CD9E-B137-4BB2-B0F6-C0CE148B8878}" srcOrd="0" destOrd="0" presId="urn:microsoft.com/office/officeart/2005/8/layout/chevron2"/>
    <dgm:cxn modelId="{F4BA8CF4-0E65-4BE4-8DD4-9AB9017FE9BB}" type="presOf" srcId="{14F8453C-D8BB-4FAB-BBD5-6808E174C386}" destId="{ECB897F4-2E3A-4399-AF70-21B0954B7C7A}" srcOrd="0" destOrd="1" presId="urn:microsoft.com/office/officeart/2005/8/layout/chevron2"/>
    <dgm:cxn modelId="{195F51F8-9F3D-49EB-A601-F89CD89EB0EE}" srcId="{E3C65366-ED64-4082-BB0A-B2932ED8C2B4}" destId="{448F7FCB-622E-43F7-A22D-5C99AAE40138}" srcOrd="2" destOrd="0" parTransId="{4F00F7F9-F18F-488D-BBF0-CBF9428A22AA}" sibTransId="{22547642-73FF-48FA-8CDE-D17C3385E202}"/>
    <dgm:cxn modelId="{79FD9E6F-77D5-4135-AD9A-BE30C17B0FF0}" srcId="{E3C65366-ED64-4082-BB0A-B2932ED8C2B4}" destId="{EA2F0BCF-E43C-40B9-8CEB-8BBC4F45F1BF}" srcOrd="0" destOrd="0" parTransId="{B15C1FBC-5CC6-4A30-9E01-16F4768E8FC5}" sibTransId="{1568445F-CA10-4F28-A8E1-EC63500D7D4C}"/>
    <dgm:cxn modelId="{CC5FDFCE-8CD2-44C0-B023-5A19FEA98799}" srcId="{82BEA242-C273-4B1E-BB3D-ED9815445E9E}" destId="{0E3CDC24-32DC-46FB-91EA-BF72AA2EA033}" srcOrd="0" destOrd="0" parTransId="{86916292-9AC5-4DBC-875A-103D9B62324E}" sibTransId="{247BF9FC-9BF2-428B-A686-011385283668}"/>
    <dgm:cxn modelId="{F93CB18E-0699-4521-98D8-7C2C9B867359}" type="presOf" srcId="{0E3CDC24-32DC-46FB-91EA-BF72AA2EA033}" destId="{6C9D759F-DD8C-4A5A-A6BA-877DB937B105}" srcOrd="0" destOrd="0" presId="urn:microsoft.com/office/officeart/2005/8/layout/chevron2"/>
    <dgm:cxn modelId="{F22B8CA8-E6C8-48D9-ADE2-7FFFF0FCA3DB}" type="presOf" srcId="{448F7FCB-622E-43F7-A22D-5C99AAE40138}" destId="{FA11F56D-7F06-44E5-A75A-CEB3F7A64765}" srcOrd="0" destOrd="0" presId="urn:microsoft.com/office/officeart/2005/8/layout/chevron2"/>
    <dgm:cxn modelId="{D82B2C75-E214-41E4-AEE3-84A1B4893125}" srcId="{EA2F0BCF-E43C-40B9-8CEB-8BBC4F45F1BF}" destId="{A8DC20F8-2AC5-447D-A4CB-0F3AD5C8543E}" srcOrd="0" destOrd="0" parTransId="{5DBF111C-2710-429F-8FAC-74354EE17DA0}" sibTransId="{A37D37FF-06A3-454E-96D2-4CFBBBBFEB94}"/>
    <dgm:cxn modelId="{B4988252-58DC-4808-B858-803FEA1728EF}" type="presOf" srcId="{8620F339-1591-4C83-B948-FFF5D6A919AE}" destId="{6C9D759F-DD8C-4A5A-A6BA-877DB937B105}" srcOrd="0" destOrd="1" presId="urn:microsoft.com/office/officeart/2005/8/layout/chevron2"/>
    <dgm:cxn modelId="{99658A5A-1DC5-4647-9219-A215E60889EC}" type="presOf" srcId="{E3C65366-ED64-4082-BB0A-B2932ED8C2B4}" destId="{EA910DEA-2DE9-49D5-B6C8-EC8BF177DA15}" srcOrd="0" destOrd="0" presId="urn:microsoft.com/office/officeart/2005/8/layout/chevron2"/>
    <dgm:cxn modelId="{C064C103-E9CD-4B53-85EA-837B2CCED08E}" type="presOf" srcId="{AD06888D-6371-4471-ADBF-5AA192D7E70C}" destId="{5FB467CC-8F95-4E61-9CB4-50B20BDEBCCF}" srcOrd="0" destOrd="1" presId="urn:microsoft.com/office/officeart/2005/8/layout/chevron2"/>
    <dgm:cxn modelId="{3EF8621E-3D5A-40D4-A70D-365F71AA2F97}" srcId="{448F7FCB-622E-43F7-A22D-5C99AAE40138}" destId="{14F8453C-D8BB-4FAB-BBD5-6808E174C386}" srcOrd="1" destOrd="0" parTransId="{8432999A-1055-4968-AEDD-E6116267256F}" sibTransId="{8F1894F9-1835-485B-8F75-CE793E154B5D}"/>
    <dgm:cxn modelId="{EC6DDEA3-09AF-4906-8D02-6CF1D59CEE23}" type="presOf" srcId="{A8DC20F8-2AC5-447D-A4CB-0F3AD5C8543E}" destId="{5FB467CC-8F95-4E61-9CB4-50B20BDEBCCF}" srcOrd="0" destOrd="0" presId="urn:microsoft.com/office/officeart/2005/8/layout/chevron2"/>
    <dgm:cxn modelId="{510FB2CC-143C-4F39-80BE-0626C0C43922}" srcId="{82BEA242-C273-4B1E-BB3D-ED9815445E9E}" destId="{8620F339-1591-4C83-B948-FFF5D6A919AE}" srcOrd="1" destOrd="0" parTransId="{170F3DFC-CA0E-4006-903A-91C85BE61371}" sibTransId="{38C4C977-FD42-45EA-B58F-95E23D9D3E4C}"/>
    <dgm:cxn modelId="{6572822E-2A71-45E4-AA6B-DBC6180A5A32}" srcId="{EA2F0BCF-E43C-40B9-8CEB-8BBC4F45F1BF}" destId="{AD06888D-6371-4471-ADBF-5AA192D7E70C}" srcOrd="1" destOrd="0" parTransId="{268CD124-F273-48DB-A695-C24E2EE49C09}" sibTransId="{0AFE3DBF-8CB4-4E32-8CE7-11BE59F19BC1}"/>
    <dgm:cxn modelId="{36653CB8-43F8-4BD5-AA82-1BF152470E9E}" type="presOf" srcId="{3C71C636-0BAE-43AD-93C0-480DC7C94CFF}" destId="{ECB897F4-2E3A-4399-AF70-21B0954B7C7A}" srcOrd="0" destOrd="0" presId="urn:microsoft.com/office/officeart/2005/8/layout/chevron2"/>
    <dgm:cxn modelId="{76EFCC05-8C43-43A9-B800-9EED06BAB63F}" srcId="{E3C65366-ED64-4082-BB0A-B2932ED8C2B4}" destId="{82BEA242-C273-4B1E-BB3D-ED9815445E9E}" srcOrd="1" destOrd="0" parTransId="{7CF3EECE-B4C7-4CF5-B4CC-FFB307A8CA45}" sibTransId="{81C8A003-950F-4D17-AD18-31852038A988}"/>
    <dgm:cxn modelId="{26C2EBB3-2DFB-42D3-B018-697B3A7CBA1B}" type="presParOf" srcId="{EA910DEA-2DE9-49D5-B6C8-EC8BF177DA15}" destId="{05566CB2-EC9D-4488-9942-5FBCAA4376D1}" srcOrd="0" destOrd="0" presId="urn:microsoft.com/office/officeart/2005/8/layout/chevron2"/>
    <dgm:cxn modelId="{51A5BDF8-23F2-492A-B66E-50AD0834110B}" type="presParOf" srcId="{05566CB2-EC9D-4488-9942-5FBCAA4376D1}" destId="{CA1FCB04-3124-41BE-9A6B-B75F741F186D}" srcOrd="0" destOrd="0" presId="urn:microsoft.com/office/officeart/2005/8/layout/chevron2"/>
    <dgm:cxn modelId="{FE1C7052-7C59-4848-94EE-8135C4BDC884}" type="presParOf" srcId="{05566CB2-EC9D-4488-9942-5FBCAA4376D1}" destId="{5FB467CC-8F95-4E61-9CB4-50B20BDEBCCF}" srcOrd="1" destOrd="0" presId="urn:microsoft.com/office/officeart/2005/8/layout/chevron2"/>
    <dgm:cxn modelId="{671CBC16-5746-4DE5-B9E2-AF754EB2E0F7}" type="presParOf" srcId="{EA910DEA-2DE9-49D5-B6C8-EC8BF177DA15}" destId="{823E9076-4B63-4796-AAFA-E081CEB99617}" srcOrd="1" destOrd="0" presId="urn:microsoft.com/office/officeart/2005/8/layout/chevron2"/>
    <dgm:cxn modelId="{C9A2FBA6-8F82-44D9-B5E2-68ADD15066BC}" type="presParOf" srcId="{EA910DEA-2DE9-49D5-B6C8-EC8BF177DA15}" destId="{B6EA3468-3A83-495F-84E7-B8E893B727AB}" srcOrd="2" destOrd="0" presId="urn:microsoft.com/office/officeart/2005/8/layout/chevron2"/>
    <dgm:cxn modelId="{DEACAC36-5974-4D0B-B31D-A30438ED0304}" type="presParOf" srcId="{B6EA3468-3A83-495F-84E7-B8E893B727AB}" destId="{5A27CD9E-B137-4BB2-B0F6-C0CE148B8878}" srcOrd="0" destOrd="0" presId="urn:microsoft.com/office/officeart/2005/8/layout/chevron2"/>
    <dgm:cxn modelId="{A386387B-B1C7-4A6B-95F7-4144250D987C}" type="presParOf" srcId="{B6EA3468-3A83-495F-84E7-B8E893B727AB}" destId="{6C9D759F-DD8C-4A5A-A6BA-877DB937B105}" srcOrd="1" destOrd="0" presId="urn:microsoft.com/office/officeart/2005/8/layout/chevron2"/>
    <dgm:cxn modelId="{A34338CA-665B-4C58-8FB8-13D6A651B441}" type="presParOf" srcId="{EA910DEA-2DE9-49D5-B6C8-EC8BF177DA15}" destId="{1F793B15-F68D-4473-8989-D92A30702523}" srcOrd="3" destOrd="0" presId="urn:microsoft.com/office/officeart/2005/8/layout/chevron2"/>
    <dgm:cxn modelId="{7F6A7E33-3245-4137-9A1C-25D8B5321557}" type="presParOf" srcId="{EA910DEA-2DE9-49D5-B6C8-EC8BF177DA15}" destId="{52034771-DFB7-47BB-A868-1670D377E01F}" srcOrd="4" destOrd="0" presId="urn:microsoft.com/office/officeart/2005/8/layout/chevron2"/>
    <dgm:cxn modelId="{45F58ECB-1741-4BAA-8976-5AFF369E4185}" type="presParOf" srcId="{52034771-DFB7-47BB-A868-1670D377E01F}" destId="{FA11F56D-7F06-44E5-A75A-CEB3F7A64765}" srcOrd="0" destOrd="0" presId="urn:microsoft.com/office/officeart/2005/8/layout/chevron2"/>
    <dgm:cxn modelId="{040B9B8C-C4E4-4DAD-9ECD-E4FAEA04FB54}" type="presParOf" srcId="{52034771-DFB7-47BB-A868-1670D377E01F}" destId="{ECB897F4-2E3A-4399-AF70-21B0954B7C7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1633453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preface introduces the reason for distinguishing ordinary chat from program-mediated LLM use. A </a:t>
            </a:r>
            <a:r>
              <a:rPr dirty="0" smtClean="0"/>
              <a:t>single </a:t>
            </a:r>
            <a:r>
              <a:rPr dirty="0"/>
              <a:t>chat is useful, but a large transcript corpus requires repetition, consistency, and saved intermediate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key distinction is manual interaction versus program-mediated interaction. The same LLM can answer a one-off question, or it can be called repeatedly by a program that supplies instructions and saves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Direct interaction is the simplest way to test the task. It is useful for one transcript and for prompt design, but it does not scale well to a whole YouTube channel because the work is manual and difficult to standardize.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Program-mediated interaction turns the LLM into one component of a larger workflow. The program loads each transcript, sends the same structured request, receives a structured output, and saves a checkpoint for later phases.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does not need to write every line of Python by hand. The central skill is specifying the task precisely enough that Claude can write Program P, which then calls DeepSeek to process the transcript collection.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explains a workflow for building a knowledge base from a large YouTube channel. The purpose is not to teach Python in detail. The purpose is to make the workflow understandable to someone who is comfortable with computers but not with programming.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difficulty is not merely storage. The difficulty is that raw transcripts are not organized knowledge. They are long, repetitive, and uneven. The program is meant to convert them into something closer to a book or research compendium.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compendium is the main product. It is not a simple abstract. It is more like a small book or analyst report created from the whole transcript collection.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problems motivate the whole pipeline. Each problem is practical: jobs can time out, context windows are limited, paid tools can be expensive, and unorganized input can produce unreliable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problem is not intelligence. It is execution time. Claude might be able to write a transcript downloader, but the actual downloading may be better done on a personal computer.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context window is like a desk. You can work with only so many papers on the desk at once. The pipeline processes the papers in batches and then combines the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 does not claim that the commercial products are useless. It says that if the user already has transcripts and can run Python locally, it may be possible to create a custom alternative.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most important practical points. The purpose of the compendium is to improve the quality of the knowledge base before asking high-level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Curated means organized, deduplicated, and made easier to verify. The compendium is closer to an edited book than a pile of transcripts.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file organizes the speaker’s ideas. The second file is a safety and quality-control file. It collects claims that may be plausible but were not supported strongly enough in the transcript.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Markdown is not a programming language in the usual sense. It is a simple way of making headings, lists, and bold text in plain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is the simplest analogy. The compendium is like a book created from many speeches. Central claims are like chapters. Themes are like sections. Arguments and evidence fill the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Central Claim is not a topic label like “inflation.” It is a proposition that can be defended or disputed. It says what the speaker is actually claiming.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theme is a topic cluster. The key point is that themes are not trapped under only one chapter. They can connect different chapters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argument is the primary intellectual object. It is smaller than a chapter and more precise than a theme. The compendium should preserve arguments, not just topics.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 is careful about verification. The pipeline itself does not browse the web. It can flag claims based on whether a source is present or whether the claim looks checkable, but true external verification can be a separate later program.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structure matters because it gives the model a target shape. It is easier to evaluate whether the result is good if the expected hierarchy is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unverifiable claims file separates knowledge organization from fact-checking. This is useful because transcript processing and external verification are two different tasks.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flow diagram supplied with the task. The left side shows the five main phases. The right side shows files created along the way. The bottom shows the final compendium.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 means do a small job many times. Reduce means combine the small results. Summarization means produce a shorter and more organized representation.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Phase 1 the LLM is asked to produce a structured summary for each individual speech. This is the most important phase for preserving the original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Inventory means make a list of everything the Phase 1 summaries contain. This gives the later phases a complete set of extracted claims and themes.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Consolidation is a key intellectual phase. It decides which repeated claims are really the same claim and which are meaningfully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canonical.json is important because it gives stable names and IDs to the concepts. Without stable IDs, later steps could refer to the same idea in inconsistent 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phase is like editing many index cards so they all use the same official labels. It makes Phase 5 easier and more consistent.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phase should preserve richness. It should not collapse everything into a generic summary. It should synthesize arguments but keep evidence, analogies, and time evolution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checkpoint is like saving a video game. If something crashes, you can resume from the last save rather than beginning again.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practical approach. The user may not be a programmer, but can still define the desired behavior of the program very carefully. That is the strength of a declarative prompt.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declarative prompt does not mean vague. It means specific about what must be produced, what constraints must be satisfied, and what examples should be followed.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 uses Prolog only as a mental model. The user does not need to become a Prolog programmer. The point is to learn to make facts, rules, and questions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Claude normally has an open-world behavior: if something is not stated, it may use its training data. If the task requires strict grounding, explicitly restrict it to the supplied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why the prompt includes many rules about output structure, target counts, checkpoints, and what to do when cases are ambiguous</a:t>
            </a:r>
            <a:r>
              <a:rPr dirty="0" smtClean="0"/>
              <a:t>.</a:t>
            </a:r>
            <a:endParaRPr lang="en-US" dirty="0" smtClean="0"/>
          </a:p>
          <a:p>
            <a:r>
              <a:rPr lang="en-US" dirty="0" smtClean="0"/>
              <a:t>X is an ancestor of Y if X is a direct parent of Y, or if X is the parent of some Z who is itself an ancestor of Y.</a:t>
            </a:r>
          </a:p>
          <a:p>
            <a:r>
              <a:rPr lang="en-US" dirty="0" smtClean="0"/>
              <a:t>Well formedness</a:t>
            </a:r>
            <a:r>
              <a:rPr lang="en-US" baseline="0" dirty="0" smtClean="0"/>
              <a:t> condition: </a:t>
            </a:r>
            <a:r>
              <a:rPr lang="en-US" dirty="0" smtClean="0"/>
              <a:t>an (X,Y) pair is well-formed with respect to ancestor exactly when it's reachable by a finite path in the parent-relation graph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objective should be explicit: write a Python program that processes a folder of transcripts into a compendium and a structured list of unverifiable claims using a five-phase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structure is the important part. It turns a vague request into a specification. The attachments become the evidence for what the program should produce.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Tools: &lt;!-- Analogy: like declaring Prolog external predicates — Permitted = declared foreign predicates, Prohibited = predicates that don't exist / always fail --&gt;</a:t>
            </a:r>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4113901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descriptions reduce assumptions. For example, if the date is in the filename, the program can use it to write the evolution-over-time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CSV example contains video IDs and titles. It can help Claude infer likely topic areas before running the full pipeline, but the transcripts are still the primary source for claims and arguments.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Output examples and well-formedness rules are crucial. They tell Claude what counts as success.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roles guide the style of reasoning. The tools guide the architecture. The “do not use web search” rule prevents the transcript analysis pipeline from mixing transcript evidence with external browsing.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Rules make the prompt less like a casual request and more like a contract. They do not remove all randomness, but they reduce unnecessary freedom.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counts are not just cosmetic. They shape the intellectual structure of the output. The right target is empirical and may require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evaluation script is a separate program that inspects the outputs. It is how the user can have an objective basis for improving the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metric asks whether the canonical theme list has too much duplication. If two themes mean nearly the same thing, the structure should be merged or renamed.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reason themes are cross-cutting is to connect chapters. This metric detects whether that design is actually happening.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centroid is a mathematical average representation of a cluster. The evaluation asks whether a speech is closer to its assigned cluster than to neighboring clusters.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Claim usage is about whether the chosen Central Claims are well populated. It helps diagnose thin versus thick compendia.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deck’s examples show a thin central claim and a thick central claim. The important distinction is how much evidence, rhetorical structure, and time evolution the chapter preserves.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software development with measurement. The user should not expect the first program Claude writes to be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Intermediate outputs show the program’s reasoning pathway. They help distinguish a problem in summarization from a problem in consolidation or assembly.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Stochastic means partly variable. The model is not pure logic. That is why the specification must be precise and the outputs must be evaluated.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Claude can often identify missing constraints or ambiguities in the first prompt. Having it rewrite the prompt makes those additions explicit before code is generated.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pipeline’s architecture creates a risk: after Phase 1, it may not consult original transcripts again. If Phase 1 made a mistake, the mistake can flow downstream.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RAG is a common architecture for grounding LLM answers. In this project, it would allow later phases to pull relevant transcript passages again instead of relying only on summaries.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slide suggested DeepSeek filtering as a plausible explanation. This clearer version frames it carefully as one possible debugging hypothesis among several.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process in operational form. It starts with local transcript collection and ends with measured iteration.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main takeaway for a high-school-level audience. The user does not need to understand every Python detail, but must understand the structure and constraints well enough to supervise the LLM.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small subset demo reduces risk. It proves that the workflow and file structure work before spending time and tokens on a large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closing slide condenses the deck into one message: the workflow is about transforming raw speech into organized, evaluable knowledge.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E984B9-095E-4E2B-B0A9-0BB7162DD249}"/>
              </a:ext>
            </a:extLst>
          </p:cNvPr>
          <p:cNvSpPr>
            <a:spLocks noGrp="1"/>
          </p:cNvSpPr>
          <p:nvPr>
            <p:ph type="ctrTitle"/>
          </p:nvPr>
        </p:nvSpPr>
        <p:spPr>
          <a:xfrm>
            <a:off x="914400" y="2130426"/>
            <a:ext cx="10363200" cy="1470025"/>
          </a:xfrm>
        </p:spPr>
        <p:txBody>
          <a:bodyPr/>
          <a:lstStyle/>
          <a:p>
            <a:r>
              <a:t>Click to edit Master title style</a:t>
            </a:r>
          </a:p>
        </p:txBody>
      </p:sp>
      <p:sp>
        <p:nvSpPr>
          <p:cNvPr id="3" name="Subtitle 2">
            <a:extLst>
              <a:ext uri="{FF2B5EF4-FFF2-40B4-BE49-F238E27FC236}">
                <a16:creationId xmlns:a16="http://schemas.microsoft.com/office/drawing/2014/main" xmlns="" id="{09DCC303-93E1-4BA4-B421-0357C23BEDF5}"/>
              </a:ext>
            </a:extLst>
          </p:cNvPr>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xmlns="" id="{560E292A-2406-4316-BF9F-4061656B69B0}"/>
              </a:ext>
            </a:extLst>
          </p:cNvPr>
          <p:cNvSpPr>
            <a:spLocks noGrp="1"/>
          </p:cNvSpPr>
          <p:nvPr>
            <p:ph type="dt" idx="10"/>
          </p:nvPr>
        </p:nvSpPr>
        <p:spPr/>
        <p:txBody>
          <a:bodyPr/>
          <a:lstStyle/>
          <a:p>
            <a:fld id="{3113B0F6-C26F-4113-87DD-388C75F527FE}" type="datetime1">
              <a:rPr lang="en-US" smtClean="0"/>
              <a:t>9/15/2026</a:t>
            </a:fld>
            <a:endParaRPr/>
          </a:p>
        </p:txBody>
      </p:sp>
      <p:sp>
        <p:nvSpPr>
          <p:cNvPr id="5" name="Footer Placeholder 4">
            <a:extLst>
              <a:ext uri="{FF2B5EF4-FFF2-40B4-BE49-F238E27FC236}">
                <a16:creationId xmlns:a16="http://schemas.microsoft.com/office/drawing/2014/main" xmlns="" id="{67D3100A-CA96-4B19-B7A8-9036761531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xmlns="" id="{B8385E53-91A2-48B2-84C4-167D73DCC4AB}"/>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EC2C3F-322A-4757-8B92-E4B3EBC0292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xmlns="" id="{FCD5A831-314A-4A3C-8D03-C1763DDDFFD5}"/>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xmlns="" id="{8057AFE4-0B14-44B4-B1E0-3B49462372FA}"/>
              </a:ext>
            </a:extLst>
          </p:cNvPr>
          <p:cNvSpPr>
            <a:spLocks noGrp="1"/>
          </p:cNvSpPr>
          <p:nvPr>
            <p:ph type="dt" idx="10"/>
          </p:nvPr>
        </p:nvSpPr>
        <p:spPr/>
        <p:txBody>
          <a:bodyPr/>
          <a:lstStyle/>
          <a:p>
            <a:fld id="{A01E2A06-8DAB-48D3-BFCD-10EEE33694D0}" type="datetime1">
              <a:rPr lang="en-US" smtClean="0"/>
              <a:t>9/15/2026</a:t>
            </a:fld>
            <a:endParaRPr/>
          </a:p>
        </p:txBody>
      </p:sp>
      <p:sp>
        <p:nvSpPr>
          <p:cNvPr id="5" name="Footer Placeholder 4">
            <a:extLst>
              <a:ext uri="{FF2B5EF4-FFF2-40B4-BE49-F238E27FC236}">
                <a16:creationId xmlns:a16="http://schemas.microsoft.com/office/drawing/2014/main" xmlns="" id="{70644316-7DF3-4ECB-8DE5-7957E9BE155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xmlns="" id="{31CECA1C-8370-42C3-9788-90102C47139D}"/>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998BD-65A8-4112-926B-35A240A717C3}"/>
              </a:ext>
            </a:extLst>
          </p:cNvPr>
          <p:cNvSpPr>
            <a:spLocks noGrp="1"/>
          </p:cNvSpPr>
          <p:nvPr>
            <p:ph type="title"/>
          </p:nvPr>
        </p:nvSpPr>
        <p:spPr>
          <a:xfrm>
            <a:off x="963084" y="4406901"/>
            <a:ext cx="103632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xmlns="" id="{57E527A0-A54C-42E9-9A0F-AB72BA8A62A1}"/>
              </a:ext>
            </a:extLst>
          </p:cNvPr>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xmlns="" id="{01D759BE-C3FB-4DDA-99BE-CF327A97DF72}"/>
              </a:ext>
            </a:extLst>
          </p:cNvPr>
          <p:cNvSpPr>
            <a:spLocks noGrp="1"/>
          </p:cNvSpPr>
          <p:nvPr>
            <p:ph type="dt" idx="10"/>
          </p:nvPr>
        </p:nvSpPr>
        <p:spPr/>
        <p:txBody>
          <a:bodyPr/>
          <a:lstStyle/>
          <a:p>
            <a:fld id="{67E0B39E-A314-40FC-9565-129F37A7C395}" type="datetime1">
              <a:rPr lang="en-US" smtClean="0"/>
              <a:t>9/15/2026</a:t>
            </a:fld>
            <a:endParaRPr/>
          </a:p>
        </p:txBody>
      </p:sp>
      <p:sp>
        <p:nvSpPr>
          <p:cNvPr id="5" name="Footer Placeholder 4">
            <a:extLst>
              <a:ext uri="{FF2B5EF4-FFF2-40B4-BE49-F238E27FC236}">
                <a16:creationId xmlns:a16="http://schemas.microsoft.com/office/drawing/2014/main" xmlns="" id="{6031F6D2-50D6-4537-93E8-D51088E49B1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xmlns="" id="{D6E7651F-0630-4950-8F41-B91448A4B08C}"/>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336B64-B519-483C-B252-6410D8DF6DB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xmlns="" id="{3D478C09-62C5-443F-B7EF-94012C80B0BF}"/>
              </a:ext>
            </a:extLst>
          </p:cNvPr>
          <p:cNvSpPr>
            <a:spLocks noGrp="1"/>
          </p:cNvSpPr>
          <p:nvPr>
            <p:ph idx="1"/>
          </p:nvPr>
        </p:nvSpPr>
        <p:spPr>
          <a:xfrm>
            <a:off x="609600" y="1600201"/>
            <a:ext cx="53848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xmlns="" id="{F31FDE75-C218-4110-960D-A9C34E9DF48F}"/>
              </a:ext>
            </a:extLst>
          </p:cNvPr>
          <p:cNvSpPr>
            <a:spLocks noGrp="1"/>
          </p:cNvSpPr>
          <p:nvPr>
            <p:ph idx="2"/>
          </p:nvPr>
        </p:nvSpPr>
        <p:spPr>
          <a:xfrm>
            <a:off x="6197600" y="1600201"/>
            <a:ext cx="53848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xmlns="" id="{FFAD0500-7051-44F9-89D6-B9AAC9443EA4}"/>
              </a:ext>
            </a:extLst>
          </p:cNvPr>
          <p:cNvSpPr>
            <a:spLocks noGrp="1"/>
          </p:cNvSpPr>
          <p:nvPr>
            <p:ph type="dt" idx="10"/>
          </p:nvPr>
        </p:nvSpPr>
        <p:spPr/>
        <p:txBody>
          <a:bodyPr/>
          <a:lstStyle/>
          <a:p>
            <a:fld id="{59AB3A6A-782C-4A89-97DD-FAD08D435A14}" type="datetime1">
              <a:rPr lang="en-US" smtClean="0"/>
              <a:t>9/15/2026</a:t>
            </a:fld>
            <a:endParaRPr/>
          </a:p>
        </p:txBody>
      </p:sp>
      <p:sp>
        <p:nvSpPr>
          <p:cNvPr id="6" name="Footer Placeholder 5">
            <a:extLst>
              <a:ext uri="{FF2B5EF4-FFF2-40B4-BE49-F238E27FC236}">
                <a16:creationId xmlns:a16="http://schemas.microsoft.com/office/drawing/2014/main" xmlns="" id="{3651A971-DAC0-4385-91D8-BB7635855BB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xmlns="" id="{AEA9BF91-FE48-49FA-BC97-48D1638B94F8}"/>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E50C0-6067-4644-94BA-01E26739A52A}"/>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xmlns="" id="{E905388E-1109-4E8B-BBC8-65A224752564}"/>
              </a:ext>
            </a:extLst>
          </p:cNvPr>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xmlns="" id="{24B87170-3F41-4411-99C0-BCA2FCD2F60D}"/>
              </a:ext>
            </a:extLst>
          </p:cNvPr>
          <p:cNvSpPr>
            <a:spLocks noGrp="1"/>
          </p:cNvSpPr>
          <p:nvPr>
            <p:ph idx="2"/>
          </p:nvPr>
        </p:nvSpPr>
        <p:spPr>
          <a:xfrm>
            <a:off x="609600" y="2174875"/>
            <a:ext cx="5386917"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xmlns="" id="{182AA2E6-E06C-4279-91EC-D5639952EA97}"/>
              </a:ext>
            </a:extLst>
          </p:cNvPr>
          <p:cNvSpPr>
            <a:spLocks noGrp="1"/>
          </p:cNvSpPr>
          <p:nvPr>
            <p:ph type="body"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xmlns="" id="{C1C86C32-3183-48ED-9670-BF0699D55B7F}"/>
              </a:ext>
            </a:extLst>
          </p:cNvPr>
          <p:cNvSpPr>
            <a:spLocks noGrp="1"/>
          </p:cNvSpPr>
          <p:nvPr>
            <p:ph idx="4"/>
          </p:nvPr>
        </p:nvSpPr>
        <p:spPr>
          <a:xfrm>
            <a:off x="6193368" y="2174875"/>
            <a:ext cx="5389033"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xmlns="" id="{60B26F1D-6113-4BAD-82DA-BAA0A5145162}"/>
              </a:ext>
            </a:extLst>
          </p:cNvPr>
          <p:cNvSpPr>
            <a:spLocks noGrp="1"/>
          </p:cNvSpPr>
          <p:nvPr>
            <p:ph type="dt" idx="10"/>
          </p:nvPr>
        </p:nvSpPr>
        <p:spPr/>
        <p:txBody>
          <a:bodyPr/>
          <a:lstStyle/>
          <a:p>
            <a:fld id="{7A232597-E0E0-4110-95AA-8EFC9A433CDE}" type="datetime1">
              <a:rPr lang="en-US" smtClean="0"/>
              <a:t>9/15/2026</a:t>
            </a:fld>
            <a:endParaRPr/>
          </a:p>
        </p:txBody>
      </p:sp>
      <p:sp>
        <p:nvSpPr>
          <p:cNvPr id="8" name="Footer Placeholder 7">
            <a:extLst>
              <a:ext uri="{FF2B5EF4-FFF2-40B4-BE49-F238E27FC236}">
                <a16:creationId xmlns:a16="http://schemas.microsoft.com/office/drawing/2014/main" xmlns="" id="{34D82E58-53D7-4451-95C3-7608AE9D0810}"/>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xmlns="" id="{4CCFC8B6-C191-4129-98F4-02D970ED8C01}"/>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9AA7FF-A6C0-44A8-9A01-C6702DDDA34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xmlns="" id="{2E0DFCB4-5E74-44FA-B192-05F819F16614}"/>
              </a:ext>
            </a:extLst>
          </p:cNvPr>
          <p:cNvSpPr>
            <a:spLocks noGrp="1"/>
          </p:cNvSpPr>
          <p:nvPr>
            <p:ph type="dt" idx="10"/>
          </p:nvPr>
        </p:nvSpPr>
        <p:spPr/>
        <p:txBody>
          <a:bodyPr/>
          <a:lstStyle/>
          <a:p>
            <a:fld id="{B41473A2-BCD9-4633-84BD-9B2788DA5ED9}" type="datetime1">
              <a:rPr lang="en-US" smtClean="0"/>
              <a:t>9/15/2026</a:t>
            </a:fld>
            <a:endParaRPr/>
          </a:p>
        </p:txBody>
      </p:sp>
      <p:sp>
        <p:nvSpPr>
          <p:cNvPr id="4" name="Footer Placeholder 3">
            <a:extLst>
              <a:ext uri="{FF2B5EF4-FFF2-40B4-BE49-F238E27FC236}">
                <a16:creationId xmlns:a16="http://schemas.microsoft.com/office/drawing/2014/main" xmlns="" id="{E78A3218-97CE-4751-AE8F-E8135DB9B47C}"/>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xmlns="" id="{16385BE6-052C-4D12-8288-73AD28944840}"/>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F0B3C24-DD62-4D0B-8262-3E78C282B616}"/>
              </a:ext>
            </a:extLst>
          </p:cNvPr>
          <p:cNvSpPr>
            <a:spLocks noGrp="1"/>
          </p:cNvSpPr>
          <p:nvPr>
            <p:ph type="dt" idx="10"/>
          </p:nvPr>
        </p:nvSpPr>
        <p:spPr/>
        <p:txBody>
          <a:bodyPr/>
          <a:lstStyle/>
          <a:p>
            <a:fld id="{F39FF392-2B55-4714-B46B-5A6E7137755C}" type="datetime1">
              <a:rPr lang="en-US" smtClean="0"/>
              <a:t>9/15/2026</a:t>
            </a:fld>
            <a:endParaRPr/>
          </a:p>
        </p:txBody>
      </p:sp>
      <p:sp>
        <p:nvSpPr>
          <p:cNvPr id="3" name="Footer Placeholder 2">
            <a:extLst>
              <a:ext uri="{FF2B5EF4-FFF2-40B4-BE49-F238E27FC236}">
                <a16:creationId xmlns:a16="http://schemas.microsoft.com/office/drawing/2014/main" xmlns="" id="{4F65BA16-02FE-4FEF-B881-A0A7326D076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xmlns="" id="{E25FA3E8-FF08-4B3B-A434-A4059195859B}"/>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80F02D-C622-4CF7-9289-5FAA5146966B}"/>
              </a:ext>
            </a:extLst>
          </p:cNvPr>
          <p:cNvSpPr>
            <a:spLocks noGrp="1"/>
          </p:cNvSpPr>
          <p:nvPr>
            <p:ph type="title"/>
          </p:nvPr>
        </p:nvSpPr>
        <p:spPr>
          <a:xfrm>
            <a:off x="609601" y="273050"/>
            <a:ext cx="4011084"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xmlns="" id="{EE11849F-78A5-499E-ABB9-B017EB589D3A}"/>
              </a:ext>
            </a:extLst>
          </p:cNvPr>
          <p:cNvSpPr>
            <a:spLocks noGrp="1"/>
          </p:cNvSpPr>
          <p:nvPr>
            <p:ph idx="1"/>
          </p:nvPr>
        </p:nvSpPr>
        <p:spPr>
          <a:xfrm>
            <a:off x="4766733" y="273051"/>
            <a:ext cx="6815667"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xmlns="" id="{F84F4E51-568A-4C10-A26C-464089FBFA09}"/>
              </a:ext>
            </a:extLst>
          </p:cNvPr>
          <p:cNvSpPr>
            <a:spLocks noGrp="1"/>
          </p:cNvSpPr>
          <p:nvPr>
            <p:ph type="body"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xmlns="" id="{1973EAEA-2989-4EE6-A84C-A39160B47E9F}"/>
              </a:ext>
            </a:extLst>
          </p:cNvPr>
          <p:cNvSpPr>
            <a:spLocks noGrp="1"/>
          </p:cNvSpPr>
          <p:nvPr>
            <p:ph type="dt" idx="10"/>
          </p:nvPr>
        </p:nvSpPr>
        <p:spPr/>
        <p:txBody>
          <a:bodyPr/>
          <a:lstStyle/>
          <a:p>
            <a:fld id="{3DDC24A8-7297-48B7-874F-E6E243A05747}" type="datetime1">
              <a:rPr lang="en-US" smtClean="0"/>
              <a:t>9/15/2026</a:t>
            </a:fld>
            <a:endParaRPr/>
          </a:p>
        </p:txBody>
      </p:sp>
      <p:sp>
        <p:nvSpPr>
          <p:cNvPr id="6" name="Footer Placeholder 5">
            <a:extLst>
              <a:ext uri="{FF2B5EF4-FFF2-40B4-BE49-F238E27FC236}">
                <a16:creationId xmlns:a16="http://schemas.microsoft.com/office/drawing/2014/main" xmlns="" id="{DCC7755F-3C9F-4DBF-A2EB-4BFF3F88C52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xmlns="" id="{29BEA31C-159F-459F-BDA8-5D0988BE0844}"/>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043863-9193-4D4F-8C13-B9CC1DD4EC5C}"/>
              </a:ext>
            </a:extLst>
          </p:cNvPr>
          <p:cNvSpPr>
            <a:spLocks noGrp="1"/>
          </p:cNvSpPr>
          <p:nvPr>
            <p:ph type="title"/>
          </p:nvPr>
        </p:nvSpPr>
        <p:spPr>
          <a:xfrm>
            <a:off x="2389717" y="4800600"/>
            <a:ext cx="73152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xmlns="" id="{1BF892DB-C3DA-4446-B41E-40C1FB13E380}"/>
              </a:ext>
            </a:extLst>
          </p:cNvPr>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xmlns="" id="{50997AAE-41C4-4734-ACC8-764BDF2C60D3}"/>
              </a:ext>
            </a:extLst>
          </p:cNvPr>
          <p:cNvSpPr>
            <a:spLocks noGrp="1"/>
          </p:cNvSpPr>
          <p:nvPr>
            <p:ph type="body"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xmlns="" id="{46074D9E-4ED9-4A1B-9A09-393CFE780C84}"/>
              </a:ext>
            </a:extLst>
          </p:cNvPr>
          <p:cNvSpPr>
            <a:spLocks noGrp="1"/>
          </p:cNvSpPr>
          <p:nvPr>
            <p:ph type="dt" idx="10"/>
          </p:nvPr>
        </p:nvSpPr>
        <p:spPr/>
        <p:txBody>
          <a:bodyPr/>
          <a:lstStyle/>
          <a:p>
            <a:fld id="{0C853CFB-5155-4438-B78C-70C039EA154B}" type="datetime1">
              <a:rPr lang="en-US" smtClean="0"/>
              <a:t>9/15/2026</a:t>
            </a:fld>
            <a:endParaRPr/>
          </a:p>
        </p:txBody>
      </p:sp>
      <p:sp>
        <p:nvSpPr>
          <p:cNvPr id="6" name="Footer Placeholder 5">
            <a:extLst>
              <a:ext uri="{FF2B5EF4-FFF2-40B4-BE49-F238E27FC236}">
                <a16:creationId xmlns:a16="http://schemas.microsoft.com/office/drawing/2014/main" xmlns="" id="{8C9689DF-E009-47FC-AFF8-4B020F2B47B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xmlns="" id="{6EEF6AE2-FDBB-48F9-9202-E5514826D22A}"/>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3CA520-A0FF-495C-8903-5C19620A5D9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xmlns="" id="{F927CD64-55B1-4936-9CF5-386E1F0EF8B8}"/>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xmlns="" id="{51F8D170-E19B-4C4A-A574-5C29EEC149C8}"/>
              </a:ext>
            </a:extLst>
          </p:cNvPr>
          <p:cNvSpPr>
            <a:spLocks noGrp="1"/>
          </p:cNvSpPr>
          <p:nvPr>
            <p:ph type="dt" idx="10"/>
          </p:nvPr>
        </p:nvSpPr>
        <p:spPr/>
        <p:txBody>
          <a:bodyPr/>
          <a:lstStyle/>
          <a:p>
            <a:fld id="{D1DEFA05-0A5F-4726-AD90-8D4BAC21C348}" type="datetime1">
              <a:rPr lang="en-US" smtClean="0"/>
              <a:t>9/15/2026</a:t>
            </a:fld>
            <a:endParaRPr/>
          </a:p>
        </p:txBody>
      </p:sp>
      <p:sp>
        <p:nvSpPr>
          <p:cNvPr id="5" name="Footer Placeholder 4">
            <a:extLst>
              <a:ext uri="{FF2B5EF4-FFF2-40B4-BE49-F238E27FC236}">
                <a16:creationId xmlns:a16="http://schemas.microsoft.com/office/drawing/2014/main" xmlns="" id="{E0E69EFF-AFC4-4F95-84A6-8931F8A2DD6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xmlns="" id="{F3CB8ACE-0C24-459A-80B8-AD570CE9485F}"/>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3FA0F439-1FA5-4D60-B4B9-5A6FADD142C4}"/>
              </a:ext>
            </a:extLst>
          </p:cNvPr>
          <p:cNvSpPr>
            <a:spLocks noGrp="1"/>
          </p:cNvSpPr>
          <p:nvPr>
            <p:ph type="title"/>
          </p:nvPr>
        </p:nvSpPr>
        <p:spPr>
          <a:xfrm>
            <a:off x="8839200" y="274639"/>
            <a:ext cx="27432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xmlns="" id="{211FCDEE-D35D-4709-BFE1-A9860D985AE6}"/>
              </a:ext>
            </a:extLst>
          </p:cNvPr>
          <p:cNvSpPr>
            <a:spLocks noGrp="1"/>
          </p:cNvSpPr>
          <p:nvPr>
            <p:ph type="body" idx="1"/>
          </p:nvPr>
        </p:nvSpPr>
        <p:spPr>
          <a:xfrm>
            <a:off x="609600" y="274639"/>
            <a:ext cx="80264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xmlns="" id="{EAB00488-B0F3-4CCE-BDD2-D1DDC25CE50F}"/>
              </a:ext>
            </a:extLst>
          </p:cNvPr>
          <p:cNvSpPr>
            <a:spLocks noGrp="1"/>
          </p:cNvSpPr>
          <p:nvPr>
            <p:ph type="dt" idx="10"/>
          </p:nvPr>
        </p:nvSpPr>
        <p:spPr/>
        <p:txBody>
          <a:bodyPr/>
          <a:lstStyle/>
          <a:p>
            <a:fld id="{A3D81C46-7297-494F-89EF-0058D2E08737}" type="datetime1">
              <a:rPr lang="en-US" smtClean="0"/>
              <a:t>9/15/2026</a:t>
            </a:fld>
            <a:endParaRPr/>
          </a:p>
        </p:txBody>
      </p:sp>
      <p:sp>
        <p:nvSpPr>
          <p:cNvPr id="5" name="Footer Placeholder 4">
            <a:extLst>
              <a:ext uri="{FF2B5EF4-FFF2-40B4-BE49-F238E27FC236}">
                <a16:creationId xmlns:a16="http://schemas.microsoft.com/office/drawing/2014/main" xmlns="" id="{137B9733-8B02-4DCA-A3D8-864C2BA3B5C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xmlns="" id="{F265B4AD-9C84-495B-99BF-E17B8901E18C}"/>
              </a:ext>
            </a:extLst>
          </p:cNvPr>
          <p:cNvSpPr>
            <a:spLocks noGrp="1"/>
          </p:cNvSpPr>
          <p:nvPr>
            <p:ph type="sldNum" idx="12"/>
          </p:nvPr>
        </p:nvSpPr>
        <p:spPr/>
        <p:txBody>
          <a:bodyPr/>
          <a:lstStyle/>
          <a:p>
            <a:fld id="{33749B41-47CE-4FC4-9498-EEF687BF6FCF}"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C3D584C-D2EC-49C6-99A6-5D9F74C10925}"/>
              </a:ext>
            </a:extLst>
          </p:cNvPr>
          <p:cNvSpPr>
            <a:spLocks noGrp="1"/>
          </p:cNvSpPr>
          <p:nvPr>
            <p:ph type="title"/>
          </p:nvPr>
        </p:nvSpPr>
        <p:spPr>
          <a:xfrm>
            <a:off x="609600" y="274638"/>
            <a:ext cx="109728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xmlns="" id="{6A497769-C256-4310-86D9-33B42CA81EAB}"/>
              </a:ext>
            </a:extLst>
          </p:cNvPr>
          <p:cNvSpPr>
            <a:spLocks noGrp="1"/>
          </p:cNvSpPr>
          <p:nvPr>
            <p:ph type="body" idx="1"/>
          </p:nvPr>
        </p:nvSpPr>
        <p:spPr>
          <a:xfrm>
            <a:off x="609600" y="1600201"/>
            <a:ext cx="109728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xmlns="" id="{0960BB8F-5627-41F8-9BC8-E46030DCC3DF}"/>
              </a:ext>
            </a:extLst>
          </p:cNvPr>
          <p:cNvSpPr>
            <a:spLocks noGrp="1"/>
          </p:cNvSpPr>
          <p:nvPr>
            <p:ph type="dt" idx="2"/>
          </p:nvPr>
        </p:nvSpPr>
        <p:spPr>
          <a:xfrm>
            <a:off x="609600" y="6356351"/>
            <a:ext cx="28448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DC32F49-56B7-4EDA-AACC-4D645CB776C5}" type="datetime1">
              <a:rPr lang="en-US" smtClean="0"/>
              <a:t>9/15/2026</a:t>
            </a:fld>
            <a:endParaRPr/>
          </a:p>
        </p:txBody>
      </p:sp>
      <p:sp>
        <p:nvSpPr>
          <p:cNvPr id="5" name="Footer Placeholder 4">
            <a:extLst>
              <a:ext uri="{FF2B5EF4-FFF2-40B4-BE49-F238E27FC236}">
                <a16:creationId xmlns:a16="http://schemas.microsoft.com/office/drawing/2014/main" xmlns="" id="{9212B875-4536-4A45-BC02-D6D465FF8D25}"/>
              </a:ext>
            </a:extLst>
          </p:cNvPr>
          <p:cNvSpPr>
            <a:spLocks noGrp="1"/>
          </p:cNvSpPr>
          <p:nvPr>
            <p:ph type="ftr" idx="3"/>
          </p:nvPr>
        </p:nvSpPr>
        <p:spPr>
          <a:xfrm>
            <a:off x="4165600" y="6356351"/>
            <a:ext cx="3860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xmlns="" id="{BBAB844C-D7F5-4A43-832E-A6747611D07C}"/>
              </a:ext>
            </a:extLst>
          </p:cNvPr>
          <p:cNvSpPr>
            <a:spLocks noGrp="1"/>
          </p:cNvSpPr>
          <p:nvPr>
            <p:ph type="sldNum" idx="4"/>
          </p:nvPr>
        </p:nvSpPr>
        <p:spPr>
          <a:xfrm>
            <a:off x="8737600" y="6356351"/>
            <a:ext cx="28448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33749B41-47CE-4FC4-9498-EEF687BF6FCF}"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hyperlink" Target="http://www.learnprolognow.org/"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9409A6DC-4153-453B-995E-A74AE6B7AB94}"/>
              </a:ext>
            </a:extLst>
          </p:cNvPr>
          <p:cNvSpPr>
            <a:spLocks noGrp="1"/>
          </p:cNvSpPr>
          <p:nvPr/>
        </p:nvSpPr>
        <p:spPr>
          <a:xfrm>
            <a:off x="0" y="0"/>
            <a:ext cx="12192000" cy="6858000"/>
          </a:xfrm>
          <a:prstGeom prst="rect">
            <a:avLst/>
          </a:prstGeom>
          <a:solidFill>
            <a:srgbClr val="FAF8F3"/>
          </a:solidFill>
          <a:ln>
            <a:solidFill>
              <a:srgbClr val="FAF8F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xmlns="" id="{34E2CE51-EC10-463D-BA87-6AC525FBB733}"/>
              </a:ext>
            </a:extLst>
          </p:cNvPr>
          <p:cNvSpPr>
            <a:spLocks noGrp="1"/>
          </p:cNvSpPr>
          <p:nvPr/>
        </p:nvSpPr>
        <p:spPr>
          <a:xfrm>
            <a:off x="640080" y="1508760"/>
            <a:ext cx="1092708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3400" b="1">
                <a:solidFill>
                  <a:srgbClr val="1F2937"/>
                </a:solidFill>
                <a:latin typeface="Aptos"/>
                <a:ea typeface="Aptos"/>
                <a:cs typeface="Aptos"/>
              </a:rPr>
              <a:t>Preface</a:t>
            </a:r>
          </a:p>
        </p:txBody>
      </p:sp>
      <p:sp>
        <p:nvSpPr>
          <p:cNvPr id="4" name="Rectangle 3">
            <a:extLst>
              <a:ext uri="{FF2B5EF4-FFF2-40B4-BE49-F238E27FC236}">
                <a16:creationId xmlns:a16="http://schemas.microsoft.com/office/drawing/2014/main" xmlns="" id="{3F0B8CA6-2864-402C-8307-069AC3B33EB9}"/>
              </a:ext>
            </a:extLst>
          </p:cNvPr>
          <p:cNvSpPr>
            <a:spLocks noGrp="1"/>
          </p:cNvSpPr>
          <p:nvPr/>
        </p:nvSpPr>
        <p:spPr>
          <a:xfrm>
            <a:off x="1097280" y="2331720"/>
            <a:ext cx="100126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600" b="0">
                <a:solidFill>
                  <a:srgbClr val="596273"/>
                </a:solidFill>
                <a:latin typeface="Aptos"/>
                <a:ea typeface="Aptos"/>
                <a:cs typeface="Aptos"/>
              </a:rPr>
              <a:t>Why the deck begins with interaction styles before the pipeline</a:t>
            </a:r>
          </a:p>
        </p:txBody>
      </p:sp>
      <p:sp>
        <p:nvSpPr>
          <p:cNvPr id="5" name="Rounded Rectangle 4">
            <a:extLst>
              <a:ext uri="{FF2B5EF4-FFF2-40B4-BE49-F238E27FC236}">
                <a16:creationId xmlns:a16="http://schemas.microsoft.com/office/drawing/2014/main" xmlns="" id="{FBA6446E-01F3-4910-934E-5AE4B52FE7D4}"/>
              </a:ext>
            </a:extLst>
          </p:cNvPr>
          <p:cNvSpPr>
            <a:spLocks noGrp="1"/>
          </p:cNvSpPr>
          <p:nvPr/>
        </p:nvSpPr>
        <p:spPr>
          <a:xfrm>
            <a:off x="1874519" y="3383280"/>
            <a:ext cx="8458200" cy="749808"/>
          </a:xfrm>
          <a:prstGeom prst="roundRect">
            <a:avLst/>
          </a:prstGeom>
          <a:solidFill>
            <a:srgbClr val="E7F6EF"/>
          </a:solidFill>
          <a:ln w="12700">
            <a:solidFill>
              <a:srgbClr val="0E6B46"/>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600" b="1">
                <a:solidFill>
                  <a:srgbClr val="1F2937"/>
                </a:solidFill>
                <a:latin typeface="Aptos"/>
                <a:ea typeface="Aptos"/>
                <a:cs typeface="Aptos"/>
              </a:rPr>
              <a:t>Main idea: an LLM can be used either as a chat partner for one task, or as a component inside a program that repeats the task many times.</a:t>
            </a:r>
          </a:p>
        </p:txBody>
      </p:sp>
      <p:sp>
        <p:nvSpPr>
          <p:cNvPr id="6" name="Rectangle 5">
            <a:extLst>
              <a:ext uri="{FF2B5EF4-FFF2-40B4-BE49-F238E27FC236}">
                <a16:creationId xmlns:a16="http://schemas.microsoft.com/office/drawing/2014/main" xmlns="" id="{26368F5E-D681-4DC9-94C1-DC638498EFF2}"/>
              </a:ext>
            </a:extLst>
          </p:cNvPr>
          <p:cNvSpPr>
            <a:spLocks noGrp="1"/>
          </p:cNvSpPr>
          <p:nvPr/>
        </p:nvSpPr>
        <p:spPr>
          <a:xfrm>
            <a:off x="2514600" y="4709160"/>
            <a:ext cx="72237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250" b="0">
                <a:solidFill>
                  <a:srgbClr val="596273"/>
                </a:solidFill>
                <a:latin typeface="Aptos"/>
                <a:ea typeface="Aptos"/>
                <a:cs typeface="Aptos"/>
              </a:rPr>
              <a:t>This preface explains why the second use is necessary for a large YouTube transcript project.</a:t>
            </a:r>
          </a:p>
        </p:txBody>
      </p:sp>
      <p:sp>
        <p:nvSpPr>
          <p:cNvPr id="7" name="Slide Number Placeholder 6"/>
          <p:cNvSpPr>
            <a:spLocks noGrp="1"/>
          </p:cNvSpPr>
          <p:nvPr>
            <p:ph type="sldNum" idx="12"/>
          </p:nvPr>
        </p:nvSpPr>
        <p:spPr/>
        <p:txBody>
          <a:bodyPr/>
          <a:lstStyle/>
          <a:p>
            <a:fld id="{33749B41-47CE-4FC4-9498-EEF687BF6FCF}" type="slidenum">
              <a:rPr lang="en-US" smtClean="0"/>
              <a:pPr/>
              <a:t>1</a:t>
            </a:fld>
            <a:endParaRPr lang="en-US"/>
          </a:p>
        </p:txBody>
      </p:sp>
    </p:spTree>
    <p:extLst>
      <p:ext uri="{BB962C8B-B14F-4D97-AF65-F5344CB8AC3E}">
        <p14:creationId xmlns:p14="http://schemas.microsoft.com/office/powerpoint/2010/main" val="3484109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AD0F5AB3-E42E-486D-9958-19DC45138220}"/>
              </a:ext>
            </a:extLst>
          </p:cNvPr>
          <p:cNvSpPr>
            <a:spLocks noGrp="1"/>
          </p:cNvSpPr>
          <p:nvPr/>
        </p:nvSpPr>
        <p:spPr>
          <a:xfrm>
            <a:off x="0" y="0"/>
            <a:ext cx="12192000" cy="6858000"/>
          </a:xfrm>
          <a:prstGeom prst="rect">
            <a:avLst/>
          </a:prstGeom>
          <a:solidFill>
            <a:srgbClr val="FAF8F3"/>
          </a:solidFill>
          <a:ln>
            <a:solidFill>
              <a:srgbClr val="FAF8F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xmlns="" id="{D5C82A18-1977-4E88-8254-6519FCF42502}"/>
              </a:ext>
            </a:extLst>
          </p:cNvPr>
          <p:cNvSpPr>
            <a:spLocks noGrp="1"/>
          </p:cNvSpPr>
          <p:nvPr/>
        </p:nvSpPr>
        <p:spPr>
          <a:xfrm>
            <a:off x="502920" y="182880"/>
            <a:ext cx="3657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900" b="1">
                <a:solidFill>
                  <a:srgbClr val="596273"/>
                </a:solidFill>
                <a:latin typeface="Aptos"/>
                <a:ea typeface="Aptos"/>
                <a:cs typeface="Aptos"/>
              </a:rPr>
              <a:t>Preface</a:t>
            </a:r>
          </a:p>
        </p:txBody>
      </p:sp>
      <p:sp>
        <p:nvSpPr>
          <p:cNvPr id="4" name="Connector 3">
            <a:extLst>
              <a:ext uri="{FF2B5EF4-FFF2-40B4-BE49-F238E27FC236}">
                <a16:creationId xmlns:a16="http://schemas.microsoft.com/office/drawing/2014/main" xmlns="" id="{4758422B-CFDF-43B4-A9EC-675605893FF5}"/>
              </a:ext>
            </a:extLst>
          </p:cNvPr>
          <p:cNvSpPr>
            <a:spLocks noGrp="1"/>
          </p:cNvSpPr>
          <p:nvPr/>
        </p:nvSpPr>
        <p:spPr>
          <a:xfrm>
            <a:off x="502920" y="6355080"/>
            <a:ext cx="10652760" cy="0"/>
          </a:xfrm>
          <a:prstGeom prst="line">
            <a:avLst/>
          </a:prstGeom>
          <a:ln w="12700">
            <a:solidFill>
              <a:srgbClr val="D3D2CD"/>
            </a:solidFill>
          </a:ln>
        </p:spPr>
        <p:style>
          <a:lnRef idx="2">
            <a:schemeClr val="accent1"/>
          </a:lnRef>
          <a:fillRef idx="0">
            <a:schemeClr val="accent1"/>
          </a:fillRef>
          <a:effectRef idx="1">
            <a:schemeClr val="accent1"/>
          </a:effectRef>
          <a:fontRef idx="minor">
            <a:schemeClr val="tx1"/>
          </a:fontRef>
        </p:style>
      </p:sp>
      <p:sp>
        <p:nvSpPr>
          <p:cNvPr id="5" name="Rectangle 4">
            <a:extLst>
              <a:ext uri="{FF2B5EF4-FFF2-40B4-BE49-F238E27FC236}">
                <a16:creationId xmlns:a16="http://schemas.microsoft.com/office/drawing/2014/main" xmlns="" id="{68A97743-0A36-4F43-83FC-C86A2162E650}"/>
              </a:ext>
            </a:extLst>
          </p:cNvPr>
          <p:cNvSpPr>
            <a:spLocks noGrp="1"/>
          </p:cNvSpPr>
          <p:nvPr/>
        </p:nvSpPr>
        <p:spPr>
          <a:xfrm>
            <a:off x="502920" y="6446520"/>
            <a:ext cx="4754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680" b="0">
                <a:solidFill>
                  <a:srgbClr val="596273"/>
                </a:solidFill>
                <a:latin typeface="Aptos"/>
                <a:ea typeface="Aptos"/>
                <a:cs typeface="Aptos"/>
              </a:rPr>
              <a:t>Programmable LLM Agent applied to Crypto Channels</a:t>
            </a:r>
          </a:p>
        </p:txBody>
      </p:sp>
      <p:sp>
        <p:nvSpPr>
          <p:cNvPr id="6" name="Rectangle 5">
            <a:extLst>
              <a:ext uri="{FF2B5EF4-FFF2-40B4-BE49-F238E27FC236}">
                <a16:creationId xmlns:a16="http://schemas.microsoft.com/office/drawing/2014/main" xmlns="" id="{335A98CB-AA0A-4B59-BDF2-E84CBE8CD40D}"/>
              </a:ext>
            </a:extLst>
          </p:cNvPr>
          <p:cNvSpPr>
            <a:spLocks noGrp="1"/>
          </p:cNvSpPr>
          <p:nvPr/>
        </p:nvSpPr>
        <p:spPr>
          <a:xfrm>
            <a:off x="594360" y="502920"/>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3000" b="1">
                <a:solidFill>
                  <a:srgbClr val="1F2937"/>
                </a:solidFill>
                <a:latin typeface="Aptos"/>
                <a:ea typeface="Aptos"/>
                <a:cs typeface="Aptos"/>
              </a:rPr>
              <a:t>Two ways to interact with an LLM</a:t>
            </a:r>
          </a:p>
        </p:txBody>
      </p:sp>
      <p:sp>
        <p:nvSpPr>
          <p:cNvPr id="7" name="Rectangle 6">
            <a:extLst>
              <a:ext uri="{FF2B5EF4-FFF2-40B4-BE49-F238E27FC236}">
                <a16:creationId xmlns:a16="http://schemas.microsoft.com/office/drawing/2014/main" xmlns="" id="{00B3DF6C-2A1A-48B3-B275-9A8040F40FDD}"/>
              </a:ext>
            </a:extLst>
          </p:cNvPr>
          <p:cNvSpPr>
            <a:spLocks noGrp="1"/>
          </p:cNvSpPr>
          <p:nvPr/>
        </p:nvSpPr>
        <p:spPr>
          <a:xfrm>
            <a:off x="621792" y="1170432"/>
            <a:ext cx="10789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1450" b="0">
                <a:solidFill>
                  <a:srgbClr val="596273"/>
                </a:solidFill>
                <a:latin typeface="Aptos"/>
                <a:ea typeface="Aptos"/>
                <a:cs typeface="Aptos"/>
              </a:rPr>
              <a:t>The same model can be used manually or through a program.</a:t>
            </a:r>
          </a:p>
        </p:txBody>
      </p:sp>
      <p:sp>
        <p:nvSpPr>
          <p:cNvPr id="8" name="Rounded Rectangle 7">
            <a:extLst>
              <a:ext uri="{FF2B5EF4-FFF2-40B4-BE49-F238E27FC236}">
                <a16:creationId xmlns:a16="http://schemas.microsoft.com/office/drawing/2014/main" xmlns="" id="{28DD06EF-C2D0-4AC5-8EE9-FA66F44A4ADE}"/>
              </a:ext>
            </a:extLst>
          </p:cNvPr>
          <p:cNvSpPr>
            <a:spLocks noGrp="1"/>
          </p:cNvSpPr>
          <p:nvPr/>
        </p:nvSpPr>
        <p:spPr>
          <a:xfrm>
            <a:off x="868680" y="1874519"/>
            <a:ext cx="4663440" cy="1874519"/>
          </a:xfrm>
          <a:prstGeom prst="roundRect">
            <a:avLst/>
          </a:prstGeom>
          <a:solidFill>
            <a:srgbClr val="EFF5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800" b="1">
                <a:solidFill>
                  <a:srgbClr val="1F2937"/>
                </a:solidFill>
                <a:latin typeface="Aptos"/>
                <a:ea typeface="Aptos"/>
                <a:cs typeface="Aptos"/>
              </a:rPr>
              <a:t>Direct chat</a:t>
            </a:r>
          </a:p>
          <a:p>
            <a:pPr>
              <a:spcBef>
                <a:spcPts val="200"/>
              </a:spcBef>
              <a:buNone/>
            </a:pPr>
            <a:r>
              <a:rPr sz="1450" b="0">
                <a:solidFill>
                  <a:srgbClr val="1F2937"/>
                </a:solidFill>
                <a:latin typeface="Aptos"/>
                <a:ea typeface="Aptos"/>
                <a:cs typeface="Aptos"/>
              </a:rPr>
              <a:t>• You ask one question.</a:t>
            </a:r>
          </a:p>
          <a:p>
            <a:pPr>
              <a:spcBef>
                <a:spcPts val="200"/>
              </a:spcBef>
              <a:buNone/>
            </a:pPr>
            <a:r>
              <a:rPr sz="1450" b="0">
                <a:solidFill>
                  <a:srgbClr val="1F2937"/>
                </a:solidFill>
                <a:latin typeface="Aptos"/>
                <a:ea typeface="Aptos"/>
                <a:cs typeface="Aptos"/>
              </a:rPr>
              <a:t>• The model answers once.</a:t>
            </a:r>
          </a:p>
          <a:p>
            <a:pPr>
              <a:spcBef>
                <a:spcPts val="200"/>
              </a:spcBef>
              <a:buNone/>
            </a:pPr>
            <a:r>
              <a:rPr sz="1450" b="0">
                <a:solidFill>
                  <a:srgbClr val="1F2937"/>
                </a:solidFill>
                <a:latin typeface="Aptos"/>
                <a:ea typeface="Aptos"/>
                <a:cs typeface="Aptos"/>
              </a:rPr>
              <a:t>• You read or copy the result.</a:t>
            </a:r>
          </a:p>
        </p:txBody>
      </p:sp>
      <p:sp>
        <p:nvSpPr>
          <p:cNvPr id="9" name="Rounded Rectangle 8">
            <a:extLst>
              <a:ext uri="{FF2B5EF4-FFF2-40B4-BE49-F238E27FC236}">
                <a16:creationId xmlns:a16="http://schemas.microsoft.com/office/drawing/2014/main" xmlns="" id="{810A1708-BE0F-4252-A8C9-D8320B98B3F6}"/>
              </a:ext>
            </a:extLst>
          </p:cNvPr>
          <p:cNvSpPr>
            <a:spLocks noGrp="1"/>
          </p:cNvSpPr>
          <p:nvPr/>
        </p:nvSpPr>
        <p:spPr>
          <a:xfrm>
            <a:off x="6629400" y="1874519"/>
            <a:ext cx="4663440" cy="1874519"/>
          </a:xfrm>
          <a:prstGeom prst="roundRect">
            <a:avLst/>
          </a:prstGeom>
          <a:solidFill>
            <a:srgbClr val="EFEC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800" b="1">
                <a:solidFill>
                  <a:srgbClr val="1F2937"/>
                </a:solidFill>
                <a:latin typeface="Aptos"/>
                <a:ea typeface="Aptos"/>
                <a:cs typeface="Aptos"/>
              </a:rPr>
              <a:t>Program-mediated use</a:t>
            </a:r>
          </a:p>
          <a:p>
            <a:pPr>
              <a:spcBef>
                <a:spcPts val="200"/>
              </a:spcBef>
              <a:buNone/>
            </a:pPr>
            <a:r>
              <a:rPr sz="1450" b="0">
                <a:solidFill>
                  <a:srgbClr val="1F2937"/>
                </a:solidFill>
                <a:latin typeface="Aptos"/>
                <a:ea typeface="Aptos"/>
                <a:cs typeface="Aptos"/>
              </a:rPr>
              <a:t>• Program P sends many prompts.</a:t>
            </a:r>
          </a:p>
          <a:p>
            <a:pPr>
              <a:spcBef>
                <a:spcPts val="200"/>
              </a:spcBef>
              <a:buNone/>
            </a:pPr>
            <a:r>
              <a:rPr sz="1450" b="0">
                <a:solidFill>
                  <a:srgbClr val="1F2937"/>
                </a:solidFill>
                <a:latin typeface="Aptos"/>
                <a:ea typeface="Aptos"/>
                <a:cs typeface="Aptos"/>
              </a:rPr>
              <a:t>• The model answers repeatedly.</a:t>
            </a:r>
          </a:p>
          <a:p>
            <a:pPr>
              <a:spcBef>
                <a:spcPts val="200"/>
              </a:spcBef>
              <a:buNone/>
            </a:pPr>
            <a:r>
              <a:rPr sz="1450" b="0">
                <a:solidFill>
                  <a:srgbClr val="1F2937"/>
                </a:solidFill>
                <a:latin typeface="Aptos"/>
                <a:ea typeface="Aptos"/>
                <a:cs typeface="Aptos"/>
              </a:rPr>
              <a:t>• The program saves each output.</a:t>
            </a:r>
          </a:p>
        </p:txBody>
      </p:sp>
      <p:sp>
        <p:nvSpPr>
          <p:cNvPr id="10" name="Connector 9">
            <a:extLst>
              <a:ext uri="{FF2B5EF4-FFF2-40B4-BE49-F238E27FC236}">
                <a16:creationId xmlns:a16="http://schemas.microsoft.com/office/drawing/2014/main" xmlns="" id="{297168BE-B3BD-42E2-9F99-A8B08353F560}"/>
              </a:ext>
            </a:extLst>
          </p:cNvPr>
          <p:cNvSpPr>
            <a:spLocks noGrp="1"/>
          </p:cNvSpPr>
          <p:nvPr/>
        </p:nvSpPr>
        <p:spPr>
          <a:xfrm>
            <a:off x="5669280" y="2788920"/>
            <a:ext cx="77724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1" name="Rounded Rectangle 10">
            <a:extLst>
              <a:ext uri="{FF2B5EF4-FFF2-40B4-BE49-F238E27FC236}">
                <a16:creationId xmlns:a16="http://schemas.microsoft.com/office/drawing/2014/main" xmlns="" id="{74CFA4FB-21B1-481F-AA73-DEB2F072908A}"/>
              </a:ext>
            </a:extLst>
          </p:cNvPr>
          <p:cNvSpPr>
            <a:spLocks noGrp="1"/>
          </p:cNvSpPr>
          <p:nvPr/>
        </p:nvSpPr>
        <p:spPr>
          <a:xfrm>
            <a:off x="1051560" y="4160520"/>
            <a:ext cx="4297680" cy="438912"/>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350" b="0">
                <a:solidFill>
                  <a:srgbClr val="1F2937"/>
                </a:solidFill>
                <a:latin typeface="Aptos"/>
                <a:ea typeface="Aptos"/>
                <a:cs typeface="Aptos"/>
              </a:rPr>
              <a:t>Best for one transcript or one quick question.</a:t>
            </a:r>
          </a:p>
        </p:txBody>
      </p:sp>
      <p:sp>
        <p:nvSpPr>
          <p:cNvPr id="12" name="Rounded Rectangle 11">
            <a:extLst>
              <a:ext uri="{FF2B5EF4-FFF2-40B4-BE49-F238E27FC236}">
                <a16:creationId xmlns:a16="http://schemas.microsoft.com/office/drawing/2014/main" xmlns="" id="{F5CD2443-E1C3-49DF-8149-31B7517B183F}"/>
              </a:ext>
            </a:extLst>
          </p:cNvPr>
          <p:cNvSpPr>
            <a:spLocks noGrp="1"/>
          </p:cNvSpPr>
          <p:nvPr/>
        </p:nvSpPr>
        <p:spPr>
          <a:xfrm>
            <a:off x="6812280" y="4160520"/>
            <a:ext cx="4297680" cy="438912"/>
          </a:xfrm>
          <a:prstGeom prst="roundRect">
            <a:avLst/>
          </a:prstGeom>
          <a:solidFill>
            <a:srgbClr val="FFFF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350" b="0">
                <a:solidFill>
                  <a:srgbClr val="1F2937"/>
                </a:solidFill>
                <a:latin typeface="Aptos"/>
                <a:ea typeface="Aptos"/>
                <a:cs typeface="Aptos"/>
              </a:rPr>
              <a:t>Best for thousands of transcripts and repeatable processing.</a:t>
            </a:r>
          </a:p>
        </p:txBody>
      </p:sp>
      <p:sp>
        <p:nvSpPr>
          <p:cNvPr id="13" name="Rounded Rectangle 12">
            <a:extLst>
              <a:ext uri="{FF2B5EF4-FFF2-40B4-BE49-F238E27FC236}">
                <a16:creationId xmlns:a16="http://schemas.microsoft.com/office/drawing/2014/main" xmlns="" id="{0F11ADBC-0858-4B93-A77B-33D19F0FA5A3}"/>
              </a:ext>
            </a:extLst>
          </p:cNvPr>
          <p:cNvSpPr>
            <a:spLocks noGrp="1"/>
          </p:cNvSpPr>
          <p:nvPr/>
        </p:nvSpPr>
        <p:spPr>
          <a:xfrm>
            <a:off x="2148840" y="5257800"/>
            <a:ext cx="7909560" cy="411480"/>
          </a:xfrm>
          <a:prstGeom prst="roundRect">
            <a:avLst/>
          </a:prstGeom>
          <a:solidFill>
            <a:srgbClr val="FFF3DA"/>
          </a:solidFill>
          <a:ln w="12700">
            <a:solidFill>
              <a:srgbClr val="A55D00"/>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450" b="0">
                <a:solidFill>
                  <a:srgbClr val="1F2937"/>
                </a:solidFill>
                <a:latin typeface="Aptos"/>
                <a:ea typeface="Aptos"/>
                <a:cs typeface="Aptos"/>
              </a:rPr>
              <a:t>The rest of the deck is mainly about the second mode.</a:t>
            </a:r>
          </a:p>
        </p:txBody>
      </p:sp>
      <p:sp>
        <p:nvSpPr>
          <p:cNvPr id="14" name="Slide Number Placeholder 13"/>
          <p:cNvSpPr>
            <a:spLocks noGrp="1"/>
          </p:cNvSpPr>
          <p:nvPr>
            <p:ph type="sldNum" idx="12"/>
          </p:nvPr>
        </p:nvSpPr>
        <p:spPr/>
        <p:txBody>
          <a:bodyPr/>
          <a:lstStyle/>
          <a:p>
            <a:fld id="{33749B41-47CE-4FC4-9498-EEF687BF6FCF}" type="slidenum">
              <a:rPr lang="en-US" smtClean="0"/>
              <a:pPr/>
              <a:t>2</a:t>
            </a:fld>
            <a:endParaRPr lang="en-US"/>
          </a:p>
        </p:txBody>
      </p:sp>
    </p:spTree>
    <p:extLst>
      <p:ext uri="{BB962C8B-B14F-4D97-AF65-F5344CB8AC3E}">
        <p14:creationId xmlns:p14="http://schemas.microsoft.com/office/powerpoint/2010/main" val="1832500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45097C0-D8FF-4772-819C-F7607BC2D032}"/>
              </a:ext>
            </a:extLst>
          </p:cNvPr>
          <p:cNvSpPr>
            <a:spLocks noGrp="1"/>
          </p:cNvSpPr>
          <p:nvPr/>
        </p:nvSpPr>
        <p:spPr>
          <a:xfrm>
            <a:off x="0" y="0"/>
            <a:ext cx="12192000" cy="6858000"/>
          </a:xfrm>
          <a:prstGeom prst="rect">
            <a:avLst/>
          </a:prstGeom>
          <a:solidFill>
            <a:srgbClr val="FAF8F3"/>
          </a:solidFill>
          <a:ln>
            <a:solidFill>
              <a:srgbClr val="FAF8F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xmlns="" id="{FE48E3A1-39EB-453C-97FA-98580A3CF074}"/>
              </a:ext>
            </a:extLst>
          </p:cNvPr>
          <p:cNvSpPr>
            <a:spLocks noGrp="1"/>
          </p:cNvSpPr>
          <p:nvPr/>
        </p:nvSpPr>
        <p:spPr>
          <a:xfrm>
            <a:off x="502920" y="182880"/>
            <a:ext cx="3657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900" b="1">
                <a:solidFill>
                  <a:srgbClr val="596273"/>
                </a:solidFill>
                <a:latin typeface="Aptos"/>
                <a:ea typeface="Aptos"/>
                <a:cs typeface="Aptos"/>
              </a:rPr>
              <a:t>Preface</a:t>
            </a:r>
          </a:p>
        </p:txBody>
      </p:sp>
      <p:sp>
        <p:nvSpPr>
          <p:cNvPr id="4" name="Connector 3">
            <a:extLst>
              <a:ext uri="{FF2B5EF4-FFF2-40B4-BE49-F238E27FC236}">
                <a16:creationId xmlns:a16="http://schemas.microsoft.com/office/drawing/2014/main" xmlns="" id="{7A444211-038B-4E6C-A58A-7DA5674DBC72}"/>
              </a:ext>
            </a:extLst>
          </p:cNvPr>
          <p:cNvSpPr>
            <a:spLocks noGrp="1"/>
          </p:cNvSpPr>
          <p:nvPr/>
        </p:nvSpPr>
        <p:spPr>
          <a:xfrm>
            <a:off x="502920" y="6355080"/>
            <a:ext cx="10652760" cy="0"/>
          </a:xfrm>
          <a:prstGeom prst="line">
            <a:avLst/>
          </a:prstGeom>
          <a:ln w="12700">
            <a:solidFill>
              <a:srgbClr val="D3D2CD"/>
            </a:solidFill>
          </a:ln>
        </p:spPr>
        <p:style>
          <a:lnRef idx="2">
            <a:schemeClr val="accent1"/>
          </a:lnRef>
          <a:fillRef idx="0">
            <a:schemeClr val="accent1"/>
          </a:fillRef>
          <a:effectRef idx="1">
            <a:schemeClr val="accent1"/>
          </a:effectRef>
          <a:fontRef idx="minor">
            <a:schemeClr val="tx1"/>
          </a:fontRef>
        </p:style>
      </p:sp>
      <p:sp>
        <p:nvSpPr>
          <p:cNvPr id="5" name="Rectangle 4">
            <a:extLst>
              <a:ext uri="{FF2B5EF4-FFF2-40B4-BE49-F238E27FC236}">
                <a16:creationId xmlns:a16="http://schemas.microsoft.com/office/drawing/2014/main" xmlns="" id="{DF6F56F8-4944-46DC-BE6C-2037CD93C78B}"/>
              </a:ext>
            </a:extLst>
          </p:cNvPr>
          <p:cNvSpPr>
            <a:spLocks noGrp="1"/>
          </p:cNvSpPr>
          <p:nvPr/>
        </p:nvSpPr>
        <p:spPr>
          <a:xfrm>
            <a:off x="502920" y="6446520"/>
            <a:ext cx="4754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680" b="0">
                <a:solidFill>
                  <a:srgbClr val="596273"/>
                </a:solidFill>
                <a:latin typeface="Aptos"/>
                <a:ea typeface="Aptos"/>
                <a:cs typeface="Aptos"/>
              </a:rPr>
              <a:t>Programmable LLM Agent applied to Crypto Channels</a:t>
            </a:r>
          </a:p>
        </p:txBody>
      </p:sp>
      <p:sp>
        <p:nvSpPr>
          <p:cNvPr id="6" name="Rectangle 5">
            <a:extLst>
              <a:ext uri="{FF2B5EF4-FFF2-40B4-BE49-F238E27FC236}">
                <a16:creationId xmlns:a16="http://schemas.microsoft.com/office/drawing/2014/main" xmlns="" id="{4FB8D749-E00E-4A30-9B55-9DB53AC59F5A}"/>
              </a:ext>
            </a:extLst>
          </p:cNvPr>
          <p:cNvSpPr>
            <a:spLocks noGrp="1"/>
          </p:cNvSpPr>
          <p:nvPr/>
        </p:nvSpPr>
        <p:spPr>
          <a:xfrm>
            <a:off x="594360" y="502920"/>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3000" b="1">
                <a:solidFill>
                  <a:srgbClr val="1F2937"/>
                </a:solidFill>
                <a:latin typeface="Aptos"/>
                <a:ea typeface="Aptos"/>
                <a:cs typeface="Aptos"/>
              </a:rPr>
              <a:t>Direct interaction: one transcript at a time</a:t>
            </a:r>
          </a:p>
        </p:txBody>
      </p:sp>
      <p:sp>
        <p:nvSpPr>
          <p:cNvPr id="7" name="Rectangle 6">
            <a:extLst>
              <a:ext uri="{FF2B5EF4-FFF2-40B4-BE49-F238E27FC236}">
                <a16:creationId xmlns:a16="http://schemas.microsoft.com/office/drawing/2014/main" xmlns="" id="{4E530DD1-A14B-48A1-AA59-A44CF5503229}"/>
              </a:ext>
            </a:extLst>
          </p:cNvPr>
          <p:cNvSpPr>
            <a:spLocks noGrp="1"/>
          </p:cNvSpPr>
          <p:nvPr/>
        </p:nvSpPr>
        <p:spPr>
          <a:xfrm>
            <a:off x="621792" y="1170432"/>
            <a:ext cx="10789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1450" b="0">
                <a:solidFill>
                  <a:srgbClr val="596273"/>
                </a:solidFill>
                <a:latin typeface="Aptos"/>
                <a:ea typeface="Aptos"/>
                <a:cs typeface="Aptos"/>
              </a:rPr>
              <a:t>This is the ordinary chat workflow.</a:t>
            </a:r>
          </a:p>
        </p:txBody>
      </p:sp>
      <p:sp>
        <p:nvSpPr>
          <p:cNvPr id="8" name="Oval 7">
            <a:extLst>
              <a:ext uri="{FF2B5EF4-FFF2-40B4-BE49-F238E27FC236}">
                <a16:creationId xmlns:a16="http://schemas.microsoft.com/office/drawing/2014/main" xmlns="" id="{B61A28E0-D8EA-49FF-A171-6793F9438570}"/>
              </a:ext>
            </a:extLst>
          </p:cNvPr>
          <p:cNvSpPr>
            <a:spLocks noGrp="1"/>
          </p:cNvSpPr>
          <p:nvPr/>
        </p:nvSpPr>
        <p:spPr>
          <a:xfrm>
            <a:off x="822960" y="2057400"/>
            <a:ext cx="384048" cy="384048"/>
          </a:xfrm>
          <a:prstGeom prst="ellipse">
            <a:avLst/>
          </a:prstGeom>
          <a:solidFill>
            <a:srgbClr val="40319B"/>
          </a:solidFill>
          <a:ln>
            <a:solidFill>
              <a:srgbClr val="40319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00" b="1">
                <a:solidFill>
                  <a:srgbClr val="FFFFFF"/>
                </a:solidFill>
                <a:latin typeface="Aptos"/>
                <a:ea typeface="Aptos"/>
                <a:cs typeface="Aptos"/>
              </a:rPr>
              <a:t>1</a:t>
            </a:r>
          </a:p>
        </p:txBody>
      </p:sp>
      <p:sp>
        <p:nvSpPr>
          <p:cNvPr id="9" name="Rounded Rectangle 8">
            <a:extLst>
              <a:ext uri="{FF2B5EF4-FFF2-40B4-BE49-F238E27FC236}">
                <a16:creationId xmlns:a16="http://schemas.microsoft.com/office/drawing/2014/main" xmlns="" id="{7B0A1895-0599-490A-87B3-9275557EDA52}"/>
              </a:ext>
            </a:extLst>
          </p:cNvPr>
          <p:cNvSpPr>
            <a:spLocks noGrp="1"/>
          </p:cNvSpPr>
          <p:nvPr/>
        </p:nvSpPr>
        <p:spPr>
          <a:xfrm>
            <a:off x="1325880" y="1938528"/>
            <a:ext cx="2743200" cy="9144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Paste or attach</a:t>
            </a:r>
          </a:p>
          <a:p>
            <a:pPr>
              <a:spcBef>
                <a:spcPts val="200"/>
              </a:spcBef>
              <a:buNone/>
            </a:pPr>
            <a:r>
              <a:rPr sz="1350" b="0">
                <a:solidFill>
                  <a:srgbClr val="1F2937"/>
                </a:solidFill>
                <a:latin typeface="Aptos"/>
                <a:ea typeface="Aptos"/>
                <a:cs typeface="Aptos"/>
              </a:rPr>
              <a:t>Give the LLM one transcript.</a:t>
            </a:r>
          </a:p>
        </p:txBody>
      </p:sp>
      <p:sp>
        <p:nvSpPr>
          <p:cNvPr id="10" name="Connector 9">
            <a:extLst>
              <a:ext uri="{FF2B5EF4-FFF2-40B4-BE49-F238E27FC236}">
                <a16:creationId xmlns:a16="http://schemas.microsoft.com/office/drawing/2014/main" xmlns="" id="{A1F1FA62-24B8-420F-A599-48A374ED78FC}"/>
              </a:ext>
            </a:extLst>
          </p:cNvPr>
          <p:cNvSpPr>
            <a:spLocks noGrp="1"/>
          </p:cNvSpPr>
          <p:nvPr/>
        </p:nvSpPr>
        <p:spPr>
          <a:xfrm>
            <a:off x="4160520" y="2395728"/>
            <a:ext cx="36576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1" name="Oval 10">
            <a:extLst>
              <a:ext uri="{FF2B5EF4-FFF2-40B4-BE49-F238E27FC236}">
                <a16:creationId xmlns:a16="http://schemas.microsoft.com/office/drawing/2014/main" xmlns="" id="{105BF42E-169A-4DCB-9FC9-B4A1242963D7}"/>
              </a:ext>
            </a:extLst>
          </p:cNvPr>
          <p:cNvSpPr>
            <a:spLocks noGrp="1"/>
          </p:cNvSpPr>
          <p:nvPr/>
        </p:nvSpPr>
        <p:spPr>
          <a:xfrm>
            <a:off x="4343400" y="2057400"/>
            <a:ext cx="384048" cy="384048"/>
          </a:xfrm>
          <a:prstGeom prst="ellipse">
            <a:avLst/>
          </a:prstGeom>
          <a:solidFill>
            <a:srgbClr val="40319B"/>
          </a:solidFill>
          <a:ln>
            <a:solidFill>
              <a:srgbClr val="40319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00" b="1">
                <a:solidFill>
                  <a:srgbClr val="FFFFFF"/>
                </a:solidFill>
                <a:latin typeface="Aptos"/>
                <a:ea typeface="Aptos"/>
                <a:cs typeface="Aptos"/>
              </a:rPr>
              <a:t>2</a:t>
            </a:r>
          </a:p>
        </p:txBody>
      </p:sp>
      <p:sp>
        <p:nvSpPr>
          <p:cNvPr id="12" name="Rounded Rectangle 11">
            <a:extLst>
              <a:ext uri="{FF2B5EF4-FFF2-40B4-BE49-F238E27FC236}">
                <a16:creationId xmlns:a16="http://schemas.microsoft.com/office/drawing/2014/main" xmlns="" id="{1A20E3FD-A254-4F16-B2B3-0880FFB21045}"/>
              </a:ext>
            </a:extLst>
          </p:cNvPr>
          <p:cNvSpPr>
            <a:spLocks noGrp="1"/>
          </p:cNvSpPr>
          <p:nvPr/>
        </p:nvSpPr>
        <p:spPr>
          <a:xfrm>
            <a:off x="4846320" y="1938528"/>
            <a:ext cx="2743200" cy="9144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Ask the question</a:t>
            </a:r>
          </a:p>
          <a:p>
            <a:pPr>
              <a:spcBef>
                <a:spcPts val="200"/>
              </a:spcBef>
              <a:buNone/>
            </a:pPr>
            <a:r>
              <a:rPr sz="1350" b="0">
                <a:solidFill>
                  <a:srgbClr val="1F2937"/>
                </a:solidFill>
                <a:latin typeface="Aptos"/>
                <a:ea typeface="Aptos"/>
                <a:cs typeface="Aptos"/>
              </a:rPr>
              <a:t>Example: “Summarize this transcript.”</a:t>
            </a:r>
          </a:p>
        </p:txBody>
      </p:sp>
      <p:sp>
        <p:nvSpPr>
          <p:cNvPr id="13" name="Connector 12">
            <a:extLst>
              <a:ext uri="{FF2B5EF4-FFF2-40B4-BE49-F238E27FC236}">
                <a16:creationId xmlns:a16="http://schemas.microsoft.com/office/drawing/2014/main" xmlns="" id="{58E6A48F-E0A2-4A1F-8DD0-4142FA3C5C3B}"/>
              </a:ext>
            </a:extLst>
          </p:cNvPr>
          <p:cNvSpPr>
            <a:spLocks noGrp="1"/>
          </p:cNvSpPr>
          <p:nvPr/>
        </p:nvSpPr>
        <p:spPr>
          <a:xfrm>
            <a:off x="7680960" y="2395728"/>
            <a:ext cx="36576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4" name="Oval 13">
            <a:extLst>
              <a:ext uri="{FF2B5EF4-FFF2-40B4-BE49-F238E27FC236}">
                <a16:creationId xmlns:a16="http://schemas.microsoft.com/office/drawing/2014/main" xmlns="" id="{E2D947F6-95CD-4BF3-BAC1-B9D41AB2F344}"/>
              </a:ext>
            </a:extLst>
          </p:cNvPr>
          <p:cNvSpPr>
            <a:spLocks noGrp="1"/>
          </p:cNvSpPr>
          <p:nvPr/>
        </p:nvSpPr>
        <p:spPr>
          <a:xfrm>
            <a:off x="7863840" y="2057400"/>
            <a:ext cx="384048" cy="384048"/>
          </a:xfrm>
          <a:prstGeom prst="ellipse">
            <a:avLst/>
          </a:prstGeom>
          <a:solidFill>
            <a:srgbClr val="40319B"/>
          </a:solidFill>
          <a:ln>
            <a:solidFill>
              <a:srgbClr val="40319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00" b="1">
                <a:solidFill>
                  <a:srgbClr val="FFFFFF"/>
                </a:solidFill>
                <a:latin typeface="Aptos"/>
                <a:ea typeface="Aptos"/>
                <a:cs typeface="Aptos"/>
              </a:rPr>
              <a:t>3</a:t>
            </a:r>
          </a:p>
        </p:txBody>
      </p:sp>
      <p:sp>
        <p:nvSpPr>
          <p:cNvPr id="15" name="Rounded Rectangle 14">
            <a:extLst>
              <a:ext uri="{FF2B5EF4-FFF2-40B4-BE49-F238E27FC236}">
                <a16:creationId xmlns:a16="http://schemas.microsoft.com/office/drawing/2014/main" xmlns="" id="{E3CEF472-9783-4A92-8699-0C0B10EB9B61}"/>
              </a:ext>
            </a:extLst>
          </p:cNvPr>
          <p:cNvSpPr>
            <a:spLocks noGrp="1"/>
          </p:cNvSpPr>
          <p:nvPr/>
        </p:nvSpPr>
        <p:spPr>
          <a:xfrm>
            <a:off x="8366760" y="1938528"/>
            <a:ext cx="2743200" cy="9144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Read the answer</a:t>
            </a:r>
          </a:p>
          <a:p>
            <a:pPr>
              <a:spcBef>
                <a:spcPts val="200"/>
              </a:spcBef>
              <a:buNone/>
            </a:pPr>
            <a:r>
              <a:rPr sz="1350" b="0">
                <a:solidFill>
                  <a:srgbClr val="1F2937"/>
                </a:solidFill>
                <a:latin typeface="Aptos"/>
                <a:ea typeface="Aptos"/>
                <a:cs typeface="Aptos"/>
              </a:rPr>
              <a:t>Use the answer manually.</a:t>
            </a:r>
          </a:p>
        </p:txBody>
      </p:sp>
      <p:sp>
        <p:nvSpPr>
          <p:cNvPr id="16" name="Rounded Rectangle 15">
            <a:extLst>
              <a:ext uri="{FF2B5EF4-FFF2-40B4-BE49-F238E27FC236}">
                <a16:creationId xmlns:a16="http://schemas.microsoft.com/office/drawing/2014/main" xmlns="" id="{6D10C7E2-42F0-4B8C-85B3-F4638E0F5E5B}"/>
              </a:ext>
            </a:extLst>
          </p:cNvPr>
          <p:cNvSpPr>
            <a:spLocks noGrp="1"/>
          </p:cNvSpPr>
          <p:nvPr/>
        </p:nvSpPr>
        <p:spPr>
          <a:xfrm>
            <a:off x="960120" y="3794760"/>
            <a:ext cx="4526280" cy="1417320"/>
          </a:xfrm>
          <a:prstGeom prst="roundRect">
            <a:avLst/>
          </a:prstGeom>
          <a:solidFill>
            <a:srgbClr val="E7F6EF"/>
          </a:solidFill>
          <a:ln w="12700">
            <a:solidFill>
              <a:srgbClr val="0E6B46"/>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Useful for</a:t>
            </a:r>
          </a:p>
          <a:p>
            <a:pPr>
              <a:spcBef>
                <a:spcPts val="200"/>
              </a:spcBef>
              <a:buNone/>
            </a:pPr>
            <a:r>
              <a:rPr sz="1350" b="0">
                <a:solidFill>
                  <a:srgbClr val="1F2937"/>
                </a:solidFill>
                <a:latin typeface="Aptos"/>
                <a:ea typeface="Aptos"/>
                <a:cs typeface="Aptos"/>
              </a:rPr>
              <a:t>• Quick prompt testing</a:t>
            </a:r>
          </a:p>
          <a:p>
            <a:pPr>
              <a:spcBef>
                <a:spcPts val="200"/>
              </a:spcBef>
              <a:buNone/>
            </a:pPr>
            <a:r>
              <a:rPr sz="1350" b="0">
                <a:solidFill>
                  <a:srgbClr val="1F2937"/>
                </a:solidFill>
                <a:latin typeface="Aptos"/>
                <a:ea typeface="Aptos"/>
                <a:cs typeface="Aptos"/>
              </a:rPr>
              <a:t>• Small demonstrations</a:t>
            </a:r>
          </a:p>
          <a:p>
            <a:pPr>
              <a:spcBef>
                <a:spcPts val="200"/>
              </a:spcBef>
              <a:buNone/>
            </a:pPr>
            <a:r>
              <a:rPr sz="1350" b="0">
                <a:solidFill>
                  <a:srgbClr val="1F2937"/>
                </a:solidFill>
                <a:latin typeface="Aptos"/>
                <a:ea typeface="Aptos"/>
                <a:cs typeface="Aptos"/>
              </a:rPr>
              <a:t>• Human inspection of one file</a:t>
            </a:r>
          </a:p>
        </p:txBody>
      </p:sp>
      <p:sp>
        <p:nvSpPr>
          <p:cNvPr id="17" name="Rounded Rectangle 16">
            <a:extLst>
              <a:ext uri="{FF2B5EF4-FFF2-40B4-BE49-F238E27FC236}">
                <a16:creationId xmlns:a16="http://schemas.microsoft.com/office/drawing/2014/main" xmlns="" id="{E44C8442-C3AF-4DBE-B512-8779500CBD73}"/>
              </a:ext>
            </a:extLst>
          </p:cNvPr>
          <p:cNvSpPr>
            <a:spLocks noGrp="1"/>
          </p:cNvSpPr>
          <p:nvPr/>
        </p:nvSpPr>
        <p:spPr>
          <a:xfrm>
            <a:off x="6400800" y="3794760"/>
            <a:ext cx="4526280" cy="1417320"/>
          </a:xfrm>
          <a:prstGeom prst="roundRect">
            <a:avLst/>
          </a:prstGeom>
          <a:solidFill>
            <a:srgbClr val="FFF3DA"/>
          </a:solidFill>
          <a:ln w="12700">
            <a:solidFill>
              <a:srgbClr val="A55D00"/>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Not enough for</a:t>
            </a:r>
          </a:p>
          <a:p>
            <a:pPr>
              <a:spcBef>
                <a:spcPts val="200"/>
              </a:spcBef>
              <a:buNone/>
            </a:pPr>
            <a:r>
              <a:rPr sz="1350" b="0">
                <a:solidFill>
                  <a:srgbClr val="1F2937"/>
                </a:solidFill>
                <a:latin typeface="Aptos"/>
                <a:ea typeface="Aptos"/>
                <a:cs typeface="Aptos"/>
              </a:rPr>
              <a:t>• Thousands of transcripts</a:t>
            </a:r>
          </a:p>
          <a:p>
            <a:pPr>
              <a:spcBef>
                <a:spcPts val="200"/>
              </a:spcBef>
              <a:buNone/>
            </a:pPr>
            <a:r>
              <a:rPr sz="1350" b="0">
                <a:solidFill>
                  <a:srgbClr val="1F2937"/>
                </a:solidFill>
                <a:latin typeface="Aptos"/>
                <a:ea typeface="Aptos"/>
                <a:cs typeface="Aptos"/>
              </a:rPr>
              <a:t>• Consistent output format</a:t>
            </a:r>
          </a:p>
          <a:p>
            <a:pPr>
              <a:spcBef>
                <a:spcPts val="200"/>
              </a:spcBef>
              <a:buNone/>
            </a:pPr>
            <a:r>
              <a:rPr sz="1350" b="0">
                <a:solidFill>
                  <a:srgbClr val="1F2937"/>
                </a:solidFill>
                <a:latin typeface="Aptos"/>
                <a:ea typeface="Aptos"/>
                <a:cs typeface="Aptos"/>
              </a:rPr>
              <a:t>• Automatic checkpoint files</a:t>
            </a:r>
          </a:p>
        </p:txBody>
      </p:sp>
      <p:sp>
        <p:nvSpPr>
          <p:cNvPr id="18" name="Rounded Rectangle 17">
            <a:extLst>
              <a:ext uri="{FF2B5EF4-FFF2-40B4-BE49-F238E27FC236}">
                <a16:creationId xmlns:a16="http://schemas.microsoft.com/office/drawing/2014/main" xmlns="" id="{D4EE66C9-9379-4AA8-A46A-9C24F9A3747A}"/>
              </a:ext>
            </a:extLst>
          </p:cNvPr>
          <p:cNvSpPr>
            <a:spLocks noGrp="1"/>
          </p:cNvSpPr>
          <p:nvPr/>
        </p:nvSpPr>
        <p:spPr>
          <a:xfrm>
            <a:off x="1234440" y="5440680"/>
            <a:ext cx="9692640" cy="384048"/>
          </a:xfrm>
          <a:prstGeom prst="roundRect">
            <a:avLst/>
          </a:prstGeom>
          <a:solidFill>
            <a:srgbClr val="EFEC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350" b="0">
                <a:solidFill>
                  <a:srgbClr val="1F2937"/>
                </a:solidFill>
                <a:latin typeface="Aptos"/>
                <a:ea typeface="Aptos"/>
                <a:cs typeface="Aptos"/>
              </a:rPr>
              <a:t>Direct chat is useful for designing the prompt, but it is not the right execution system for a whole channel.</a:t>
            </a:r>
          </a:p>
        </p:txBody>
      </p:sp>
      <p:sp>
        <p:nvSpPr>
          <p:cNvPr id="19" name="Slide Number Placeholder 18"/>
          <p:cNvSpPr>
            <a:spLocks noGrp="1"/>
          </p:cNvSpPr>
          <p:nvPr>
            <p:ph type="sldNum" idx="12"/>
          </p:nvPr>
        </p:nvSpPr>
        <p:spPr/>
        <p:txBody>
          <a:bodyPr/>
          <a:lstStyle/>
          <a:p>
            <a:fld id="{33749B41-47CE-4FC4-9498-EEF687BF6FCF}" type="slidenum">
              <a:rPr lang="en-US" smtClean="0"/>
              <a:pPr/>
              <a:t>3</a:t>
            </a:fld>
            <a:endParaRPr lang="en-US"/>
          </a:p>
        </p:txBody>
      </p:sp>
    </p:spTree>
    <p:extLst>
      <p:ext uri="{BB962C8B-B14F-4D97-AF65-F5344CB8AC3E}">
        <p14:creationId xmlns:p14="http://schemas.microsoft.com/office/powerpoint/2010/main" val="206681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8CCDAC5-B523-4C23-A190-515F7A430CFD}"/>
              </a:ext>
            </a:extLst>
          </p:cNvPr>
          <p:cNvSpPr>
            <a:spLocks noGrp="1"/>
          </p:cNvSpPr>
          <p:nvPr/>
        </p:nvSpPr>
        <p:spPr>
          <a:xfrm>
            <a:off x="0" y="0"/>
            <a:ext cx="12192000" cy="6858000"/>
          </a:xfrm>
          <a:prstGeom prst="rect">
            <a:avLst/>
          </a:prstGeom>
          <a:solidFill>
            <a:srgbClr val="FAF8F3"/>
          </a:solidFill>
          <a:ln>
            <a:solidFill>
              <a:srgbClr val="FAF8F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xmlns="" id="{D09E9727-F7DB-4F85-A71E-93E6267F2CF8}"/>
              </a:ext>
            </a:extLst>
          </p:cNvPr>
          <p:cNvSpPr>
            <a:spLocks noGrp="1"/>
          </p:cNvSpPr>
          <p:nvPr/>
        </p:nvSpPr>
        <p:spPr>
          <a:xfrm>
            <a:off x="502920" y="182880"/>
            <a:ext cx="3657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900" b="1">
                <a:solidFill>
                  <a:srgbClr val="596273"/>
                </a:solidFill>
                <a:latin typeface="Aptos"/>
                <a:ea typeface="Aptos"/>
                <a:cs typeface="Aptos"/>
              </a:rPr>
              <a:t>Preface</a:t>
            </a:r>
          </a:p>
        </p:txBody>
      </p:sp>
      <p:sp>
        <p:nvSpPr>
          <p:cNvPr id="4" name="Connector 3">
            <a:extLst>
              <a:ext uri="{FF2B5EF4-FFF2-40B4-BE49-F238E27FC236}">
                <a16:creationId xmlns:a16="http://schemas.microsoft.com/office/drawing/2014/main" xmlns="" id="{1A1DF87F-3154-4A65-B176-FCE4BA12ED3B}"/>
              </a:ext>
            </a:extLst>
          </p:cNvPr>
          <p:cNvSpPr>
            <a:spLocks noGrp="1"/>
          </p:cNvSpPr>
          <p:nvPr/>
        </p:nvSpPr>
        <p:spPr>
          <a:xfrm>
            <a:off x="502920" y="6355080"/>
            <a:ext cx="10652760" cy="0"/>
          </a:xfrm>
          <a:prstGeom prst="line">
            <a:avLst/>
          </a:prstGeom>
          <a:ln w="12700">
            <a:solidFill>
              <a:srgbClr val="D3D2CD"/>
            </a:solidFill>
          </a:ln>
        </p:spPr>
        <p:style>
          <a:lnRef idx="2">
            <a:schemeClr val="accent1"/>
          </a:lnRef>
          <a:fillRef idx="0">
            <a:schemeClr val="accent1"/>
          </a:fillRef>
          <a:effectRef idx="1">
            <a:schemeClr val="accent1"/>
          </a:effectRef>
          <a:fontRef idx="minor">
            <a:schemeClr val="tx1"/>
          </a:fontRef>
        </p:style>
      </p:sp>
      <p:sp>
        <p:nvSpPr>
          <p:cNvPr id="5" name="Rectangle 4">
            <a:extLst>
              <a:ext uri="{FF2B5EF4-FFF2-40B4-BE49-F238E27FC236}">
                <a16:creationId xmlns:a16="http://schemas.microsoft.com/office/drawing/2014/main" xmlns="" id="{23128606-60CB-4656-A1D9-1734F61F67ED}"/>
              </a:ext>
            </a:extLst>
          </p:cNvPr>
          <p:cNvSpPr>
            <a:spLocks noGrp="1"/>
          </p:cNvSpPr>
          <p:nvPr/>
        </p:nvSpPr>
        <p:spPr>
          <a:xfrm>
            <a:off x="502920" y="6446520"/>
            <a:ext cx="4754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680" b="0">
                <a:solidFill>
                  <a:srgbClr val="596273"/>
                </a:solidFill>
                <a:latin typeface="Aptos"/>
                <a:ea typeface="Aptos"/>
                <a:cs typeface="Aptos"/>
              </a:rPr>
              <a:t>Programmable LLM Agent applied to Crypto Channels</a:t>
            </a:r>
          </a:p>
        </p:txBody>
      </p:sp>
      <p:sp>
        <p:nvSpPr>
          <p:cNvPr id="6" name="Rectangle 5">
            <a:extLst>
              <a:ext uri="{FF2B5EF4-FFF2-40B4-BE49-F238E27FC236}">
                <a16:creationId xmlns:a16="http://schemas.microsoft.com/office/drawing/2014/main" xmlns="" id="{A06A3285-773D-4BEE-B554-C22E8D15CAAD}"/>
              </a:ext>
            </a:extLst>
          </p:cNvPr>
          <p:cNvSpPr>
            <a:spLocks noGrp="1"/>
          </p:cNvSpPr>
          <p:nvPr/>
        </p:nvSpPr>
        <p:spPr>
          <a:xfrm>
            <a:off x="594360" y="502920"/>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3000" b="1">
                <a:solidFill>
                  <a:srgbClr val="1F2937"/>
                </a:solidFill>
                <a:latin typeface="Aptos"/>
                <a:ea typeface="Aptos"/>
                <a:cs typeface="Aptos"/>
              </a:rPr>
              <a:t>Program-mediated interaction: repeat the task reliably</a:t>
            </a:r>
          </a:p>
        </p:txBody>
      </p:sp>
      <p:sp>
        <p:nvSpPr>
          <p:cNvPr id="7" name="Rectangle 6">
            <a:extLst>
              <a:ext uri="{FF2B5EF4-FFF2-40B4-BE49-F238E27FC236}">
                <a16:creationId xmlns:a16="http://schemas.microsoft.com/office/drawing/2014/main" xmlns="" id="{E144BF89-D287-46F2-9F04-EC59671FA525}"/>
              </a:ext>
            </a:extLst>
          </p:cNvPr>
          <p:cNvSpPr>
            <a:spLocks noGrp="1"/>
          </p:cNvSpPr>
          <p:nvPr/>
        </p:nvSpPr>
        <p:spPr>
          <a:xfrm>
            <a:off x="621792" y="1170432"/>
            <a:ext cx="10789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1450" b="0">
                <a:solidFill>
                  <a:srgbClr val="596273"/>
                </a:solidFill>
                <a:latin typeface="Aptos"/>
                <a:ea typeface="Aptos"/>
                <a:cs typeface="Aptos"/>
              </a:rPr>
              <a:t>A program can call the LLM many times and save each result.</a:t>
            </a:r>
          </a:p>
        </p:txBody>
      </p:sp>
      <p:sp>
        <p:nvSpPr>
          <p:cNvPr id="8" name="Rounded Rectangle 7">
            <a:extLst>
              <a:ext uri="{FF2B5EF4-FFF2-40B4-BE49-F238E27FC236}">
                <a16:creationId xmlns:a16="http://schemas.microsoft.com/office/drawing/2014/main" xmlns="" id="{61EB28EA-7A25-42A8-87D5-D7EC0FDD837A}"/>
              </a:ext>
            </a:extLst>
          </p:cNvPr>
          <p:cNvSpPr>
            <a:spLocks noGrp="1"/>
          </p:cNvSpPr>
          <p:nvPr/>
        </p:nvSpPr>
        <p:spPr>
          <a:xfrm>
            <a:off x="777240" y="2103120"/>
            <a:ext cx="2148840" cy="8229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500" b="1">
                <a:solidFill>
                  <a:srgbClr val="1F2937"/>
                </a:solidFill>
                <a:latin typeface="Aptos"/>
                <a:ea typeface="Aptos"/>
                <a:cs typeface="Aptos"/>
              </a:rPr>
              <a:t>transcripts/
.txt files</a:t>
            </a:r>
          </a:p>
        </p:txBody>
      </p:sp>
      <p:sp>
        <p:nvSpPr>
          <p:cNvPr id="9" name="Rounded Rectangle 8">
            <a:extLst>
              <a:ext uri="{FF2B5EF4-FFF2-40B4-BE49-F238E27FC236}">
                <a16:creationId xmlns:a16="http://schemas.microsoft.com/office/drawing/2014/main" xmlns="" id="{3B753682-A547-4A9B-9793-6C517C964D7E}"/>
              </a:ext>
            </a:extLst>
          </p:cNvPr>
          <p:cNvSpPr>
            <a:spLocks noGrp="1"/>
          </p:cNvSpPr>
          <p:nvPr/>
        </p:nvSpPr>
        <p:spPr>
          <a:xfrm>
            <a:off x="3474720" y="1975104"/>
            <a:ext cx="2880360" cy="1078992"/>
          </a:xfrm>
          <a:prstGeom prst="roundRect">
            <a:avLst/>
          </a:prstGeom>
          <a:solidFill>
            <a:srgbClr val="EFEC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420" b="1">
                <a:solidFill>
                  <a:srgbClr val="1F2937"/>
                </a:solidFill>
                <a:latin typeface="Aptos"/>
                <a:ea typeface="Aptos"/>
                <a:cs typeface="Aptos"/>
              </a:rPr>
              <a:t>Program P
loads one file, adds the prompt, sends request</a:t>
            </a:r>
          </a:p>
        </p:txBody>
      </p:sp>
      <p:sp>
        <p:nvSpPr>
          <p:cNvPr id="10" name="Rounded Rectangle 9">
            <a:extLst>
              <a:ext uri="{FF2B5EF4-FFF2-40B4-BE49-F238E27FC236}">
                <a16:creationId xmlns:a16="http://schemas.microsoft.com/office/drawing/2014/main" xmlns="" id="{2759E741-6828-4AF2-B70E-688FA9356404}"/>
              </a:ext>
            </a:extLst>
          </p:cNvPr>
          <p:cNvSpPr>
            <a:spLocks noGrp="1"/>
          </p:cNvSpPr>
          <p:nvPr/>
        </p:nvSpPr>
        <p:spPr>
          <a:xfrm>
            <a:off x="6903720" y="2103120"/>
            <a:ext cx="2148840" cy="822960"/>
          </a:xfrm>
          <a:prstGeom prst="roundRect">
            <a:avLst/>
          </a:prstGeom>
          <a:solidFill>
            <a:srgbClr val="E7F6EF"/>
          </a:solidFill>
          <a:ln w="12700">
            <a:solidFill>
              <a:srgbClr val="0E6B46"/>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420" b="1">
                <a:solidFill>
                  <a:srgbClr val="1F2937"/>
                </a:solidFill>
                <a:latin typeface="Aptos"/>
                <a:ea typeface="Aptos"/>
                <a:cs typeface="Aptos"/>
              </a:rPr>
              <a:t>DeepSeek API
returns structured summary</a:t>
            </a:r>
          </a:p>
        </p:txBody>
      </p:sp>
      <p:sp>
        <p:nvSpPr>
          <p:cNvPr id="11" name="Rounded Rectangle 10">
            <a:extLst>
              <a:ext uri="{FF2B5EF4-FFF2-40B4-BE49-F238E27FC236}">
                <a16:creationId xmlns:a16="http://schemas.microsoft.com/office/drawing/2014/main" xmlns="" id="{99965D7E-F252-4527-9500-468D3B1E9767}"/>
              </a:ext>
            </a:extLst>
          </p:cNvPr>
          <p:cNvSpPr>
            <a:spLocks noGrp="1"/>
          </p:cNvSpPr>
          <p:nvPr/>
        </p:nvSpPr>
        <p:spPr>
          <a:xfrm>
            <a:off x="9555480" y="1984248"/>
            <a:ext cx="1874519" cy="1060704"/>
          </a:xfrm>
          <a:prstGeom prst="roundRect">
            <a:avLst/>
          </a:prstGeom>
          <a:solidFill>
            <a:srgbClr val="FFFFFF"/>
          </a:solidFill>
          <a:ln w="12700">
            <a:solidFill>
              <a:srgbClr val="0E6B46"/>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350" b="1">
                <a:solidFill>
                  <a:srgbClr val="1F2937"/>
                </a:solidFill>
                <a:latin typeface="Aptos"/>
                <a:ea typeface="Aptos"/>
                <a:cs typeface="Aptos"/>
              </a:rPr>
              <a:t>summary_001.json
summary_002.json
…</a:t>
            </a:r>
          </a:p>
        </p:txBody>
      </p:sp>
      <p:sp>
        <p:nvSpPr>
          <p:cNvPr id="12" name="Connector 11">
            <a:extLst>
              <a:ext uri="{FF2B5EF4-FFF2-40B4-BE49-F238E27FC236}">
                <a16:creationId xmlns:a16="http://schemas.microsoft.com/office/drawing/2014/main" xmlns="" id="{1311075F-0283-4EF7-A4E4-F4BF0C730DB0}"/>
              </a:ext>
            </a:extLst>
          </p:cNvPr>
          <p:cNvSpPr>
            <a:spLocks noGrp="1"/>
          </p:cNvSpPr>
          <p:nvPr/>
        </p:nvSpPr>
        <p:spPr>
          <a:xfrm>
            <a:off x="2971800" y="2514600"/>
            <a:ext cx="45720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3" name="Connector 12">
            <a:extLst>
              <a:ext uri="{FF2B5EF4-FFF2-40B4-BE49-F238E27FC236}">
                <a16:creationId xmlns:a16="http://schemas.microsoft.com/office/drawing/2014/main" xmlns="" id="{9ABB57B7-D968-4143-BC70-E16EED55047F}"/>
              </a:ext>
            </a:extLst>
          </p:cNvPr>
          <p:cNvSpPr>
            <a:spLocks noGrp="1"/>
          </p:cNvSpPr>
          <p:nvPr/>
        </p:nvSpPr>
        <p:spPr>
          <a:xfrm>
            <a:off x="6400800" y="2514600"/>
            <a:ext cx="45720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4" name="Connector 13">
            <a:extLst>
              <a:ext uri="{FF2B5EF4-FFF2-40B4-BE49-F238E27FC236}">
                <a16:creationId xmlns:a16="http://schemas.microsoft.com/office/drawing/2014/main" xmlns="" id="{619732F4-E476-4EA0-97A6-2B064F23610B}"/>
              </a:ext>
            </a:extLst>
          </p:cNvPr>
          <p:cNvSpPr>
            <a:spLocks noGrp="1"/>
          </p:cNvSpPr>
          <p:nvPr/>
        </p:nvSpPr>
        <p:spPr>
          <a:xfrm>
            <a:off x="9098280" y="2514600"/>
            <a:ext cx="411480"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5" name="Rounded Rectangle 14">
            <a:extLst>
              <a:ext uri="{FF2B5EF4-FFF2-40B4-BE49-F238E27FC236}">
                <a16:creationId xmlns:a16="http://schemas.microsoft.com/office/drawing/2014/main" xmlns="" id="{D1F394B5-44ED-4D2E-BAA3-C230901F9645}"/>
              </a:ext>
            </a:extLst>
          </p:cNvPr>
          <p:cNvSpPr>
            <a:spLocks noGrp="1"/>
          </p:cNvSpPr>
          <p:nvPr/>
        </p:nvSpPr>
        <p:spPr>
          <a:xfrm>
            <a:off x="914400" y="3749039"/>
            <a:ext cx="10424160" cy="1234440"/>
          </a:xfrm>
          <a:prstGeom prst="roundRect">
            <a:avLst/>
          </a:prstGeom>
          <a:solidFill>
            <a:srgbClr val="EFF5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What the program adds</a:t>
            </a:r>
          </a:p>
          <a:p>
            <a:pPr>
              <a:spcBef>
                <a:spcPts val="200"/>
              </a:spcBef>
              <a:buNone/>
            </a:pPr>
            <a:r>
              <a:rPr sz="1370" b="0">
                <a:solidFill>
                  <a:srgbClr val="1F2937"/>
                </a:solidFill>
                <a:latin typeface="Aptos"/>
                <a:ea typeface="Aptos"/>
                <a:cs typeface="Aptos"/>
              </a:rPr>
              <a:t>• Same instructions every time</a:t>
            </a:r>
          </a:p>
          <a:p>
            <a:pPr>
              <a:spcBef>
                <a:spcPts val="200"/>
              </a:spcBef>
              <a:buNone/>
            </a:pPr>
            <a:r>
              <a:rPr sz="1370" b="0">
                <a:solidFill>
                  <a:srgbClr val="1F2937"/>
                </a:solidFill>
                <a:latin typeface="Aptos"/>
                <a:ea typeface="Aptos"/>
                <a:cs typeface="Aptos"/>
              </a:rPr>
              <a:t>• One saved result per transcript</a:t>
            </a:r>
          </a:p>
          <a:p>
            <a:pPr>
              <a:spcBef>
                <a:spcPts val="200"/>
              </a:spcBef>
              <a:buNone/>
            </a:pPr>
            <a:r>
              <a:rPr sz="1370" b="0">
                <a:solidFill>
                  <a:srgbClr val="1F2937"/>
                </a:solidFill>
                <a:latin typeface="Aptos"/>
                <a:ea typeface="Aptos"/>
                <a:cs typeface="Aptos"/>
              </a:rPr>
              <a:t>• Progress can resume after a failure</a:t>
            </a:r>
          </a:p>
          <a:p>
            <a:pPr>
              <a:spcBef>
                <a:spcPts val="200"/>
              </a:spcBef>
              <a:buNone/>
            </a:pPr>
            <a:r>
              <a:rPr sz="1370" b="0">
                <a:solidFill>
                  <a:srgbClr val="1F2937"/>
                </a:solidFill>
                <a:latin typeface="Aptos"/>
                <a:ea typeface="Aptos"/>
                <a:cs typeface="Aptos"/>
              </a:rPr>
              <a:t>• Later phases can merge all summary files</a:t>
            </a:r>
          </a:p>
        </p:txBody>
      </p:sp>
      <p:sp>
        <p:nvSpPr>
          <p:cNvPr id="16" name="Rounded Rectangle 15">
            <a:extLst>
              <a:ext uri="{FF2B5EF4-FFF2-40B4-BE49-F238E27FC236}">
                <a16:creationId xmlns:a16="http://schemas.microsoft.com/office/drawing/2014/main" xmlns="" id="{E5A5B3D2-6906-491B-8A85-359E5A6987E9}"/>
              </a:ext>
            </a:extLst>
          </p:cNvPr>
          <p:cNvSpPr>
            <a:spLocks noGrp="1"/>
          </p:cNvSpPr>
          <p:nvPr/>
        </p:nvSpPr>
        <p:spPr>
          <a:xfrm>
            <a:off x="2194560" y="5330952"/>
            <a:ext cx="7863840" cy="384048"/>
          </a:xfrm>
          <a:prstGeom prst="roundRect">
            <a:avLst/>
          </a:prstGeom>
          <a:solidFill>
            <a:srgbClr val="FFF3DA"/>
          </a:solidFill>
          <a:ln w="12700">
            <a:solidFill>
              <a:srgbClr val="A55D00"/>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400" b="0">
                <a:solidFill>
                  <a:srgbClr val="1F2937"/>
                </a:solidFill>
                <a:latin typeface="Aptos"/>
                <a:ea typeface="Aptos"/>
                <a:cs typeface="Aptos"/>
              </a:rPr>
              <a:t>This is the practical bridge from isolated summaries to compendium.md.</a:t>
            </a:r>
          </a:p>
        </p:txBody>
      </p:sp>
      <p:sp>
        <p:nvSpPr>
          <p:cNvPr id="17" name="Slide Number Placeholder 16"/>
          <p:cNvSpPr>
            <a:spLocks noGrp="1"/>
          </p:cNvSpPr>
          <p:nvPr>
            <p:ph type="sldNum" idx="12"/>
          </p:nvPr>
        </p:nvSpPr>
        <p:spPr/>
        <p:txBody>
          <a:bodyPr/>
          <a:lstStyle/>
          <a:p>
            <a:fld id="{33749B41-47CE-4FC4-9498-EEF687BF6FCF}" type="slidenum">
              <a:rPr lang="en-US" smtClean="0"/>
              <a:pPr/>
              <a:t>4</a:t>
            </a:fld>
            <a:endParaRPr lang="en-US"/>
          </a:p>
        </p:txBody>
      </p:sp>
    </p:spTree>
    <p:extLst>
      <p:ext uri="{BB962C8B-B14F-4D97-AF65-F5344CB8AC3E}">
        <p14:creationId xmlns:p14="http://schemas.microsoft.com/office/powerpoint/2010/main" val="20779789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89DBEDA8-CD49-4B93-BAEA-4D260AEA8AFD}"/>
              </a:ext>
            </a:extLst>
          </p:cNvPr>
          <p:cNvSpPr>
            <a:spLocks noGrp="1"/>
          </p:cNvSpPr>
          <p:nvPr/>
        </p:nvSpPr>
        <p:spPr>
          <a:xfrm>
            <a:off x="0" y="0"/>
            <a:ext cx="12192000" cy="6858000"/>
          </a:xfrm>
          <a:prstGeom prst="rect">
            <a:avLst/>
          </a:prstGeom>
          <a:solidFill>
            <a:srgbClr val="FAF8F3"/>
          </a:solidFill>
          <a:ln>
            <a:solidFill>
              <a:srgbClr val="FAF8F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xmlns="" id="{1920E7C5-D4EE-4A7F-AC2A-755DB15F9A6A}"/>
              </a:ext>
            </a:extLst>
          </p:cNvPr>
          <p:cNvSpPr>
            <a:spLocks noGrp="1"/>
          </p:cNvSpPr>
          <p:nvPr/>
        </p:nvSpPr>
        <p:spPr>
          <a:xfrm>
            <a:off x="502920" y="182880"/>
            <a:ext cx="3657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900" b="1">
                <a:solidFill>
                  <a:srgbClr val="596273"/>
                </a:solidFill>
                <a:latin typeface="Aptos"/>
                <a:ea typeface="Aptos"/>
                <a:cs typeface="Aptos"/>
              </a:rPr>
              <a:t>Preface</a:t>
            </a:r>
          </a:p>
        </p:txBody>
      </p:sp>
      <p:sp>
        <p:nvSpPr>
          <p:cNvPr id="4" name="Connector 3">
            <a:extLst>
              <a:ext uri="{FF2B5EF4-FFF2-40B4-BE49-F238E27FC236}">
                <a16:creationId xmlns:a16="http://schemas.microsoft.com/office/drawing/2014/main" xmlns="" id="{BF11147B-59C1-421D-BEA1-3CDC8B6B65BD}"/>
              </a:ext>
            </a:extLst>
          </p:cNvPr>
          <p:cNvSpPr>
            <a:spLocks noGrp="1"/>
          </p:cNvSpPr>
          <p:nvPr/>
        </p:nvSpPr>
        <p:spPr>
          <a:xfrm>
            <a:off x="502920" y="6355080"/>
            <a:ext cx="10652760" cy="0"/>
          </a:xfrm>
          <a:prstGeom prst="line">
            <a:avLst/>
          </a:prstGeom>
          <a:ln w="12700">
            <a:solidFill>
              <a:srgbClr val="D3D2CD"/>
            </a:solidFill>
          </a:ln>
        </p:spPr>
        <p:style>
          <a:lnRef idx="2">
            <a:schemeClr val="accent1"/>
          </a:lnRef>
          <a:fillRef idx="0">
            <a:schemeClr val="accent1"/>
          </a:fillRef>
          <a:effectRef idx="1">
            <a:schemeClr val="accent1"/>
          </a:effectRef>
          <a:fontRef idx="minor">
            <a:schemeClr val="tx1"/>
          </a:fontRef>
        </p:style>
      </p:sp>
      <p:sp>
        <p:nvSpPr>
          <p:cNvPr id="5" name="Rectangle 4">
            <a:extLst>
              <a:ext uri="{FF2B5EF4-FFF2-40B4-BE49-F238E27FC236}">
                <a16:creationId xmlns:a16="http://schemas.microsoft.com/office/drawing/2014/main" xmlns="" id="{96F0F170-C468-4EF1-87BA-A00119990E6E}"/>
              </a:ext>
            </a:extLst>
          </p:cNvPr>
          <p:cNvSpPr>
            <a:spLocks noGrp="1"/>
          </p:cNvSpPr>
          <p:nvPr/>
        </p:nvSpPr>
        <p:spPr>
          <a:xfrm>
            <a:off x="502920" y="6446520"/>
            <a:ext cx="4754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680" b="0">
                <a:solidFill>
                  <a:srgbClr val="596273"/>
                </a:solidFill>
                <a:latin typeface="Aptos"/>
                <a:ea typeface="Aptos"/>
                <a:cs typeface="Aptos"/>
              </a:rPr>
              <a:t>Programmable LLM Agent applied to Crypto Channels</a:t>
            </a:r>
          </a:p>
        </p:txBody>
      </p:sp>
      <p:sp>
        <p:nvSpPr>
          <p:cNvPr id="6" name="Rectangle 5">
            <a:extLst>
              <a:ext uri="{FF2B5EF4-FFF2-40B4-BE49-F238E27FC236}">
                <a16:creationId xmlns:a16="http://schemas.microsoft.com/office/drawing/2014/main" xmlns="" id="{762180FF-A479-4881-96DB-739740290352}"/>
              </a:ext>
            </a:extLst>
          </p:cNvPr>
          <p:cNvSpPr>
            <a:spLocks noGrp="1"/>
          </p:cNvSpPr>
          <p:nvPr/>
        </p:nvSpPr>
        <p:spPr>
          <a:xfrm>
            <a:off x="594360" y="502920"/>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3000" b="1">
                <a:solidFill>
                  <a:srgbClr val="1F2937"/>
                </a:solidFill>
                <a:latin typeface="Aptos"/>
                <a:ea typeface="Aptos"/>
                <a:cs typeface="Aptos"/>
              </a:rPr>
              <a:t>A third role: ask an LLM to help write Program P</a:t>
            </a:r>
          </a:p>
        </p:txBody>
      </p:sp>
      <p:sp>
        <p:nvSpPr>
          <p:cNvPr id="7" name="Rectangle 6">
            <a:extLst>
              <a:ext uri="{FF2B5EF4-FFF2-40B4-BE49-F238E27FC236}">
                <a16:creationId xmlns:a16="http://schemas.microsoft.com/office/drawing/2014/main" xmlns="" id="{9A3FDD42-E5FA-4C09-AFFE-06BB9809D921}"/>
              </a:ext>
            </a:extLst>
          </p:cNvPr>
          <p:cNvSpPr>
            <a:spLocks noGrp="1"/>
          </p:cNvSpPr>
          <p:nvPr/>
        </p:nvSpPr>
        <p:spPr>
          <a:xfrm>
            <a:off x="621792" y="1170432"/>
            <a:ext cx="10789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l">
              <a:buNone/>
            </a:pPr>
            <a:r>
              <a:rPr sz="1450" b="0">
                <a:solidFill>
                  <a:srgbClr val="596273"/>
                </a:solidFill>
                <a:latin typeface="Aptos"/>
                <a:ea typeface="Aptos"/>
                <a:cs typeface="Aptos"/>
              </a:rPr>
              <a:t>You may not know the code, but you can define the target precisely.</a:t>
            </a:r>
          </a:p>
        </p:txBody>
      </p:sp>
      <p:sp>
        <p:nvSpPr>
          <p:cNvPr id="8" name="Rounded Rectangle 7">
            <a:extLst>
              <a:ext uri="{FF2B5EF4-FFF2-40B4-BE49-F238E27FC236}">
                <a16:creationId xmlns:a16="http://schemas.microsoft.com/office/drawing/2014/main" xmlns="" id="{FB3FE04D-86B5-4DF9-8D53-C577FF9E9290}"/>
              </a:ext>
            </a:extLst>
          </p:cNvPr>
          <p:cNvSpPr>
            <a:spLocks noGrp="1"/>
          </p:cNvSpPr>
          <p:nvPr/>
        </p:nvSpPr>
        <p:spPr>
          <a:xfrm>
            <a:off x="868680" y="1847088"/>
            <a:ext cx="3063240" cy="1600200"/>
          </a:xfrm>
          <a:prstGeom prst="roundRect">
            <a:avLst/>
          </a:prstGeom>
          <a:solidFill>
            <a:srgbClr val="E7F6EF"/>
          </a:solidFill>
          <a:ln w="12700">
            <a:solidFill>
              <a:srgbClr val="0E6B46"/>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What you can specify</a:t>
            </a:r>
          </a:p>
          <a:p>
            <a:pPr>
              <a:spcBef>
                <a:spcPts val="200"/>
              </a:spcBef>
              <a:buNone/>
            </a:pPr>
            <a:r>
              <a:rPr sz="1320" b="0">
                <a:solidFill>
                  <a:srgbClr val="1F2937"/>
                </a:solidFill>
                <a:latin typeface="Aptos"/>
                <a:ea typeface="Aptos"/>
                <a:cs typeface="Aptos"/>
              </a:rPr>
              <a:t>• Input folder</a:t>
            </a:r>
          </a:p>
          <a:p>
            <a:pPr>
              <a:spcBef>
                <a:spcPts val="200"/>
              </a:spcBef>
              <a:buNone/>
            </a:pPr>
            <a:r>
              <a:rPr sz="1320" b="0">
                <a:solidFill>
                  <a:srgbClr val="1F2937"/>
                </a:solidFill>
                <a:latin typeface="Aptos"/>
                <a:ea typeface="Aptos"/>
                <a:cs typeface="Aptos"/>
              </a:rPr>
              <a:t>• Output files</a:t>
            </a:r>
          </a:p>
          <a:p>
            <a:pPr>
              <a:spcBef>
                <a:spcPts val="200"/>
              </a:spcBef>
              <a:buNone/>
            </a:pPr>
            <a:r>
              <a:rPr sz="1320" b="0">
                <a:solidFill>
                  <a:srgbClr val="1F2937"/>
                </a:solidFill>
                <a:latin typeface="Aptos"/>
                <a:ea typeface="Aptos"/>
                <a:cs typeface="Aptos"/>
              </a:rPr>
              <a:t>• Definitions</a:t>
            </a:r>
          </a:p>
          <a:p>
            <a:pPr>
              <a:spcBef>
                <a:spcPts val="200"/>
              </a:spcBef>
              <a:buNone/>
            </a:pPr>
            <a:r>
              <a:rPr sz="1320" b="0">
                <a:solidFill>
                  <a:srgbClr val="1F2937"/>
                </a:solidFill>
                <a:latin typeface="Aptos"/>
                <a:ea typeface="Aptos"/>
                <a:cs typeface="Aptos"/>
              </a:rPr>
              <a:t>• Rules and edge cases</a:t>
            </a:r>
          </a:p>
        </p:txBody>
      </p:sp>
      <p:sp>
        <p:nvSpPr>
          <p:cNvPr id="9" name="Rounded Rectangle 8">
            <a:extLst>
              <a:ext uri="{FF2B5EF4-FFF2-40B4-BE49-F238E27FC236}">
                <a16:creationId xmlns:a16="http://schemas.microsoft.com/office/drawing/2014/main" xmlns="" id="{579EEC91-E181-40FA-BD8C-E0403BF595AF}"/>
              </a:ext>
            </a:extLst>
          </p:cNvPr>
          <p:cNvSpPr>
            <a:spLocks noGrp="1"/>
          </p:cNvSpPr>
          <p:nvPr/>
        </p:nvSpPr>
        <p:spPr>
          <a:xfrm>
            <a:off x="4709160" y="1965960"/>
            <a:ext cx="2697480" cy="1143000"/>
          </a:xfrm>
          <a:prstGeom prst="roundRect">
            <a:avLst/>
          </a:prstGeom>
          <a:solidFill>
            <a:srgbClr val="EFEC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700" b="1">
                <a:solidFill>
                  <a:srgbClr val="1F2937"/>
                </a:solidFill>
                <a:latin typeface="Aptos"/>
                <a:ea typeface="Aptos"/>
                <a:cs typeface="Aptos"/>
              </a:rPr>
              <a:t>Claude
writes Python code</a:t>
            </a:r>
          </a:p>
        </p:txBody>
      </p:sp>
      <p:sp>
        <p:nvSpPr>
          <p:cNvPr id="10" name="Rounded Rectangle 9">
            <a:extLst>
              <a:ext uri="{FF2B5EF4-FFF2-40B4-BE49-F238E27FC236}">
                <a16:creationId xmlns:a16="http://schemas.microsoft.com/office/drawing/2014/main" xmlns="" id="{4DC085BA-0753-4E63-A2F2-E0F056848651}"/>
              </a:ext>
            </a:extLst>
          </p:cNvPr>
          <p:cNvSpPr>
            <a:spLocks noGrp="1"/>
          </p:cNvSpPr>
          <p:nvPr/>
        </p:nvSpPr>
        <p:spPr>
          <a:xfrm>
            <a:off x="8275320" y="1847088"/>
            <a:ext cx="3063240" cy="1600200"/>
          </a:xfrm>
          <a:prstGeom prst="roundRect">
            <a:avLst/>
          </a:prstGeom>
          <a:solidFill>
            <a:srgbClr val="EFF5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118872" tIns="91440" rIns="118872" bIns="91440" anchor="ctr"/>
          <a:lstStyle/>
          <a:p>
            <a:pPr algn="l">
              <a:buNone/>
            </a:pPr>
            <a:r>
              <a:rPr sz="1600" b="1">
                <a:solidFill>
                  <a:srgbClr val="1F2937"/>
                </a:solidFill>
                <a:latin typeface="Aptos"/>
                <a:ea typeface="Aptos"/>
                <a:cs typeface="Aptos"/>
              </a:rPr>
              <a:t>What Program P does</a:t>
            </a:r>
          </a:p>
          <a:p>
            <a:pPr>
              <a:spcBef>
                <a:spcPts val="200"/>
              </a:spcBef>
              <a:buNone/>
            </a:pPr>
            <a:r>
              <a:rPr sz="1320" b="0">
                <a:solidFill>
                  <a:srgbClr val="1F2937"/>
                </a:solidFill>
                <a:latin typeface="Aptos"/>
                <a:ea typeface="Aptos"/>
                <a:cs typeface="Aptos"/>
              </a:rPr>
              <a:t>• Calls DeepSeek</a:t>
            </a:r>
          </a:p>
          <a:p>
            <a:pPr>
              <a:spcBef>
                <a:spcPts val="200"/>
              </a:spcBef>
              <a:buNone/>
            </a:pPr>
            <a:r>
              <a:rPr sz="1320" b="0">
                <a:solidFill>
                  <a:srgbClr val="1F2937"/>
                </a:solidFill>
                <a:latin typeface="Aptos"/>
                <a:ea typeface="Aptos"/>
                <a:cs typeface="Aptos"/>
              </a:rPr>
              <a:t>• Processes transcripts</a:t>
            </a:r>
          </a:p>
          <a:p>
            <a:pPr>
              <a:spcBef>
                <a:spcPts val="200"/>
              </a:spcBef>
              <a:buNone/>
            </a:pPr>
            <a:r>
              <a:rPr sz="1320" b="0">
                <a:solidFill>
                  <a:srgbClr val="1F2937"/>
                </a:solidFill>
                <a:latin typeface="Aptos"/>
                <a:ea typeface="Aptos"/>
                <a:cs typeface="Aptos"/>
              </a:rPr>
              <a:t>• Creates checkpoints</a:t>
            </a:r>
          </a:p>
          <a:p>
            <a:pPr>
              <a:spcBef>
                <a:spcPts val="200"/>
              </a:spcBef>
              <a:buNone/>
            </a:pPr>
            <a:r>
              <a:rPr sz="1320" b="0">
                <a:solidFill>
                  <a:srgbClr val="1F2937"/>
                </a:solidFill>
                <a:latin typeface="Aptos"/>
                <a:ea typeface="Aptos"/>
                <a:cs typeface="Aptos"/>
              </a:rPr>
              <a:t>• Builds final files</a:t>
            </a:r>
          </a:p>
        </p:txBody>
      </p:sp>
      <p:sp>
        <p:nvSpPr>
          <p:cNvPr id="11" name="Connector 10">
            <a:extLst>
              <a:ext uri="{FF2B5EF4-FFF2-40B4-BE49-F238E27FC236}">
                <a16:creationId xmlns:a16="http://schemas.microsoft.com/office/drawing/2014/main" xmlns="" id="{497ACEC7-2E24-4DCF-B8CD-6D0C3399E477}"/>
              </a:ext>
            </a:extLst>
          </p:cNvPr>
          <p:cNvSpPr>
            <a:spLocks noGrp="1"/>
          </p:cNvSpPr>
          <p:nvPr/>
        </p:nvSpPr>
        <p:spPr>
          <a:xfrm>
            <a:off x="3977639" y="2542032"/>
            <a:ext cx="667513"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2" name="Connector 11">
            <a:extLst>
              <a:ext uri="{FF2B5EF4-FFF2-40B4-BE49-F238E27FC236}">
                <a16:creationId xmlns:a16="http://schemas.microsoft.com/office/drawing/2014/main" xmlns="" id="{FB6DB881-7A5D-4561-9DED-CA28EA5DD90C}"/>
              </a:ext>
            </a:extLst>
          </p:cNvPr>
          <p:cNvSpPr>
            <a:spLocks noGrp="1"/>
          </p:cNvSpPr>
          <p:nvPr/>
        </p:nvSpPr>
        <p:spPr>
          <a:xfrm>
            <a:off x="7452360" y="2542032"/>
            <a:ext cx="704088" cy="0"/>
          </a:xfrm>
          <a:prstGeom prst="line">
            <a:avLst/>
          </a:prstGeom>
          <a:ln w="25400">
            <a:solidFill>
              <a:srgbClr val="40319B"/>
            </a:solidFill>
          </a:ln>
        </p:spPr>
        <p:style>
          <a:lnRef idx="2">
            <a:schemeClr val="accent1"/>
          </a:lnRef>
          <a:fillRef idx="0">
            <a:schemeClr val="accent1"/>
          </a:fillRef>
          <a:effectRef idx="1">
            <a:schemeClr val="accent1"/>
          </a:effectRef>
          <a:fontRef idx="minor">
            <a:schemeClr val="tx1"/>
          </a:fontRef>
        </p:style>
      </p:sp>
      <p:sp>
        <p:nvSpPr>
          <p:cNvPr id="13" name="Rounded Rectangle 12">
            <a:extLst>
              <a:ext uri="{FF2B5EF4-FFF2-40B4-BE49-F238E27FC236}">
                <a16:creationId xmlns:a16="http://schemas.microsoft.com/office/drawing/2014/main" xmlns="" id="{060E9943-4397-45AF-9124-34ADA8550B70}"/>
              </a:ext>
            </a:extLst>
          </p:cNvPr>
          <p:cNvSpPr>
            <a:spLocks noGrp="1"/>
          </p:cNvSpPr>
          <p:nvPr/>
        </p:nvSpPr>
        <p:spPr>
          <a:xfrm>
            <a:off x="1051560" y="3977639"/>
            <a:ext cx="10104120" cy="777240"/>
          </a:xfrm>
          <a:prstGeom prst="roundRect">
            <a:avLst/>
          </a:prstGeom>
          <a:solidFill>
            <a:srgbClr val="FFF3DA"/>
          </a:solidFill>
          <a:ln w="12700">
            <a:solidFill>
              <a:srgbClr val="A55D00"/>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500" b="1">
                <a:solidFill>
                  <a:srgbClr val="1F2937"/>
                </a:solidFill>
                <a:latin typeface="Aptos"/>
                <a:ea typeface="Aptos"/>
                <a:cs typeface="Aptos"/>
              </a:rPr>
              <a:t>Therefore, the critical skill is not writing every Python line by hand. It is writing a programming prompt clear enough that Claude can produce the program.</a:t>
            </a:r>
          </a:p>
        </p:txBody>
      </p:sp>
      <p:sp>
        <p:nvSpPr>
          <p:cNvPr id="14" name="Rounded Rectangle 13">
            <a:extLst>
              <a:ext uri="{FF2B5EF4-FFF2-40B4-BE49-F238E27FC236}">
                <a16:creationId xmlns:a16="http://schemas.microsoft.com/office/drawing/2014/main" xmlns="" id="{4D9229A4-6656-48E0-A1A9-A993F34D3CEC}"/>
              </a:ext>
            </a:extLst>
          </p:cNvPr>
          <p:cNvSpPr>
            <a:spLocks noGrp="1"/>
          </p:cNvSpPr>
          <p:nvPr/>
        </p:nvSpPr>
        <p:spPr>
          <a:xfrm>
            <a:off x="1554480" y="5257800"/>
            <a:ext cx="9098280" cy="384048"/>
          </a:xfrm>
          <a:prstGeom prst="roundRect">
            <a:avLst/>
          </a:prstGeom>
          <a:solidFill>
            <a:srgbClr val="FFFFFF"/>
          </a:solidFill>
          <a:ln w="12700">
            <a:solidFill>
              <a:srgbClr val="5C4BC8"/>
            </a:solidFill>
          </a:ln>
        </p:spPr>
        <p:style>
          <a:lnRef idx="1">
            <a:schemeClr val="accent1"/>
          </a:lnRef>
          <a:fillRef idx="3">
            <a:schemeClr val="accent1"/>
          </a:fillRef>
          <a:effectRef idx="2">
            <a:schemeClr val="accent1"/>
          </a:effectRef>
          <a:fontRef idx="minor">
            <a:schemeClr val="lt1"/>
          </a:fontRef>
        </p:style>
        <p:txBody>
          <a:bodyPr lIns="73152" tIns="73152" rIns="73152" bIns="73152" anchor="ctr"/>
          <a:lstStyle/>
          <a:p>
            <a:pPr algn="ctr">
              <a:buNone/>
            </a:pPr>
            <a:r>
              <a:rPr sz="1350" b="0">
                <a:solidFill>
                  <a:srgbClr val="1F2937"/>
                </a:solidFill>
                <a:latin typeface="Aptos"/>
                <a:ea typeface="Aptos"/>
                <a:cs typeface="Aptos"/>
              </a:rPr>
              <a:t>The rest of the deck explains the desired outputs, the five-phase pipeline, and the rules that make the prompt precise.</a:t>
            </a:r>
          </a:p>
        </p:txBody>
      </p:sp>
      <p:sp>
        <p:nvSpPr>
          <p:cNvPr id="15" name="Slide Number Placeholder 14"/>
          <p:cNvSpPr>
            <a:spLocks noGrp="1"/>
          </p:cNvSpPr>
          <p:nvPr>
            <p:ph type="sldNum" idx="12"/>
          </p:nvPr>
        </p:nvSpPr>
        <p:spPr/>
        <p:txBody>
          <a:bodyPr/>
          <a:lstStyle/>
          <a:p>
            <a:fld id="{33749B41-47CE-4FC4-9498-EEF687BF6FCF}" type="slidenum">
              <a:rPr lang="en-US" smtClean="0"/>
              <a:pPr/>
              <a:t>5</a:t>
            </a:fld>
            <a:endParaRPr lang="en-US"/>
          </a:p>
        </p:txBody>
      </p:sp>
    </p:spTree>
    <p:extLst>
      <p:ext uri="{BB962C8B-B14F-4D97-AF65-F5344CB8AC3E}">
        <p14:creationId xmlns:p14="http://schemas.microsoft.com/office/powerpoint/2010/main" val="26958511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67924E7-DE05-424F-91D9-B04152CAC2A6}"/>
              </a:ext>
            </a:extLst>
          </p:cNvPr>
          <p:cNvSpPr>
            <a:spLocks noGrp="1"/>
          </p:cNvSpPr>
          <p:nvPr/>
        </p:nvSpPr>
        <p:spPr>
          <a:xfrm>
            <a:off x="2" y="9053"/>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5177FD4B-7E1C-40A9-B311-090D24054A9C}"/>
              </a:ext>
            </a:extLst>
          </p:cNvPr>
          <p:cNvSpPr>
            <a:spLocks noGrp="1"/>
          </p:cNvSpPr>
          <p:nvPr/>
        </p:nvSpPr>
        <p:spPr>
          <a:xfrm>
            <a:off x="640080" y="1417320"/>
            <a:ext cx="10881360" cy="1234440"/>
          </a:xfrm>
          <a:prstGeom prst="rect">
            <a:avLst/>
          </a:prstGeom>
          <a:noFill/>
        </p:spPr>
        <p:txBody>
          <a:bodyPr wrap="square" lIns="254" tIns="254" rIns="254" bIns="254" anchor="ctr">
            <a:normAutofit lnSpcReduction="10000"/>
          </a:bodyPr>
          <a:lstStyle/>
          <a:p>
            <a:pPr marL="0" indent="0" algn="ctr">
              <a:buNone/>
            </a:pPr>
            <a:r>
              <a:rPr sz="4200" b="1" dirty="0">
                <a:solidFill>
                  <a:srgbClr val="1F2937"/>
                </a:solidFill>
              </a:rPr>
              <a:t>Programmable LLM Agent</a:t>
            </a:r>
          </a:p>
          <a:p>
            <a:pPr marL="0" indent="0" algn="ctr">
              <a:buNone/>
            </a:pPr>
            <a:r>
              <a:rPr sz="4200" b="1" dirty="0" smtClean="0">
                <a:solidFill>
                  <a:srgbClr val="1F2937"/>
                </a:solidFill>
              </a:rPr>
              <a:t>Appli</a:t>
            </a:r>
            <a:r>
              <a:rPr lang="en-US" sz="4200" b="1" dirty="0" smtClean="0">
                <a:solidFill>
                  <a:srgbClr val="1F2937"/>
                </a:solidFill>
              </a:rPr>
              <a:t>cable</a:t>
            </a:r>
            <a:r>
              <a:rPr sz="4200" b="1" dirty="0" smtClean="0">
                <a:solidFill>
                  <a:srgbClr val="1F2937"/>
                </a:solidFill>
              </a:rPr>
              <a:t> </a:t>
            </a:r>
            <a:r>
              <a:rPr sz="4200" b="1" dirty="0">
                <a:solidFill>
                  <a:srgbClr val="1F2937"/>
                </a:solidFill>
              </a:rPr>
              <a:t>to </a:t>
            </a:r>
            <a:r>
              <a:rPr lang="en-US" sz="4200" b="1" dirty="0" smtClean="0">
                <a:solidFill>
                  <a:srgbClr val="1F2937"/>
                </a:solidFill>
              </a:rPr>
              <a:t>Financial</a:t>
            </a:r>
            <a:r>
              <a:rPr sz="4200" b="1" dirty="0" smtClean="0">
                <a:solidFill>
                  <a:srgbClr val="1F2937"/>
                </a:solidFill>
              </a:rPr>
              <a:t> </a:t>
            </a:r>
            <a:r>
              <a:rPr sz="4200" b="1" dirty="0">
                <a:solidFill>
                  <a:srgbClr val="1F2937"/>
                </a:solidFill>
              </a:rPr>
              <a:t>Channels</a:t>
            </a:r>
          </a:p>
        </p:txBody>
      </p:sp>
      <p:sp>
        <p:nvSpPr>
          <p:cNvPr id="4" name="Text 2">
            <a:extLst>
              <a:ext uri="{FF2B5EF4-FFF2-40B4-BE49-F238E27FC236}">
                <a16:creationId xmlns:a16="http://schemas.microsoft.com/office/drawing/2014/main" xmlns="" id="{024A591D-A11F-4A84-AF1E-5C2320AD02DD}"/>
              </a:ext>
            </a:extLst>
          </p:cNvPr>
          <p:cNvSpPr>
            <a:spLocks noGrp="1"/>
          </p:cNvSpPr>
          <p:nvPr/>
        </p:nvSpPr>
        <p:spPr>
          <a:xfrm>
            <a:off x="1097280" y="2880360"/>
            <a:ext cx="9966960" cy="438912"/>
          </a:xfrm>
          <a:prstGeom prst="rect">
            <a:avLst/>
          </a:prstGeom>
          <a:noFill/>
        </p:spPr>
        <p:txBody>
          <a:bodyPr wrap="square" lIns="254" tIns="254" rIns="254" bIns="254" anchor="ctr"/>
          <a:lstStyle/>
          <a:p>
            <a:pPr marL="0" indent="0" algn="ctr">
              <a:buNone/>
            </a:pPr>
            <a:r>
              <a:rPr sz="2000" dirty="0">
                <a:solidFill>
                  <a:srgbClr val="596273"/>
                </a:solidFill>
              </a:rPr>
              <a:t>Clear expanded version for </a:t>
            </a:r>
            <a:r>
              <a:rPr sz="2000" dirty="0" smtClean="0">
                <a:solidFill>
                  <a:srgbClr val="596273"/>
                </a:solidFill>
              </a:rPr>
              <a:t>a</a:t>
            </a:r>
            <a:r>
              <a:rPr lang="en-US" sz="2000" dirty="0" smtClean="0">
                <a:solidFill>
                  <a:srgbClr val="596273"/>
                </a:solidFill>
              </a:rPr>
              <a:t> reader</a:t>
            </a:r>
            <a:r>
              <a:rPr sz="2000" dirty="0" smtClean="0">
                <a:solidFill>
                  <a:srgbClr val="596273"/>
                </a:solidFill>
              </a:rPr>
              <a:t> </a:t>
            </a:r>
            <a:r>
              <a:rPr sz="2000" dirty="0">
                <a:solidFill>
                  <a:srgbClr val="596273"/>
                </a:solidFill>
              </a:rPr>
              <a:t>with almost no programming background</a:t>
            </a:r>
          </a:p>
        </p:txBody>
      </p:sp>
      <p:sp>
        <p:nvSpPr>
          <p:cNvPr id="5" name="Text 3">
            <a:extLst>
              <a:ext uri="{FF2B5EF4-FFF2-40B4-BE49-F238E27FC236}">
                <a16:creationId xmlns:a16="http://schemas.microsoft.com/office/drawing/2014/main" xmlns="" id="{91ED49A8-1B30-4EFD-8C48-4315BA766486}"/>
              </a:ext>
            </a:extLst>
          </p:cNvPr>
          <p:cNvSpPr>
            <a:spLocks noGrp="1"/>
          </p:cNvSpPr>
          <p:nvPr/>
        </p:nvSpPr>
        <p:spPr>
          <a:xfrm>
            <a:off x="2011680" y="3856776"/>
            <a:ext cx="8138160" cy="898104"/>
          </a:xfrm>
          <a:prstGeom prst="rect">
            <a:avLst/>
          </a:prstGeom>
          <a:solidFill>
            <a:srgbClr val="E7F6EF"/>
          </a:solidFill>
          <a:ln w="15240">
            <a:solidFill>
              <a:srgbClr val="0E6B46"/>
            </a:solidFill>
          </a:ln>
        </p:spPr>
        <p:txBody>
          <a:bodyPr wrap="square" lIns="1778" tIns="1778" rIns="1778" bIns="1778" anchor="ctr">
            <a:normAutofit fontScale="85000" lnSpcReduction="20000"/>
          </a:bodyPr>
          <a:lstStyle/>
          <a:p>
            <a:endParaRPr lang="en-US" sz="2000" b="1" dirty="0" smtClean="0">
              <a:solidFill>
                <a:srgbClr val="1F2937"/>
              </a:solidFill>
            </a:endParaRPr>
          </a:p>
          <a:p>
            <a:r>
              <a:rPr lang="en-US" sz="2000" b="1" dirty="0" smtClean="0">
                <a:solidFill>
                  <a:srgbClr val="1F2937"/>
                </a:solidFill>
              </a:rPr>
              <a:t>Main idea: use the LLMA itself to turn hundreds or thousands of messy video transcripts into a structured compendium that the LLMA can efficiently search while minimizing  costs.</a:t>
            </a:r>
          </a:p>
          <a:p>
            <a:pPr marL="0" indent="0">
              <a:buNone/>
            </a:pPr>
            <a:endParaRPr sz="2000" b="1" dirty="0">
              <a:solidFill>
                <a:srgbClr val="1F2937"/>
              </a:solidFill>
            </a:endParaRPr>
          </a:p>
        </p:txBody>
      </p:sp>
      <p:sp>
        <p:nvSpPr>
          <p:cNvPr id="6" name="Text 4">
            <a:extLst>
              <a:ext uri="{FF2B5EF4-FFF2-40B4-BE49-F238E27FC236}">
                <a16:creationId xmlns:a16="http://schemas.microsoft.com/office/drawing/2014/main" xmlns="" id="{35B920F8-48DD-4684-B52A-A2D0CC7D5C07}"/>
              </a:ext>
            </a:extLst>
          </p:cNvPr>
          <p:cNvSpPr>
            <a:spLocks noGrp="1"/>
          </p:cNvSpPr>
          <p:nvPr/>
        </p:nvSpPr>
        <p:spPr>
          <a:xfrm>
            <a:off x="2926080" y="5074920"/>
            <a:ext cx="6309360" cy="320040"/>
          </a:xfrm>
          <a:prstGeom prst="rect">
            <a:avLst/>
          </a:prstGeom>
          <a:noFill/>
        </p:spPr>
        <p:txBody>
          <a:bodyPr wrap="square" lIns="0" tIns="0" rIns="0" bIns="0" anchor="ctr"/>
          <a:lstStyle/>
          <a:p>
            <a:pPr marL="0" indent="0" algn="ctr">
              <a:buNone/>
            </a:pPr>
            <a:r>
              <a:rPr sz="1600">
                <a:solidFill>
                  <a:srgbClr val="596273"/>
                </a:solidFill>
              </a:rPr>
              <a:t>Output: compendium.md + unverifiable_claims.md</a:t>
            </a:r>
          </a:p>
        </p:txBody>
      </p:sp>
    </p:spTree>
    <p:extLst>
      <p:ext uri="{BB962C8B-B14F-4D97-AF65-F5344CB8AC3E}">
        <p14:creationId xmlns:p14="http://schemas.microsoft.com/office/powerpoint/2010/main" val="18266012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12D3E29-E542-4323-9918-C2F4E48500F3}"/>
              </a:ext>
            </a:extLst>
          </p:cNvPr>
          <p:cNvSpPr>
            <a:spLocks noGrp="1"/>
          </p:cNvSpPr>
          <p:nvPr/>
        </p:nvSpPr>
        <p:spPr>
          <a:xfrm>
            <a:off x="2" y="18106"/>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5F651B50-3F81-46D0-BCE4-46A1F846CCE3}"/>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4866B18A-051A-43DE-9281-C11A1E084B26}"/>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B28375E4-05E6-4B82-A8C7-01C3F7BA22B0}"/>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4450D3AA-7AD6-4A11-8F5B-D1A1806F347F}"/>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problem in one sentence</a:t>
            </a:r>
          </a:p>
        </p:txBody>
      </p:sp>
      <p:sp>
        <p:nvSpPr>
          <p:cNvPr id="7" name="Text 5">
            <a:extLst>
              <a:ext uri="{FF2B5EF4-FFF2-40B4-BE49-F238E27FC236}">
                <a16:creationId xmlns:a16="http://schemas.microsoft.com/office/drawing/2014/main" xmlns="" id="{1D767F87-7AD9-4A9F-AF69-0499576FED13}"/>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YouTube channel can contain far more information than an LLM can read in one conversation.</a:t>
            </a:r>
          </a:p>
        </p:txBody>
      </p:sp>
      <p:sp>
        <p:nvSpPr>
          <p:cNvPr id="8" name="Text 6">
            <a:extLst>
              <a:ext uri="{FF2B5EF4-FFF2-40B4-BE49-F238E27FC236}">
                <a16:creationId xmlns:a16="http://schemas.microsoft.com/office/drawing/2014/main" xmlns="" id="{93F1FFE3-1E45-419B-976C-1F6DD848F8A3}"/>
              </a:ext>
            </a:extLst>
          </p:cNvPr>
          <p:cNvSpPr>
            <a:spLocks noGrp="1"/>
          </p:cNvSpPr>
          <p:nvPr/>
        </p:nvSpPr>
        <p:spPr>
          <a:xfrm>
            <a:off x="731520" y="1874520"/>
            <a:ext cx="10698480" cy="1005840"/>
          </a:xfrm>
          <a:prstGeom prst="rect">
            <a:avLst/>
          </a:prstGeom>
          <a:solidFill>
            <a:srgbClr val="FFF3DA"/>
          </a:solidFill>
          <a:ln w="15240">
            <a:solidFill>
              <a:srgbClr val="A55D00"/>
            </a:solidFill>
          </a:ln>
        </p:spPr>
        <p:txBody>
          <a:bodyPr wrap="square" lIns="1778" tIns="1778" rIns="1778" bIns="1778" anchor="ctr">
            <a:normAutofit fontScale="92500" lnSpcReduction="20000"/>
          </a:bodyPr>
          <a:lstStyle/>
          <a:p>
            <a:pPr marL="0" indent="0">
              <a:buNone/>
            </a:pPr>
            <a:r>
              <a:rPr sz="2200" b="1" dirty="0">
                <a:solidFill>
                  <a:srgbClr val="1F2937"/>
                </a:solidFill>
              </a:rPr>
              <a:t>You want to ask questions about the whole channel, but the channel is too large, too messy, and too repetitive to paste into Claude or </a:t>
            </a:r>
            <a:r>
              <a:rPr sz="2200" b="1" dirty="0" err="1" smtClean="0">
                <a:solidFill>
                  <a:srgbClr val="1F2937"/>
                </a:solidFill>
              </a:rPr>
              <a:t>ChatGPT</a:t>
            </a:r>
            <a:r>
              <a:rPr lang="en-US" sz="2200" b="1" dirty="0" smtClean="0">
                <a:solidFill>
                  <a:srgbClr val="1F2937"/>
                </a:solidFill>
              </a:rPr>
              <a:t> (Even if Claude could take care of the whole project by itself, the task could become too expensive if we use just Claude instead of a combo of Claude &amp; </a:t>
            </a:r>
            <a:r>
              <a:rPr lang="en-US" sz="2200" b="1" dirty="0" err="1" smtClean="0">
                <a:solidFill>
                  <a:srgbClr val="1F2937"/>
                </a:solidFill>
              </a:rPr>
              <a:t>DeepSeek</a:t>
            </a:r>
            <a:r>
              <a:rPr lang="en-US" sz="2200" b="1" dirty="0" smtClean="0">
                <a:solidFill>
                  <a:srgbClr val="1F2937"/>
                </a:solidFill>
              </a:rPr>
              <a:t>, as we will explain in a moment)</a:t>
            </a:r>
            <a:endParaRPr sz="2200" b="1" dirty="0">
              <a:solidFill>
                <a:srgbClr val="1F2937"/>
              </a:solidFill>
            </a:endParaRPr>
          </a:p>
        </p:txBody>
      </p:sp>
      <p:sp>
        <p:nvSpPr>
          <p:cNvPr id="9" name="Text 7">
            <a:extLst>
              <a:ext uri="{FF2B5EF4-FFF2-40B4-BE49-F238E27FC236}">
                <a16:creationId xmlns:a16="http://schemas.microsoft.com/office/drawing/2014/main" xmlns="" id="{CCD7F8A5-1627-450D-95C9-C14893F3D476}"/>
              </a:ext>
            </a:extLst>
          </p:cNvPr>
          <p:cNvSpPr>
            <a:spLocks noGrp="1"/>
          </p:cNvSpPr>
          <p:nvPr/>
        </p:nvSpPr>
        <p:spPr>
          <a:xfrm>
            <a:off x="960120" y="337413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0" name="Text 8">
            <a:extLst>
              <a:ext uri="{FF2B5EF4-FFF2-40B4-BE49-F238E27FC236}">
                <a16:creationId xmlns:a16="http://schemas.microsoft.com/office/drawing/2014/main" xmlns="" id="{91B2AE86-CDF4-47BF-8487-B7B08B13034D}"/>
              </a:ext>
            </a:extLst>
          </p:cNvPr>
          <p:cNvSpPr>
            <a:spLocks noGrp="1"/>
          </p:cNvSpPr>
          <p:nvPr/>
        </p:nvSpPr>
        <p:spPr>
          <a:xfrm>
            <a:off x="1289304" y="3337560"/>
            <a:ext cx="9729216" cy="438912"/>
          </a:xfrm>
          <a:prstGeom prst="rect">
            <a:avLst/>
          </a:prstGeom>
          <a:noFill/>
        </p:spPr>
        <p:txBody>
          <a:bodyPr wrap="square" lIns="254" tIns="254" rIns="254" bIns="254" anchor="ctr">
            <a:normAutofit/>
          </a:bodyPr>
          <a:lstStyle/>
          <a:p>
            <a:pPr marL="0" indent="0">
              <a:buNone/>
            </a:pPr>
            <a:r>
              <a:rPr sz="2100">
                <a:solidFill>
                  <a:srgbClr val="1F2937"/>
                </a:solidFill>
              </a:rPr>
              <a:t>Many videos repeat the same ideas in different words.</a:t>
            </a:r>
          </a:p>
        </p:txBody>
      </p:sp>
      <p:sp>
        <p:nvSpPr>
          <p:cNvPr id="11" name="Text 9">
            <a:extLst>
              <a:ext uri="{FF2B5EF4-FFF2-40B4-BE49-F238E27FC236}">
                <a16:creationId xmlns:a16="http://schemas.microsoft.com/office/drawing/2014/main" xmlns="" id="{B91BF242-B6D8-4979-B943-95E2C4590C2C}"/>
              </a:ext>
            </a:extLst>
          </p:cNvPr>
          <p:cNvSpPr>
            <a:spLocks noGrp="1"/>
          </p:cNvSpPr>
          <p:nvPr/>
        </p:nvSpPr>
        <p:spPr>
          <a:xfrm>
            <a:off x="960120" y="394106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2" name="Text 10">
            <a:extLst>
              <a:ext uri="{FF2B5EF4-FFF2-40B4-BE49-F238E27FC236}">
                <a16:creationId xmlns:a16="http://schemas.microsoft.com/office/drawing/2014/main" xmlns="" id="{CBE8DBF2-7180-419B-AE6C-325D2FAD7169}"/>
              </a:ext>
            </a:extLst>
          </p:cNvPr>
          <p:cNvSpPr>
            <a:spLocks noGrp="1"/>
          </p:cNvSpPr>
          <p:nvPr/>
        </p:nvSpPr>
        <p:spPr>
          <a:xfrm>
            <a:off x="1289304" y="3904488"/>
            <a:ext cx="9729216" cy="438912"/>
          </a:xfrm>
          <a:prstGeom prst="rect">
            <a:avLst/>
          </a:prstGeom>
          <a:noFill/>
        </p:spPr>
        <p:txBody>
          <a:bodyPr wrap="square" lIns="254" tIns="254" rIns="254" bIns="254" anchor="ctr">
            <a:normAutofit/>
          </a:bodyPr>
          <a:lstStyle/>
          <a:p>
            <a:pPr marL="0" indent="0">
              <a:buNone/>
            </a:pPr>
            <a:r>
              <a:rPr sz="2100">
                <a:solidFill>
                  <a:srgbClr val="1F2937"/>
                </a:solidFill>
              </a:rPr>
              <a:t>Some statements are factual claims that may need checking later.</a:t>
            </a:r>
          </a:p>
        </p:txBody>
      </p:sp>
      <p:sp>
        <p:nvSpPr>
          <p:cNvPr id="13" name="Text 11">
            <a:extLst>
              <a:ext uri="{FF2B5EF4-FFF2-40B4-BE49-F238E27FC236}">
                <a16:creationId xmlns:a16="http://schemas.microsoft.com/office/drawing/2014/main" xmlns="" id="{752379C3-52CE-4AB8-A7F3-108187025FD4}"/>
              </a:ext>
            </a:extLst>
          </p:cNvPr>
          <p:cNvSpPr>
            <a:spLocks noGrp="1"/>
          </p:cNvSpPr>
          <p:nvPr/>
        </p:nvSpPr>
        <p:spPr>
          <a:xfrm>
            <a:off x="960120" y="450799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4" name="Text 12">
            <a:extLst>
              <a:ext uri="{FF2B5EF4-FFF2-40B4-BE49-F238E27FC236}">
                <a16:creationId xmlns:a16="http://schemas.microsoft.com/office/drawing/2014/main" xmlns="" id="{EBE6D4A7-D443-4373-B0AB-E0A97927CD3A}"/>
              </a:ext>
            </a:extLst>
          </p:cNvPr>
          <p:cNvSpPr>
            <a:spLocks noGrp="1"/>
          </p:cNvSpPr>
          <p:nvPr/>
        </p:nvSpPr>
        <p:spPr>
          <a:xfrm>
            <a:off x="1289304" y="4471416"/>
            <a:ext cx="9729216" cy="438912"/>
          </a:xfrm>
          <a:prstGeom prst="rect">
            <a:avLst/>
          </a:prstGeom>
          <a:noFill/>
        </p:spPr>
        <p:txBody>
          <a:bodyPr wrap="square" lIns="254" tIns="254" rIns="254" bIns="254" anchor="ctr">
            <a:normAutofit/>
          </a:bodyPr>
          <a:lstStyle/>
          <a:p>
            <a:pPr marL="0" indent="0">
              <a:buNone/>
            </a:pPr>
            <a:r>
              <a:rPr sz="2100">
                <a:solidFill>
                  <a:srgbClr val="1F2937"/>
                </a:solidFill>
              </a:rPr>
              <a:t>The goal is to compress the channel without destroying its intellectual structure.</a:t>
            </a:r>
          </a:p>
        </p:txBody>
      </p:sp>
    </p:spTree>
    <p:extLst>
      <p:ext uri="{BB962C8B-B14F-4D97-AF65-F5344CB8AC3E}">
        <p14:creationId xmlns:p14="http://schemas.microsoft.com/office/powerpoint/2010/main" val="11414938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FD2C8FA3-2857-4DA3-A5FD-DF49DB380FD2}"/>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602632EE-47CA-4B80-A805-1B58A1F33950}"/>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D7886FF9-4B70-4913-AB32-67605F413A12}"/>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441EA293-D5FD-49B1-A589-37CA2EDFABFB}"/>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E1DC81B4-39D5-41AA-A025-06A9B40C77B7}"/>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What the system is trying to build</a:t>
            </a:r>
          </a:p>
        </p:txBody>
      </p:sp>
      <p:sp>
        <p:nvSpPr>
          <p:cNvPr id="7" name="Text 5">
            <a:extLst>
              <a:ext uri="{FF2B5EF4-FFF2-40B4-BE49-F238E27FC236}">
                <a16:creationId xmlns:a16="http://schemas.microsoft.com/office/drawing/2014/main" xmlns="" id="{22A2241A-386B-4A02-B51F-F58CBE19849C}"/>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structured knowledge base, not just a short summary.</a:t>
            </a:r>
          </a:p>
        </p:txBody>
      </p:sp>
      <p:sp>
        <p:nvSpPr>
          <p:cNvPr id="8" name="Text 6">
            <a:extLst>
              <a:ext uri="{FF2B5EF4-FFF2-40B4-BE49-F238E27FC236}">
                <a16:creationId xmlns:a16="http://schemas.microsoft.com/office/drawing/2014/main" xmlns="" id="{8E43C9D8-CD3D-407E-9B95-66ABC1F0F099}"/>
              </a:ext>
            </a:extLst>
          </p:cNvPr>
          <p:cNvSpPr>
            <a:spLocks noGrp="1"/>
          </p:cNvSpPr>
          <p:nvPr/>
        </p:nvSpPr>
        <p:spPr>
          <a:xfrm>
            <a:off x="868680" y="2103120"/>
            <a:ext cx="2926080" cy="100584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2000" b="1">
                <a:solidFill>
                  <a:srgbClr val="1F2937"/>
                </a:solidFill>
              </a:rPr>
              <a:t>Raw transcripts</a:t>
            </a:r>
          </a:p>
          <a:p>
            <a:pPr marL="0" indent="0" algn="ctr">
              <a:buNone/>
            </a:pPr>
            <a:r>
              <a:rPr sz="2000" b="1">
                <a:solidFill>
                  <a:srgbClr val="1F2937"/>
                </a:solidFill>
              </a:rPr>
              <a:t>Many speeches, many repeats</a:t>
            </a:r>
          </a:p>
        </p:txBody>
      </p:sp>
      <p:sp>
        <p:nvSpPr>
          <p:cNvPr id="9" name="Shape 7">
            <a:extLst>
              <a:ext uri="{FF2B5EF4-FFF2-40B4-BE49-F238E27FC236}">
                <a16:creationId xmlns:a16="http://schemas.microsoft.com/office/drawing/2014/main" xmlns="" id="{9AD1660B-5D8C-488C-8696-54F919CE5B3D}"/>
              </a:ext>
            </a:extLst>
          </p:cNvPr>
          <p:cNvSpPr>
            <a:spLocks noGrp="1"/>
          </p:cNvSpPr>
          <p:nvPr/>
        </p:nvSpPr>
        <p:spPr>
          <a:xfrm>
            <a:off x="3886200" y="2606040"/>
            <a:ext cx="128016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EC5941F0-C364-47ED-9094-A180A397798C}"/>
              </a:ext>
            </a:extLst>
          </p:cNvPr>
          <p:cNvSpPr>
            <a:spLocks noGrp="1"/>
          </p:cNvSpPr>
          <p:nvPr/>
        </p:nvSpPr>
        <p:spPr>
          <a:xfrm>
            <a:off x="5349240" y="2103120"/>
            <a:ext cx="2926080" cy="100584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2000" b="1">
                <a:solidFill>
                  <a:srgbClr val="1F2937"/>
                </a:solidFill>
              </a:rPr>
              <a:t>LLM pipeline</a:t>
            </a:r>
          </a:p>
          <a:p>
            <a:pPr marL="0" indent="0" algn="ctr">
              <a:buNone/>
            </a:pPr>
            <a:r>
              <a:rPr sz="2000" b="1">
                <a:solidFill>
                  <a:srgbClr val="1F2937"/>
                </a:solidFill>
              </a:rPr>
              <a:t>Sort, merge, label, synthesize</a:t>
            </a:r>
          </a:p>
        </p:txBody>
      </p:sp>
      <p:sp>
        <p:nvSpPr>
          <p:cNvPr id="11" name="Shape 9">
            <a:extLst>
              <a:ext uri="{FF2B5EF4-FFF2-40B4-BE49-F238E27FC236}">
                <a16:creationId xmlns:a16="http://schemas.microsoft.com/office/drawing/2014/main" xmlns="" id="{31E0BF9F-96A9-4F4D-B22C-69DAD63A0D8D}"/>
              </a:ext>
            </a:extLst>
          </p:cNvPr>
          <p:cNvSpPr>
            <a:spLocks noGrp="1"/>
          </p:cNvSpPr>
          <p:nvPr/>
        </p:nvSpPr>
        <p:spPr>
          <a:xfrm>
            <a:off x="8366760" y="2606040"/>
            <a:ext cx="128016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4F3123D4-2005-43E1-873E-B27A939F509E}"/>
              </a:ext>
            </a:extLst>
          </p:cNvPr>
          <p:cNvSpPr>
            <a:spLocks noGrp="1"/>
          </p:cNvSpPr>
          <p:nvPr/>
        </p:nvSpPr>
        <p:spPr>
          <a:xfrm>
            <a:off x="9829800" y="2103120"/>
            <a:ext cx="1783080" cy="100584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700" b="1">
                <a:solidFill>
                  <a:srgbClr val="1F2937"/>
                </a:solidFill>
              </a:rPr>
              <a:t>Compendium</a:t>
            </a:r>
          </a:p>
          <a:p>
            <a:pPr marL="0" indent="0" algn="ctr">
              <a:buNone/>
            </a:pPr>
            <a:r>
              <a:rPr sz="1700" b="1">
                <a:solidFill>
                  <a:srgbClr val="1F2937"/>
                </a:solidFill>
              </a:rPr>
              <a:t>Chapters, themes, evidence</a:t>
            </a:r>
          </a:p>
        </p:txBody>
      </p:sp>
      <p:sp>
        <p:nvSpPr>
          <p:cNvPr id="13" name="Text 11">
            <a:extLst>
              <a:ext uri="{FF2B5EF4-FFF2-40B4-BE49-F238E27FC236}">
                <a16:creationId xmlns:a16="http://schemas.microsoft.com/office/drawing/2014/main" xmlns="" id="{051FB266-4DE6-444C-B08C-913FDF9E37E6}"/>
              </a:ext>
            </a:extLst>
          </p:cNvPr>
          <p:cNvSpPr>
            <a:spLocks noGrp="1"/>
          </p:cNvSpPr>
          <p:nvPr/>
        </p:nvSpPr>
        <p:spPr>
          <a:xfrm>
            <a:off x="1051560" y="4160520"/>
            <a:ext cx="10058400" cy="868680"/>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a:solidFill>
                  <a:srgbClr val="1F2937"/>
                </a:solidFill>
              </a:rPr>
              <a:t>A good compendium should let you ask: “What does this speaker repeatedly argue, what evidence is used, and how did the argument change over time?”</a:t>
            </a:r>
          </a:p>
        </p:txBody>
      </p:sp>
    </p:spTree>
    <p:extLst>
      <p:ext uri="{BB962C8B-B14F-4D97-AF65-F5344CB8AC3E}">
        <p14:creationId xmlns:p14="http://schemas.microsoft.com/office/powerpoint/2010/main" val="10399982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2F696B9D-0F02-444B-8CD0-58870B3F681E}"/>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4A20B914-8B9A-4AFB-B4AE-F340939CFD66}"/>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F8B3E373-55F3-4A18-AED5-AD13700164D3}"/>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426F68D2-6291-4F3A-B36C-77E46C32515F}"/>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246EFF6-0F0A-499B-A2B8-0D94BAA34F33}"/>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Four obstacles</a:t>
            </a:r>
          </a:p>
        </p:txBody>
      </p:sp>
      <p:sp>
        <p:nvSpPr>
          <p:cNvPr id="7" name="Text 5">
            <a:extLst>
              <a:ext uri="{FF2B5EF4-FFF2-40B4-BE49-F238E27FC236}">
                <a16:creationId xmlns:a16="http://schemas.microsoft.com/office/drawing/2014/main" xmlns="" id="{CBB91A44-7F08-42EE-BC0A-E31ED38F1505}"/>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deck begins by explaining why this is not a simple “paste transcripts into Claude” job.</a:t>
            </a:r>
          </a:p>
        </p:txBody>
      </p:sp>
      <p:sp>
        <p:nvSpPr>
          <p:cNvPr id="8" name="Text 6">
            <a:extLst>
              <a:ext uri="{FF2B5EF4-FFF2-40B4-BE49-F238E27FC236}">
                <a16:creationId xmlns:a16="http://schemas.microsoft.com/office/drawing/2014/main" xmlns="" id="{62F432A2-C264-48E7-AAA6-58765ADFC489}"/>
              </a:ext>
            </a:extLst>
          </p:cNvPr>
          <p:cNvSpPr>
            <a:spLocks noGrp="1"/>
          </p:cNvSpPr>
          <p:nvPr/>
        </p:nvSpPr>
        <p:spPr>
          <a:xfrm>
            <a:off x="731520" y="1828800"/>
            <a:ext cx="502920" cy="502920"/>
          </a:xfrm>
          <a:prstGeom prst="rect">
            <a:avLst/>
          </a:prstGeom>
          <a:solidFill>
            <a:srgbClr val="40319B"/>
          </a:solidFill>
          <a:ln>
            <a:solidFill>
              <a:srgbClr val="40319B"/>
            </a:solidFill>
          </a:ln>
        </p:spPr>
        <p:txBody>
          <a:bodyPr wrap="square" lIns="0" tIns="0" rIns="0" bIns="0" anchor="ctr"/>
          <a:lstStyle/>
          <a:p>
            <a:pPr marL="0" indent="0" algn="ctr">
              <a:buNone/>
            </a:pPr>
            <a:r>
              <a:rPr sz="2200" b="1">
                <a:solidFill>
                  <a:srgbClr val="FFFFFF"/>
                </a:solidFill>
              </a:rPr>
              <a:t>1</a:t>
            </a:r>
          </a:p>
        </p:txBody>
      </p:sp>
      <p:sp>
        <p:nvSpPr>
          <p:cNvPr id="9" name="Text 7">
            <a:extLst>
              <a:ext uri="{FF2B5EF4-FFF2-40B4-BE49-F238E27FC236}">
                <a16:creationId xmlns:a16="http://schemas.microsoft.com/office/drawing/2014/main" xmlns="" id="{2E65C241-F1E1-4A50-BD34-E8A75A58EAA5}"/>
              </a:ext>
            </a:extLst>
          </p:cNvPr>
          <p:cNvSpPr>
            <a:spLocks noGrp="1"/>
          </p:cNvSpPr>
          <p:nvPr/>
        </p:nvSpPr>
        <p:spPr>
          <a:xfrm>
            <a:off x="1417320" y="1801368"/>
            <a:ext cx="4480560" cy="292608"/>
          </a:xfrm>
          <a:prstGeom prst="rect">
            <a:avLst/>
          </a:prstGeom>
          <a:noFill/>
        </p:spPr>
        <p:txBody>
          <a:bodyPr wrap="square" lIns="0" tIns="0" rIns="0" bIns="0" anchor="ctr"/>
          <a:lstStyle/>
          <a:p>
            <a:pPr marL="0" indent="0">
              <a:buNone/>
            </a:pPr>
            <a:r>
              <a:rPr sz="2200" b="1">
                <a:solidFill>
                  <a:srgbClr val="1F2937"/>
                </a:solidFill>
              </a:rPr>
              <a:t>Timeout</a:t>
            </a:r>
          </a:p>
        </p:txBody>
      </p:sp>
      <p:sp>
        <p:nvSpPr>
          <p:cNvPr id="10" name="Text 8">
            <a:extLst>
              <a:ext uri="{FF2B5EF4-FFF2-40B4-BE49-F238E27FC236}">
                <a16:creationId xmlns:a16="http://schemas.microsoft.com/office/drawing/2014/main" xmlns="" id="{83EEE67C-1C8B-4B6B-B4A7-1E2B08522CE5}"/>
              </a:ext>
            </a:extLst>
          </p:cNvPr>
          <p:cNvSpPr>
            <a:spLocks noGrp="1"/>
          </p:cNvSpPr>
          <p:nvPr/>
        </p:nvSpPr>
        <p:spPr>
          <a:xfrm>
            <a:off x="1417320" y="2240280"/>
            <a:ext cx="4480560" cy="411480"/>
          </a:xfrm>
          <a:prstGeom prst="rect">
            <a:avLst/>
          </a:prstGeom>
          <a:noFill/>
        </p:spPr>
        <p:txBody>
          <a:bodyPr wrap="square" lIns="254" tIns="254" rIns="254" bIns="254" anchor="ctr">
            <a:normAutofit/>
          </a:bodyPr>
          <a:lstStyle/>
          <a:p>
            <a:pPr marL="0" indent="0">
              <a:buNone/>
            </a:pPr>
            <a:r>
              <a:rPr sz="1700">
                <a:solidFill>
                  <a:srgbClr val="596273"/>
                </a:solidFill>
              </a:rPr>
              <a:t>Long downloads can stop before finishing.</a:t>
            </a:r>
          </a:p>
        </p:txBody>
      </p:sp>
      <p:sp>
        <p:nvSpPr>
          <p:cNvPr id="11" name="Text 9">
            <a:extLst>
              <a:ext uri="{FF2B5EF4-FFF2-40B4-BE49-F238E27FC236}">
                <a16:creationId xmlns:a16="http://schemas.microsoft.com/office/drawing/2014/main" xmlns="" id="{34FB8520-1B0B-432E-A781-E126F5C3454C}"/>
              </a:ext>
            </a:extLst>
          </p:cNvPr>
          <p:cNvSpPr>
            <a:spLocks noGrp="1"/>
          </p:cNvSpPr>
          <p:nvPr/>
        </p:nvSpPr>
        <p:spPr>
          <a:xfrm>
            <a:off x="6309360" y="1828800"/>
            <a:ext cx="502920" cy="502920"/>
          </a:xfrm>
          <a:prstGeom prst="rect">
            <a:avLst/>
          </a:prstGeom>
          <a:solidFill>
            <a:srgbClr val="40319B"/>
          </a:solidFill>
          <a:ln>
            <a:solidFill>
              <a:srgbClr val="40319B"/>
            </a:solidFill>
          </a:ln>
        </p:spPr>
        <p:txBody>
          <a:bodyPr wrap="square" lIns="0" tIns="0" rIns="0" bIns="0" anchor="ctr"/>
          <a:lstStyle/>
          <a:p>
            <a:pPr marL="0" indent="0" algn="ctr">
              <a:buNone/>
            </a:pPr>
            <a:r>
              <a:rPr sz="2200" b="1">
                <a:solidFill>
                  <a:srgbClr val="FFFFFF"/>
                </a:solidFill>
              </a:rPr>
              <a:t>2</a:t>
            </a:r>
          </a:p>
        </p:txBody>
      </p:sp>
      <p:sp>
        <p:nvSpPr>
          <p:cNvPr id="12" name="Text 10">
            <a:extLst>
              <a:ext uri="{FF2B5EF4-FFF2-40B4-BE49-F238E27FC236}">
                <a16:creationId xmlns:a16="http://schemas.microsoft.com/office/drawing/2014/main" xmlns="" id="{C48B7DF1-1EAA-41C9-A89E-BCB6E06AA466}"/>
              </a:ext>
            </a:extLst>
          </p:cNvPr>
          <p:cNvSpPr>
            <a:spLocks noGrp="1"/>
          </p:cNvSpPr>
          <p:nvPr/>
        </p:nvSpPr>
        <p:spPr>
          <a:xfrm>
            <a:off x="6995160" y="1801368"/>
            <a:ext cx="4480560" cy="292608"/>
          </a:xfrm>
          <a:prstGeom prst="rect">
            <a:avLst/>
          </a:prstGeom>
          <a:noFill/>
        </p:spPr>
        <p:txBody>
          <a:bodyPr wrap="square" lIns="0" tIns="0" rIns="0" bIns="0" anchor="ctr"/>
          <a:lstStyle/>
          <a:p>
            <a:pPr marL="0" indent="0">
              <a:buNone/>
            </a:pPr>
            <a:r>
              <a:rPr sz="2200" b="1">
                <a:solidFill>
                  <a:srgbClr val="1F2937"/>
                </a:solidFill>
              </a:rPr>
              <a:t>Context</a:t>
            </a:r>
          </a:p>
        </p:txBody>
      </p:sp>
      <p:sp>
        <p:nvSpPr>
          <p:cNvPr id="13" name="Text 11">
            <a:extLst>
              <a:ext uri="{FF2B5EF4-FFF2-40B4-BE49-F238E27FC236}">
                <a16:creationId xmlns:a16="http://schemas.microsoft.com/office/drawing/2014/main" xmlns="" id="{9EC81C1B-1935-4653-9982-0B76F9EEFF9C}"/>
              </a:ext>
            </a:extLst>
          </p:cNvPr>
          <p:cNvSpPr>
            <a:spLocks noGrp="1"/>
          </p:cNvSpPr>
          <p:nvPr/>
        </p:nvSpPr>
        <p:spPr>
          <a:xfrm>
            <a:off x="6995160" y="2240280"/>
            <a:ext cx="4480560" cy="411480"/>
          </a:xfrm>
          <a:prstGeom prst="rect">
            <a:avLst/>
          </a:prstGeom>
          <a:noFill/>
        </p:spPr>
        <p:txBody>
          <a:bodyPr wrap="square" lIns="254" tIns="254" rIns="254" bIns="254" anchor="ctr">
            <a:normAutofit/>
          </a:bodyPr>
          <a:lstStyle/>
          <a:p>
            <a:pPr marL="0" indent="0">
              <a:buNone/>
            </a:pPr>
            <a:r>
              <a:rPr sz="1700">
                <a:solidFill>
                  <a:srgbClr val="596273"/>
                </a:solidFill>
              </a:rPr>
              <a:t>The LLM cannot read millions of words at once.</a:t>
            </a:r>
          </a:p>
        </p:txBody>
      </p:sp>
      <p:sp>
        <p:nvSpPr>
          <p:cNvPr id="14" name="Text 12">
            <a:extLst>
              <a:ext uri="{FF2B5EF4-FFF2-40B4-BE49-F238E27FC236}">
                <a16:creationId xmlns:a16="http://schemas.microsoft.com/office/drawing/2014/main" xmlns="" id="{23FE36D9-A4A1-4D83-95FD-B96297F85E55}"/>
              </a:ext>
            </a:extLst>
          </p:cNvPr>
          <p:cNvSpPr>
            <a:spLocks noGrp="1"/>
          </p:cNvSpPr>
          <p:nvPr/>
        </p:nvSpPr>
        <p:spPr>
          <a:xfrm>
            <a:off x="731520" y="3383280"/>
            <a:ext cx="502920" cy="502920"/>
          </a:xfrm>
          <a:prstGeom prst="rect">
            <a:avLst/>
          </a:prstGeom>
          <a:solidFill>
            <a:srgbClr val="40319B"/>
          </a:solidFill>
          <a:ln>
            <a:solidFill>
              <a:srgbClr val="40319B"/>
            </a:solidFill>
          </a:ln>
        </p:spPr>
        <p:txBody>
          <a:bodyPr wrap="square" lIns="0" tIns="0" rIns="0" bIns="0" anchor="ctr"/>
          <a:lstStyle/>
          <a:p>
            <a:pPr marL="0" indent="0" algn="ctr">
              <a:buNone/>
            </a:pPr>
            <a:r>
              <a:rPr sz="2200" b="1">
                <a:solidFill>
                  <a:srgbClr val="FFFFFF"/>
                </a:solidFill>
              </a:rPr>
              <a:t>3</a:t>
            </a:r>
          </a:p>
        </p:txBody>
      </p:sp>
      <p:sp>
        <p:nvSpPr>
          <p:cNvPr id="15" name="Text 13">
            <a:extLst>
              <a:ext uri="{FF2B5EF4-FFF2-40B4-BE49-F238E27FC236}">
                <a16:creationId xmlns:a16="http://schemas.microsoft.com/office/drawing/2014/main" xmlns="" id="{1324CA4B-9949-43B0-B23D-690C6EF5E84D}"/>
              </a:ext>
            </a:extLst>
          </p:cNvPr>
          <p:cNvSpPr>
            <a:spLocks noGrp="1"/>
          </p:cNvSpPr>
          <p:nvPr/>
        </p:nvSpPr>
        <p:spPr>
          <a:xfrm>
            <a:off x="1417320" y="3355848"/>
            <a:ext cx="4480560" cy="292608"/>
          </a:xfrm>
          <a:prstGeom prst="rect">
            <a:avLst/>
          </a:prstGeom>
          <a:noFill/>
        </p:spPr>
        <p:txBody>
          <a:bodyPr wrap="square" lIns="0" tIns="0" rIns="0" bIns="0" anchor="ctr"/>
          <a:lstStyle/>
          <a:p>
            <a:pPr marL="0" indent="0">
              <a:buNone/>
            </a:pPr>
            <a:r>
              <a:rPr sz="2200" b="1">
                <a:solidFill>
                  <a:srgbClr val="1F2937"/>
                </a:solidFill>
              </a:rPr>
              <a:t>Cost</a:t>
            </a:r>
          </a:p>
        </p:txBody>
      </p:sp>
      <p:sp>
        <p:nvSpPr>
          <p:cNvPr id="16" name="Text 14">
            <a:extLst>
              <a:ext uri="{FF2B5EF4-FFF2-40B4-BE49-F238E27FC236}">
                <a16:creationId xmlns:a16="http://schemas.microsoft.com/office/drawing/2014/main" xmlns="" id="{4D0A7D6C-C4CC-4D80-A08C-870BF194A5B8}"/>
              </a:ext>
            </a:extLst>
          </p:cNvPr>
          <p:cNvSpPr>
            <a:spLocks noGrp="1"/>
          </p:cNvSpPr>
          <p:nvPr/>
        </p:nvSpPr>
        <p:spPr>
          <a:xfrm>
            <a:off x="1417320" y="3794760"/>
            <a:ext cx="4480560" cy="411480"/>
          </a:xfrm>
          <a:prstGeom prst="rect">
            <a:avLst/>
          </a:prstGeom>
          <a:noFill/>
        </p:spPr>
        <p:txBody>
          <a:bodyPr wrap="square" lIns="254" tIns="254" rIns="254" bIns="254" anchor="ctr">
            <a:normAutofit/>
          </a:bodyPr>
          <a:lstStyle/>
          <a:p>
            <a:pPr marL="0" indent="0">
              <a:buNone/>
            </a:pPr>
            <a:r>
              <a:rPr sz="1700">
                <a:solidFill>
                  <a:srgbClr val="596273"/>
                </a:solidFill>
              </a:rPr>
              <a:t>Large commercial alternatives can be expensive.</a:t>
            </a:r>
          </a:p>
        </p:txBody>
      </p:sp>
      <p:sp>
        <p:nvSpPr>
          <p:cNvPr id="17" name="Text 15">
            <a:extLst>
              <a:ext uri="{FF2B5EF4-FFF2-40B4-BE49-F238E27FC236}">
                <a16:creationId xmlns:a16="http://schemas.microsoft.com/office/drawing/2014/main" xmlns="" id="{6ED77B51-E958-47ED-B164-5F9AA72ED38E}"/>
              </a:ext>
            </a:extLst>
          </p:cNvPr>
          <p:cNvSpPr>
            <a:spLocks noGrp="1"/>
          </p:cNvSpPr>
          <p:nvPr/>
        </p:nvSpPr>
        <p:spPr>
          <a:xfrm>
            <a:off x="6309360" y="3383280"/>
            <a:ext cx="502920" cy="502920"/>
          </a:xfrm>
          <a:prstGeom prst="rect">
            <a:avLst/>
          </a:prstGeom>
          <a:solidFill>
            <a:srgbClr val="40319B"/>
          </a:solidFill>
          <a:ln>
            <a:solidFill>
              <a:srgbClr val="40319B"/>
            </a:solidFill>
          </a:ln>
        </p:spPr>
        <p:txBody>
          <a:bodyPr wrap="square" lIns="0" tIns="0" rIns="0" bIns="0" anchor="ctr"/>
          <a:lstStyle/>
          <a:p>
            <a:pPr marL="0" indent="0" algn="ctr">
              <a:buNone/>
            </a:pPr>
            <a:r>
              <a:rPr sz="2200" b="1">
                <a:solidFill>
                  <a:srgbClr val="FFFFFF"/>
                </a:solidFill>
              </a:rPr>
              <a:t>4</a:t>
            </a:r>
          </a:p>
        </p:txBody>
      </p:sp>
      <p:sp>
        <p:nvSpPr>
          <p:cNvPr id="18" name="Text 16">
            <a:extLst>
              <a:ext uri="{FF2B5EF4-FFF2-40B4-BE49-F238E27FC236}">
                <a16:creationId xmlns:a16="http://schemas.microsoft.com/office/drawing/2014/main" xmlns="" id="{716430C6-D4E6-4ACF-93CB-B3986C169582}"/>
              </a:ext>
            </a:extLst>
          </p:cNvPr>
          <p:cNvSpPr>
            <a:spLocks noGrp="1"/>
          </p:cNvSpPr>
          <p:nvPr/>
        </p:nvSpPr>
        <p:spPr>
          <a:xfrm>
            <a:off x="6995160" y="3355848"/>
            <a:ext cx="4480560" cy="292608"/>
          </a:xfrm>
          <a:prstGeom prst="rect">
            <a:avLst/>
          </a:prstGeom>
          <a:noFill/>
        </p:spPr>
        <p:txBody>
          <a:bodyPr wrap="square" lIns="0" tIns="0" rIns="0" bIns="0" anchor="ctr"/>
          <a:lstStyle/>
          <a:p>
            <a:pPr marL="0" indent="0">
              <a:buNone/>
            </a:pPr>
            <a:r>
              <a:rPr sz="2200" b="1">
                <a:solidFill>
                  <a:srgbClr val="1F2937"/>
                </a:solidFill>
              </a:rPr>
              <a:t>Quality</a:t>
            </a:r>
          </a:p>
        </p:txBody>
      </p:sp>
      <p:sp>
        <p:nvSpPr>
          <p:cNvPr id="19" name="Text 17">
            <a:extLst>
              <a:ext uri="{FF2B5EF4-FFF2-40B4-BE49-F238E27FC236}">
                <a16:creationId xmlns:a16="http://schemas.microsoft.com/office/drawing/2014/main" xmlns="" id="{B58FCCB0-391F-4FA7-B828-8AF4BB1050F1}"/>
              </a:ext>
            </a:extLst>
          </p:cNvPr>
          <p:cNvSpPr>
            <a:spLocks noGrp="1"/>
          </p:cNvSpPr>
          <p:nvPr/>
        </p:nvSpPr>
        <p:spPr>
          <a:xfrm>
            <a:off x="6995160" y="3794760"/>
            <a:ext cx="4480560" cy="411480"/>
          </a:xfrm>
          <a:prstGeom prst="rect">
            <a:avLst/>
          </a:prstGeom>
          <a:noFill/>
        </p:spPr>
        <p:txBody>
          <a:bodyPr wrap="square" lIns="254" tIns="254" rIns="254" bIns="254" anchor="ctr">
            <a:normAutofit/>
          </a:bodyPr>
          <a:lstStyle/>
          <a:p>
            <a:pPr marL="0" indent="0">
              <a:buNone/>
            </a:pPr>
            <a:r>
              <a:rPr sz="1700">
                <a:solidFill>
                  <a:srgbClr val="596273"/>
                </a:solidFill>
              </a:rPr>
              <a:t>Uncurated transcripts produce messy answers.</a:t>
            </a:r>
          </a:p>
        </p:txBody>
      </p:sp>
    </p:spTree>
    <p:extLst>
      <p:ext uri="{BB962C8B-B14F-4D97-AF65-F5344CB8AC3E}">
        <p14:creationId xmlns:p14="http://schemas.microsoft.com/office/powerpoint/2010/main" val="3252775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4D31873-5F91-4C91-A921-C51FBC69FE7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3601F12-186D-405A-8DCF-0BEAA11FBFB0}"/>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443FE596-EC6E-4EB2-B424-FBC85A6B0C75}"/>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784F21E6-EC85-4129-8BF1-FE127E2C6A94}"/>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FAE3B9D-BDCF-4DE4-8260-247064CC3356}"/>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Obstacle 1: download timeout</a:t>
            </a:r>
          </a:p>
        </p:txBody>
      </p:sp>
      <p:sp>
        <p:nvSpPr>
          <p:cNvPr id="7" name="Text 5">
            <a:extLst>
              <a:ext uri="{FF2B5EF4-FFF2-40B4-BE49-F238E27FC236}">
                <a16:creationId xmlns:a16="http://schemas.microsoft.com/office/drawing/2014/main" xmlns="" id="{439FF383-EC19-4DEC-A4A6-C48ED68498D0}"/>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Getting thousands of transcripts can be too long for a single hosted LLM session.</a:t>
            </a:r>
          </a:p>
        </p:txBody>
      </p:sp>
      <p:sp>
        <p:nvSpPr>
          <p:cNvPr id="8" name="Text 6">
            <a:extLst>
              <a:ext uri="{FF2B5EF4-FFF2-40B4-BE49-F238E27FC236}">
                <a16:creationId xmlns:a16="http://schemas.microsoft.com/office/drawing/2014/main" xmlns="" id="{B9424918-4742-4105-BA8D-683ABA1201CE}"/>
              </a:ext>
            </a:extLst>
          </p:cNvPr>
          <p:cNvSpPr>
            <a:spLocks noGrp="1"/>
          </p:cNvSpPr>
          <p:nvPr/>
        </p:nvSpPr>
        <p:spPr>
          <a:xfrm>
            <a:off x="868680" y="181965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EAEA3F86-A1CC-457A-8EDC-2CCFE1BF6C7C}"/>
              </a:ext>
            </a:extLst>
          </p:cNvPr>
          <p:cNvSpPr>
            <a:spLocks noGrp="1"/>
          </p:cNvSpPr>
          <p:nvPr/>
        </p:nvSpPr>
        <p:spPr>
          <a:xfrm>
            <a:off x="1197864" y="1783080"/>
            <a:ext cx="10232136" cy="457200"/>
          </a:xfrm>
          <a:prstGeom prst="rect">
            <a:avLst/>
          </a:prstGeom>
          <a:noFill/>
        </p:spPr>
        <p:txBody>
          <a:bodyPr wrap="square" lIns="254" tIns="254" rIns="254" bIns="254" anchor="ctr">
            <a:normAutofit/>
          </a:bodyPr>
          <a:lstStyle/>
          <a:p>
            <a:pPr marL="0" indent="0">
              <a:buNone/>
            </a:pPr>
            <a:r>
              <a:rPr sz="2100">
                <a:solidFill>
                  <a:srgbClr val="1F2937"/>
                </a:solidFill>
              </a:rPr>
              <a:t>A channel can have thousands of videos.</a:t>
            </a:r>
          </a:p>
        </p:txBody>
      </p:sp>
      <p:sp>
        <p:nvSpPr>
          <p:cNvPr id="10" name="Text 8">
            <a:extLst>
              <a:ext uri="{FF2B5EF4-FFF2-40B4-BE49-F238E27FC236}">
                <a16:creationId xmlns:a16="http://schemas.microsoft.com/office/drawing/2014/main" xmlns="" id="{4E9B6F46-C334-4CE2-8B6A-205F2FDF2869}"/>
              </a:ext>
            </a:extLst>
          </p:cNvPr>
          <p:cNvSpPr>
            <a:spLocks noGrp="1"/>
          </p:cNvSpPr>
          <p:nvPr/>
        </p:nvSpPr>
        <p:spPr>
          <a:xfrm>
            <a:off x="868680" y="240487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39CDDB03-DBF6-47F3-B8C6-9A893E3EEE3B}"/>
              </a:ext>
            </a:extLst>
          </p:cNvPr>
          <p:cNvSpPr>
            <a:spLocks noGrp="1"/>
          </p:cNvSpPr>
          <p:nvPr/>
        </p:nvSpPr>
        <p:spPr>
          <a:xfrm>
            <a:off x="1197864" y="2368296"/>
            <a:ext cx="10232136" cy="457200"/>
          </a:xfrm>
          <a:prstGeom prst="rect">
            <a:avLst/>
          </a:prstGeom>
          <a:noFill/>
        </p:spPr>
        <p:txBody>
          <a:bodyPr wrap="square" lIns="254" tIns="254" rIns="254" bIns="254" anchor="ctr">
            <a:normAutofit/>
          </a:bodyPr>
          <a:lstStyle/>
          <a:p>
            <a:pPr marL="0" indent="0">
              <a:buNone/>
            </a:pPr>
            <a:r>
              <a:rPr sz="2100">
                <a:solidFill>
                  <a:srgbClr val="1F2937"/>
                </a:solidFill>
              </a:rPr>
              <a:t>A hosted container may stop a long download before all transcripts are collected.</a:t>
            </a:r>
          </a:p>
        </p:txBody>
      </p:sp>
      <p:sp>
        <p:nvSpPr>
          <p:cNvPr id="12" name="Text 10">
            <a:extLst>
              <a:ext uri="{FF2B5EF4-FFF2-40B4-BE49-F238E27FC236}">
                <a16:creationId xmlns:a16="http://schemas.microsoft.com/office/drawing/2014/main" xmlns="" id="{9196669F-96DF-469C-A930-1EE951643B17}"/>
              </a:ext>
            </a:extLst>
          </p:cNvPr>
          <p:cNvSpPr>
            <a:spLocks noGrp="1"/>
          </p:cNvSpPr>
          <p:nvPr/>
        </p:nvSpPr>
        <p:spPr>
          <a:xfrm>
            <a:off x="868680" y="299008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3677FADE-517D-410A-AEB8-FE23DD4E41CC}"/>
              </a:ext>
            </a:extLst>
          </p:cNvPr>
          <p:cNvSpPr>
            <a:spLocks noGrp="1"/>
          </p:cNvSpPr>
          <p:nvPr/>
        </p:nvSpPr>
        <p:spPr>
          <a:xfrm>
            <a:off x="1197864" y="2953512"/>
            <a:ext cx="10232136" cy="457200"/>
          </a:xfrm>
          <a:prstGeom prst="rect">
            <a:avLst/>
          </a:prstGeom>
          <a:noFill/>
        </p:spPr>
        <p:txBody>
          <a:bodyPr wrap="square" lIns="254" tIns="254" rIns="254" bIns="254" anchor="ctr">
            <a:normAutofit/>
          </a:bodyPr>
          <a:lstStyle/>
          <a:p>
            <a:pPr marL="0" indent="0">
              <a:buNone/>
            </a:pPr>
            <a:r>
              <a:rPr sz="2100">
                <a:solidFill>
                  <a:srgbClr val="1F2937"/>
                </a:solidFill>
              </a:rPr>
              <a:t>YouTube may slow or block requests if too many files are requested too quickly.</a:t>
            </a:r>
          </a:p>
        </p:txBody>
      </p:sp>
      <p:sp>
        <p:nvSpPr>
          <p:cNvPr id="14" name="Text 12">
            <a:extLst>
              <a:ext uri="{FF2B5EF4-FFF2-40B4-BE49-F238E27FC236}">
                <a16:creationId xmlns:a16="http://schemas.microsoft.com/office/drawing/2014/main" xmlns="" id="{60E2C700-95C7-4E69-86D2-F59E0BD5EBEA}"/>
              </a:ext>
            </a:extLst>
          </p:cNvPr>
          <p:cNvSpPr>
            <a:spLocks noGrp="1"/>
          </p:cNvSpPr>
          <p:nvPr/>
        </p:nvSpPr>
        <p:spPr>
          <a:xfrm>
            <a:off x="868680" y="357530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5B6CDC74-887C-4CBF-A77C-C1AFFFA6ADDD}"/>
              </a:ext>
            </a:extLst>
          </p:cNvPr>
          <p:cNvSpPr>
            <a:spLocks noGrp="1"/>
          </p:cNvSpPr>
          <p:nvPr/>
        </p:nvSpPr>
        <p:spPr>
          <a:xfrm>
            <a:off x="1197864" y="3538728"/>
            <a:ext cx="10232136" cy="457200"/>
          </a:xfrm>
          <a:prstGeom prst="rect">
            <a:avLst/>
          </a:prstGeom>
          <a:noFill/>
        </p:spPr>
        <p:txBody>
          <a:bodyPr wrap="square" lIns="254" tIns="254" rIns="254" bIns="254" anchor="ctr">
            <a:normAutofit fontScale="92500"/>
          </a:bodyPr>
          <a:lstStyle/>
          <a:p>
            <a:pPr marL="0" indent="0">
              <a:buNone/>
            </a:pPr>
            <a:r>
              <a:rPr sz="2100">
                <a:solidFill>
                  <a:srgbClr val="1F2937"/>
                </a:solidFill>
              </a:rPr>
              <a:t>Better solution: run the download script on your own machine, where you control the time and files.</a:t>
            </a:r>
          </a:p>
        </p:txBody>
      </p:sp>
      <p:sp>
        <p:nvSpPr>
          <p:cNvPr id="16" name="Text 14">
            <a:extLst>
              <a:ext uri="{FF2B5EF4-FFF2-40B4-BE49-F238E27FC236}">
                <a16:creationId xmlns:a16="http://schemas.microsoft.com/office/drawing/2014/main" xmlns="" id="{AECC3107-F32D-4BB8-8E76-3EB75D44570D}"/>
              </a:ext>
            </a:extLst>
          </p:cNvPr>
          <p:cNvSpPr>
            <a:spLocks noGrp="1"/>
          </p:cNvSpPr>
          <p:nvPr/>
        </p:nvSpPr>
        <p:spPr>
          <a:xfrm>
            <a:off x="1234440" y="5166360"/>
            <a:ext cx="973836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000" b="1">
                <a:solidFill>
                  <a:srgbClr val="1F2937"/>
                </a:solidFill>
              </a:rPr>
              <a:t>Practical lesson: use Claude or ChatGPT to write the script, but run the long download locally.</a:t>
            </a:r>
          </a:p>
        </p:txBody>
      </p:sp>
    </p:spTree>
    <p:extLst>
      <p:ext uri="{BB962C8B-B14F-4D97-AF65-F5344CB8AC3E}">
        <p14:creationId xmlns:p14="http://schemas.microsoft.com/office/powerpoint/2010/main" val="831461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D2F2F8CC-2AE9-4F8B-9E3A-E43445F948C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6259340-4C18-4D1C-A385-C706C73EA240}"/>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6E1716B8-96DA-47B8-A906-8F9C04CEECB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D93A18E-2436-4F8F-B292-C0BEDCBE2EA5}"/>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FF1ED3D0-D5F0-41B7-9CA7-DC6ABB4BA895}"/>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Obstacle 2: context window</a:t>
            </a:r>
          </a:p>
        </p:txBody>
      </p:sp>
      <p:sp>
        <p:nvSpPr>
          <p:cNvPr id="7" name="Text 5">
            <a:extLst>
              <a:ext uri="{FF2B5EF4-FFF2-40B4-BE49-F238E27FC236}">
                <a16:creationId xmlns:a16="http://schemas.microsoft.com/office/drawing/2014/main" xmlns="" id="{2B3FB57D-FACE-4214-BFCB-96D3A0DD62CA}"/>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An LLM has a maximum amount of text it can consider at one time.</a:t>
            </a:r>
          </a:p>
        </p:txBody>
      </p:sp>
      <p:sp>
        <p:nvSpPr>
          <p:cNvPr id="8" name="Text 6">
            <a:extLst>
              <a:ext uri="{FF2B5EF4-FFF2-40B4-BE49-F238E27FC236}">
                <a16:creationId xmlns:a16="http://schemas.microsoft.com/office/drawing/2014/main" xmlns="" id="{00EF0E22-8994-46C8-B44D-43D0AD406DA2}"/>
              </a:ext>
            </a:extLst>
          </p:cNvPr>
          <p:cNvSpPr>
            <a:spLocks noGrp="1"/>
          </p:cNvSpPr>
          <p:nvPr/>
        </p:nvSpPr>
        <p:spPr>
          <a:xfrm>
            <a:off x="777240" y="1828800"/>
            <a:ext cx="3291840" cy="9601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2000" b="1">
                <a:solidFill>
                  <a:srgbClr val="1F2937"/>
                </a:solidFill>
              </a:rPr>
              <a:t>Typical transcript</a:t>
            </a:r>
          </a:p>
          <a:p>
            <a:pPr marL="0" indent="0" algn="ctr">
              <a:buNone/>
            </a:pPr>
            <a:r>
              <a:rPr sz="2000" b="1">
                <a:solidFill>
                  <a:srgbClr val="1F2937"/>
                </a:solidFill>
              </a:rPr>
              <a:t>~7,000–8,000 words</a:t>
            </a:r>
          </a:p>
        </p:txBody>
      </p:sp>
      <p:sp>
        <p:nvSpPr>
          <p:cNvPr id="9" name="Shape 7">
            <a:extLst>
              <a:ext uri="{FF2B5EF4-FFF2-40B4-BE49-F238E27FC236}">
                <a16:creationId xmlns:a16="http://schemas.microsoft.com/office/drawing/2014/main" xmlns="" id="{921A52DC-EEF8-46F0-A9D8-244BC8E51446}"/>
              </a:ext>
            </a:extLst>
          </p:cNvPr>
          <p:cNvSpPr>
            <a:spLocks noGrp="1"/>
          </p:cNvSpPr>
          <p:nvPr/>
        </p:nvSpPr>
        <p:spPr>
          <a:xfrm>
            <a:off x="4251960" y="2313432"/>
            <a:ext cx="109728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3985897B-AC78-45A2-930D-FBCD87407E21}"/>
              </a:ext>
            </a:extLst>
          </p:cNvPr>
          <p:cNvSpPr>
            <a:spLocks noGrp="1"/>
          </p:cNvSpPr>
          <p:nvPr/>
        </p:nvSpPr>
        <p:spPr>
          <a:xfrm>
            <a:off x="5532120" y="1828800"/>
            <a:ext cx="3291840" cy="960120"/>
          </a:xfrm>
          <a:prstGeom prst="rect">
            <a:avLst/>
          </a:prstGeom>
          <a:solidFill>
            <a:srgbClr val="FFF3DA"/>
          </a:solidFill>
          <a:ln w="15240">
            <a:solidFill>
              <a:srgbClr val="A55D00"/>
            </a:solidFill>
          </a:ln>
        </p:spPr>
        <p:txBody>
          <a:bodyPr wrap="square" lIns="1016" tIns="1016" rIns="1016" bIns="1016" anchor="ctr">
            <a:normAutofit/>
          </a:bodyPr>
          <a:lstStyle/>
          <a:p>
            <a:pPr marL="0" indent="0" algn="ctr">
              <a:buNone/>
            </a:pPr>
            <a:r>
              <a:rPr sz="2000" b="1">
                <a:solidFill>
                  <a:srgbClr val="1F2937"/>
                </a:solidFill>
              </a:rPr>
              <a:t>Thousands of transcripts</a:t>
            </a:r>
          </a:p>
          <a:p>
            <a:pPr marL="0" indent="0" algn="ctr">
              <a:buNone/>
            </a:pPr>
            <a:r>
              <a:rPr sz="2000" b="1">
                <a:solidFill>
                  <a:srgbClr val="1F2937"/>
                </a:solidFill>
              </a:rPr>
              <a:t>Millions of words</a:t>
            </a:r>
          </a:p>
        </p:txBody>
      </p:sp>
      <p:sp>
        <p:nvSpPr>
          <p:cNvPr id="11" name="Shape 9">
            <a:extLst>
              <a:ext uri="{FF2B5EF4-FFF2-40B4-BE49-F238E27FC236}">
                <a16:creationId xmlns:a16="http://schemas.microsoft.com/office/drawing/2014/main" xmlns="" id="{0E807CD5-E649-4D25-9E73-98586409810A}"/>
              </a:ext>
            </a:extLst>
          </p:cNvPr>
          <p:cNvSpPr>
            <a:spLocks noGrp="1"/>
          </p:cNvSpPr>
          <p:nvPr/>
        </p:nvSpPr>
        <p:spPr>
          <a:xfrm>
            <a:off x="9006840" y="2313432"/>
            <a:ext cx="82296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7D8A812E-79BA-453E-8FC7-4C770CC89D95}"/>
              </a:ext>
            </a:extLst>
          </p:cNvPr>
          <p:cNvSpPr>
            <a:spLocks noGrp="1"/>
          </p:cNvSpPr>
          <p:nvPr/>
        </p:nvSpPr>
        <p:spPr>
          <a:xfrm>
            <a:off x="10012680" y="1828800"/>
            <a:ext cx="1417320" cy="96012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1800" b="1">
                <a:solidFill>
                  <a:srgbClr val="1F2937"/>
                </a:solidFill>
              </a:rPr>
              <a:t>Too large</a:t>
            </a:r>
          </a:p>
          <a:p>
            <a:pPr marL="0" indent="0" algn="ctr">
              <a:buNone/>
            </a:pPr>
            <a:r>
              <a:rPr sz="1800" b="1">
                <a:solidFill>
                  <a:srgbClr val="1F2937"/>
                </a:solidFill>
              </a:rPr>
              <a:t>for one chat</a:t>
            </a:r>
          </a:p>
        </p:txBody>
      </p:sp>
      <p:sp>
        <p:nvSpPr>
          <p:cNvPr id="13" name="Text 11">
            <a:extLst>
              <a:ext uri="{FF2B5EF4-FFF2-40B4-BE49-F238E27FC236}">
                <a16:creationId xmlns:a16="http://schemas.microsoft.com/office/drawing/2014/main" xmlns="" id="{30B8B1E3-66F0-46CE-A7AC-A8A48E75B8F9}"/>
              </a:ext>
            </a:extLst>
          </p:cNvPr>
          <p:cNvSpPr>
            <a:spLocks noGrp="1"/>
          </p:cNvSpPr>
          <p:nvPr/>
        </p:nvSpPr>
        <p:spPr>
          <a:xfrm>
            <a:off x="1097280" y="3794760"/>
            <a:ext cx="9875520" cy="713232"/>
          </a:xfrm>
          <a:prstGeom prst="rect">
            <a:avLst/>
          </a:prstGeom>
          <a:solidFill>
            <a:srgbClr val="EEEAFE"/>
          </a:solidFill>
          <a:ln w="15240">
            <a:solidFill>
              <a:srgbClr val="40319B"/>
            </a:solidFill>
          </a:ln>
        </p:spPr>
        <p:txBody>
          <a:bodyPr wrap="square" lIns="1778" tIns="1778" rIns="1778" bIns="1778" anchor="ctr">
            <a:normAutofit/>
          </a:bodyPr>
          <a:lstStyle/>
          <a:p>
            <a:pPr marL="0" indent="0">
              <a:buNone/>
            </a:pPr>
            <a:r>
              <a:rPr sz="2200" b="1">
                <a:solidFill>
                  <a:srgbClr val="1F2937"/>
                </a:solidFill>
              </a:rPr>
              <a:t>Context window = the temporary “working memory” of the LLM conversation.</a:t>
            </a:r>
          </a:p>
        </p:txBody>
      </p:sp>
      <p:sp>
        <p:nvSpPr>
          <p:cNvPr id="14" name="Text 12">
            <a:extLst>
              <a:ext uri="{FF2B5EF4-FFF2-40B4-BE49-F238E27FC236}">
                <a16:creationId xmlns:a16="http://schemas.microsoft.com/office/drawing/2014/main" xmlns="" id="{E427468D-9DBC-4ACF-AFE1-BA2EC462A6CE}"/>
              </a:ext>
            </a:extLst>
          </p:cNvPr>
          <p:cNvSpPr>
            <a:spLocks noGrp="1"/>
          </p:cNvSpPr>
          <p:nvPr/>
        </p:nvSpPr>
        <p:spPr>
          <a:xfrm>
            <a:off x="1280160" y="4892040"/>
            <a:ext cx="9601200" cy="457200"/>
          </a:xfrm>
          <a:prstGeom prst="rect">
            <a:avLst/>
          </a:prstGeom>
          <a:noFill/>
        </p:spPr>
        <p:txBody>
          <a:bodyPr wrap="square" lIns="254" tIns="254" rIns="254" bIns="254" anchor="ctr"/>
          <a:lstStyle/>
          <a:p>
            <a:pPr marL="0" indent="0" algn="ctr">
              <a:buNone/>
            </a:pPr>
            <a:r>
              <a:rPr sz="2100">
                <a:solidFill>
                  <a:srgbClr val="1F2937"/>
                </a:solidFill>
              </a:rPr>
              <a:t>The pipeline solves this by processing the corpus in pieces, then merging the results.</a:t>
            </a:r>
          </a:p>
        </p:txBody>
      </p:sp>
    </p:spTree>
    <p:extLst>
      <p:ext uri="{BB962C8B-B14F-4D97-AF65-F5344CB8AC3E}">
        <p14:creationId xmlns:p14="http://schemas.microsoft.com/office/powerpoint/2010/main" val="13200796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91DEE143-07E8-4208-A44B-8867C13F6BB9}"/>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9414497-4517-4E29-A6D4-77BD7C605267}"/>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0A73DD34-A500-4F19-8D80-21C683A5D1E2}"/>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5D5724F-FE0A-4B84-973F-4E0761CF2B9F}"/>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89DA4CD-3B47-4474-8C5D-F2FF118C76A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Obstacle 3: expensive alternatives</a:t>
            </a:r>
          </a:p>
        </p:txBody>
      </p:sp>
      <p:sp>
        <p:nvSpPr>
          <p:cNvPr id="7" name="Text 5">
            <a:extLst>
              <a:ext uri="{FF2B5EF4-FFF2-40B4-BE49-F238E27FC236}">
                <a16:creationId xmlns:a16="http://schemas.microsoft.com/office/drawing/2014/main" xmlns="" id="{03868A49-826C-455D-AD86-8C7F735DBEEA}"/>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There are tools for very large corpora, but cost and control can become problems.</a:t>
            </a:r>
          </a:p>
        </p:txBody>
      </p:sp>
      <p:sp>
        <p:nvSpPr>
          <p:cNvPr id="8" name="Text 6">
            <a:extLst>
              <a:ext uri="{FF2B5EF4-FFF2-40B4-BE49-F238E27FC236}">
                <a16:creationId xmlns:a16="http://schemas.microsoft.com/office/drawing/2014/main" xmlns="" id="{D852B87B-5BC8-4523-B8C1-8D77A22F7210}"/>
              </a:ext>
            </a:extLst>
          </p:cNvPr>
          <p:cNvSpPr>
            <a:spLocks noGrp="1"/>
          </p:cNvSpPr>
          <p:nvPr/>
        </p:nvSpPr>
        <p:spPr>
          <a:xfrm>
            <a:off x="822960" y="172821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8F3EEA78-EDDA-45FF-BF51-B123E20884D4}"/>
              </a:ext>
            </a:extLst>
          </p:cNvPr>
          <p:cNvSpPr>
            <a:spLocks noGrp="1"/>
          </p:cNvSpPr>
          <p:nvPr/>
        </p:nvSpPr>
        <p:spPr>
          <a:xfrm>
            <a:off x="1152144" y="1691640"/>
            <a:ext cx="10415016" cy="457200"/>
          </a:xfrm>
          <a:prstGeom prst="rect">
            <a:avLst/>
          </a:prstGeom>
          <a:noFill/>
        </p:spPr>
        <p:txBody>
          <a:bodyPr wrap="square" lIns="254" tIns="254" rIns="254" bIns="254" anchor="ctr">
            <a:normAutofit/>
          </a:bodyPr>
          <a:lstStyle/>
          <a:p>
            <a:pPr marL="0" indent="0">
              <a:buNone/>
            </a:pPr>
            <a:r>
              <a:rPr sz="2100">
                <a:solidFill>
                  <a:srgbClr val="1F2937"/>
                </a:solidFill>
              </a:rPr>
              <a:t>Notebook-style tools can help, but their memory limits may still be smaller than a large channel.</a:t>
            </a:r>
          </a:p>
        </p:txBody>
      </p:sp>
      <p:sp>
        <p:nvSpPr>
          <p:cNvPr id="10" name="Text 8">
            <a:extLst>
              <a:ext uri="{FF2B5EF4-FFF2-40B4-BE49-F238E27FC236}">
                <a16:creationId xmlns:a16="http://schemas.microsoft.com/office/drawing/2014/main" xmlns="" id="{1DBE4FD3-BCE2-4AB5-82AC-7C259002DC60}"/>
              </a:ext>
            </a:extLst>
          </p:cNvPr>
          <p:cNvSpPr>
            <a:spLocks noGrp="1"/>
          </p:cNvSpPr>
          <p:nvPr/>
        </p:nvSpPr>
        <p:spPr>
          <a:xfrm>
            <a:off x="822960" y="231343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856A5FC5-1FC9-4142-A750-FE387E7384A8}"/>
              </a:ext>
            </a:extLst>
          </p:cNvPr>
          <p:cNvSpPr>
            <a:spLocks noGrp="1"/>
          </p:cNvSpPr>
          <p:nvPr/>
        </p:nvSpPr>
        <p:spPr>
          <a:xfrm>
            <a:off x="1152144" y="2276856"/>
            <a:ext cx="10415016" cy="457200"/>
          </a:xfrm>
          <a:prstGeom prst="rect">
            <a:avLst/>
          </a:prstGeom>
          <a:noFill/>
        </p:spPr>
        <p:txBody>
          <a:bodyPr wrap="square" lIns="254" tIns="254" rIns="254" bIns="254" anchor="ctr">
            <a:normAutofit/>
          </a:bodyPr>
          <a:lstStyle/>
          <a:p>
            <a:pPr marL="0" indent="0">
              <a:buNone/>
            </a:pPr>
            <a:r>
              <a:rPr sz="2100">
                <a:solidFill>
                  <a:srgbClr val="1F2937"/>
                </a:solidFill>
              </a:rPr>
              <a:t>Enterprise tools can do coding, thematic analysis, and traceability, but they may be expensive.</a:t>
            </a:r>
          </a:p>
        </p:txBody>
      </p:sp>
      <p:sp>
        <p:nvSpPr>
          <p:cNvPr id="12" name="Text 10">
            <a:extLst>
              <a:ext uri="{FF2B5EF4-FFF2-40B4-BE49-F238E27FC236}">
                <a16:creationId xmlns:a16="http://schemas.microsoft.com/office/drawing/2014/main" xmlns="" id="{6A8EBA87-30C1-4600-AE08-861657080639}"/>
              </a:ext>
            </a:extLst>
          </p:cNvPr>
          <p:cNvSpPr>
            <a:spLocks noGrp="1"/>
          </p:cNvSpPr>
          <p:nvPr/>
        </p:nvSpPr>
        <p:spPr>
          <a:xfrm>
            <a:off x="822960" y="289864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03539C44-9ACF-498D-A65E-FC0229238248}"/>
              </a:ext>
            </a:extLst>
          </p:cNvPr>
          <p:cNvSpPr>
            <a:spLocks noGrp="1"/>
          </p:cNvSpPr>
          <p:nvPr/>
        </p:nvSpPr>
        <p:spPr>
          <a:xfrm>
            <a:off x="1152144" y="2862072"/>
            <a:ext cx="10415016" cy="457200"/>
          </a:xfrm>
          <a:prstGeom prst="rect">
            <a:avLst/>
          </a:prstGeom>
          <a:noFill/>
        </p:spPr>
        <p:txBody>
          <a:bodyPr wrap="square" lIns="254" tIns="254" rIns="254" bIns="254" anchor="ctr">
            <a:normAutofit/>
          </a:bodyPr>
          <a:lstStyle/>
          <a:p>
            <a:pPr marL="0" indent="0">
              <a:buNone/>
            </a:pPr>
            <a:r>
              <a:rPr sz="2100">
                <a:solidFill>
                  <a:srgbClr val="1F2937"/>
                </a:solidFill>
              </a:rPr>
              <a:t>Retraining or fine-tuning a model on a large corpus can also be costly.</a:t>
            </a:r>
          </a:p>
        </p:txBody>
      </p:sp>
      <p:sp>
        <p:nvSpPr>
          <p:cNvPr id="14" name="Text 12">
            <a:extLst>
              <a:ext uri="{FF2B5EF4-FFF2-40B4-BE49-F238E27FC236}">
                <a16:creationId xmlns:a16="http://schemas.microsoft.com/office/drawing/2014/main" xmlns="" id="{BF99D274-55DD-4667-8B24-8D3A44CEA775}"/>
              </a:ext>
            </a:extLst>
          </p:cNvPr>
          <p:cNvSpPr>
            <a:spLocks noGrp="1"/>
          </p:cNvSpPr>
          <p:nvPr/>
        </p:nvSpPr>
        <p:spPr>
          <a:xfrm>
            <a:off x="822960" y="348386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BCBD567F-ED5F-4E72-9F96-EBEE004EB5D6}"/>
              </a:ext>
            </a:extLst>
          </p:cNvPr>
          <p:cNvSpPr>
            <a:spLocks noGrp="1"/>
          </p:cNvSpPr>
          <p:nvPr/>
        </p:nvSpPr>
        <p:spPr>
          <a:xfrm>
            <a:off x="1152144" y="3447288"/>
            <a:ext cx="10415016" cy="457200"/>
          </a:xfrm>
          <a:prstGeom prst="rect">
            <a:avLst/>
          </a:prstGeom>
          <a:noFill/>
        </p:spPr>
        <p:txBody>
          <a:bodyPr wrap="square" lIns="254" tIns="254" rIns="254" bIns="254" anchor="ctr">
            <a:normAutofit/>
          </a:bodyPr>
          <a:lstStyle/>
          <a:p>
            <a:pPr marL="0" indent="0">
              <a:buNone/>
            </a:pPr>
            <a:r>
              <a:rPr sz="2100">
                <a:solidFill>
                  <a:srgbClr val="1F2937"/>
                </a:solidFill>
              </a:rPr>
              <a:t>The project aims for a cheaper, local-file workflow controlled by the user.</a:t>
            </a:r>
          </a:p>
        </p:txBody>
      </p:sp>
      <p:sp>
        <p:nvSpPr>
          <p:cNvPr id="16" name="Text 14">
            <a:extLst>
              <a:ext uri="{FF2B5EF4-FFF2-40B4-BE49-F238E27FC236}">
                <a16:creationId xmlns:a16="http://schemas.microsoft.com/office/drawing/2014/main" xmlns="" id="{608DEB81-A5A2-4C32-AEBC-1F56089D4333}"/>
              </a:ext>
            </a:extLst>
          </p:cNvPr>
          <p:cNvSpPr>
            <a:spLocks noGrp="1"/>
          </p:cNvSpPr>
          <p:nvPr/>
        </p:nvSpPr>
        <p:spPr>
          <a:xfrm>
            <a:off x="1143000" y="5212080"/>
            <a:ext cx="9875520" cy="685800"/>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1900" b="1">
                <a:solidFill>
                  <a:srgbClr val="1F2937"/>
                </a:solidFill>
              </a:rPr>
              <a:t>The point is not that commercial tools are bad. The point is that this workflow gives you a cheaper, inspectable alternative.</a:t>
            </a:r>
          </a:p>
        </p:txBody>
      </p:sp>
    </p:spTree>
    <p:extLst>
      <p:ext uri="{BB962C8B-B14F-4D97-AF65-F5344CB8AC3E}">
        <p14:creationId xmlns:p14="http://schemas.microsoft.com/office/powerpoint/2010/main" val="14822052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2B8646A6-6AF7-484A-BAF7-4DA1EC0A8998}"/>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41C32E2-BD71-4879-B29B-712AB7DE83D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5423E01A-F06D-43D7-8077-0BC781F01FEB}"/>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BECF4C9-A2EA-43FE-BE92-A8E711411518}"/>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CADCBC62-15C8-4B49-BF91-301824AA315E}"/>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Obstacle 4: garbage in, garbage out</a:t>
            </a:r>
          </a:p>
        </p:txBody>
      </p:sp>
      <p:sp>
        <p:nvSpPr>
          <p:cNvPr id="7" name="Text 5">
            <a:extLst>
              <a:ext uri="{FF2B5EF4-FFF2-40B4-BE49-F238E27FC236}">
                <a16:creationId xmlns:a16="http://schemas.microsoft.com/office/drawing/2014/main" xmlns="" id="{E1B1C586-0CC5-4666-973E-F48F60572F49}"/>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model can only organize the material it receives. Messy inputs tend to produce messy outputs.</a:t>
            </a:r>
          </a:p>
        </p:txBody>
      </p:sp>
      <p:sp>
        <p:nvSpPr>
          <p:cNvPr id="8" name="Text 6">
            <a:extLst>
              <a:ext uri="{FF2B5EF4-FFF2-40B4-BE49-F238E27FC236}">
                <a16:creationId xmlns:a16="http://schemas.microsoft.com/office/drawing/2014/main" xmlns="" id="{EDE8EF40-C2E5-4E6B-9E1E-FA424FB9D448}"/>
              </a:ext>
            </a:extLst>
          </p:cNvPr>
          <p:cNvSpPr>
            <a:spLocks noGrp="1"/>
          </p:cNvSpPr>
          <p:nvPr/>
        </p:nvSpPr>
        <p:spPr>
          <a:xfrm>
            <a:off x="822960" y="172821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2565E50B-1674-4617-96DD-E86B227381B7}"/>
              </a:ext>
            </a:extLst>
          </p:cNvPr>
          <p:cNvSpPr>
            <a:spLocks noGrp="1"/>
          </p:cNvSpPr>
          <p:nvPr/>
        </p:nvSpPr>
        <p:spPr>
          <a:xfrm>
            <a:off x="1152144" y="1691640"/>
            <a:ext cx="10277856" cy="457200"/>
          </a:xfrm>
          <a:prstGeom prst="rect">
            <a:avLst/>
          </a:prstGeom>
          <a:noFill/>
        </p:spPr>
        <p:txBody>
          <a:bodyPr wrap="square" lIns="254" tIns="254" rIns="254" bIns="254" anchor="ctr">
            <a:normAutofit/>
          </a:bodyPr>
          <a:lstStyle/>
          <a:p>
            <a:pPr marL="0" indent="0">
              <a:buNone/>
            </a:pPr>
            <a:r>
              <a:rPr sz="2100">
                <a:solidFill>
                  <a:srgbClr val="1F2937"/>
                </a:solidFill>
              </a:rPr>
              <a:t>A raw transcript is usually unstructured speech, not a clean essay.</a:t>
            </a:r>
          </a:p>
        </p:txBody>
      </p:sp>
      <p:sp>
        <p:nvSpPr>
          <p:cNvPr id="10" name="Text 8">
            <a:extLst>
              <a:ext uri="{FF2B5EF4-FFF2-40B4-BE49-F238E27FC236}">
                <a16:creationId xmlns:a16="http://schemas.microsoft.com/office/drawing/2014/main" xmlns="" id="{EE7BE21F-EEA8-467D-ABAE-2779BD7CE1C9}"/>
              </a:ext>
            </a:extLst>
          </p:cNvPr>
          <p:cNvSpPr>
            <a:spLocks noGrp="1"/>
          </p:cNvSpPr>
          <p:nvPr/>
        </p:nvSpPr>
        <p:spPr>
          <a:xfrm>
            <a:off x="822960" y="231343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52229225-BF82-4DA6-BF93-506C9EC86BDC}"/>
              </a:ext>
            </a:extLst>
          </p:cNvPr>
          <p:cNvSpPr>
            <a:spLocks noGrp="1"/>
          </p:cNvSpPr>
          <p:nvPr/>
        </p:nvSpPr>
        <p:spPr>
          <a:xfrm>
            <a:off x="1152144" y="2276856"/>
            <a:ext cx="10277856" cy="457200"/>
          </a:xfrm>
          <a:prstGeom prst="rect">
            <a:avLst/>
          </a:prstGeom>
          <a:noFill/>
        </p:spPr>
        <p:txBody>
          <a:bodyPr wrap="square" lIns="254" tIns="254" rIns="254" bIns="254" anchor="ctr">
            <a:normAutofit/>
          </a:bodyPr>
          <a:lstStyle/>
          <a:p>
            <a:pPr marL="0" indent="0">
              <a:buNone/>
            </a:pPr>
            <a:r>
              <a:rPr sz="2100">
                <a:solidFill>
                  <a:srgbClr val="1F2937"/>
                </a:solidFill>
              </a:rPr>
              <a:t>Speakers repeat, interrupt themselves, change topics, and use vague references.</a:t>
            </a:r>
          </a:p>
        </p:txBody>
      </p:sp>
      <p:sp>
        <p:nvSpPr>
          <p:cNvPr id="12" name="Text 10">
            <a:extLst>
              <a:ext uri="{FF2B5EF4-FFF2-40B4-BE49-F238E27FC236}">
                <a16:creationId xmlns:a16="http://schemas.microsoft.com/office/drawing/2014/main" xmlns="" id="{E694D277-A13B-478B-9AF8-D6F9AEE085D9}"/>
              </a:ext>
            </a:extLst>
          </p:cNvPr>
          <p:cNvSpPr>
            <a:spLocks noGrp="1"/>
          </p:cNvSpPr>
          <p:nvPr/>
        </p:nvSpPr>
        <p:spPr>
          <a:xfrm>
            <a:off x="822960" y="289864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3E2CD847-FB70-4CB0-8951-5498BCF448E7}"/>
              </a:ext>
            </a:extLst>
          </p:cNvPr>
          <p:cNvSpPr>
            <a:spLocks noGrp="1"/>
          </p:cNvSpPr>
          <p:nvPr/>
        </p:nvSpPr>
        <p:spPr>
          <a:xfrm>
            <a:off x="1152144" y="2862072"/>
            <a:ext cx="10277856" cy="457200"/>
          </a:xfrm>
          <a:prstGeom prst="rect">
            <a:avLst/>
          </a:prstGeom>
          <a:noFill/>
        </p:spPr>
        <p:txBody>
          <a:bodyPr wrap="square" lIns="254" tIns="254" rIns="254" bIns="254" anchor="ctr">
            <a:normAutofit/>
          </a:bodyPr>
          <a:lstStyle/>
          <a:p>
            <a:pPr marL="0" indent="0">
              <a:buNone/>
            </a:pPr>
            <a:r>
              <a:rPr sz="2100">
                <a:solidFill>
                  <a:srgbClr val="1F2937"/>
                </a:solidFill>
              </a:rPr>
              <a:t>A curated knowledge base removes duplicates, adds structure, and flags weak claims.</a:t>
            </a:r>
          </a:p>
        </p:txBody>
      </p:sp>
      <p:sp>
        <p:nvSpPr>
          <p:cNvPr id="14" name="Text 12">
            <a:extLst>
              <a:ext uri="{FF2B5EF4-FFF2-40B4-BE49-F238E27FC236}">
                <a16:creationId xmlns:a16="http://schemas.microsoft.com/office/drawing/2014/main" xmlns="" id="{FB317C27-0816-4658-AB51-02A41FB875CB}"/>
              </a:ext>
            </a:extLst>
          </p:cNvPr>
          <p:cNvSpPr>
            <a:spLocks noGrp="1"/>
          </p:cNvSpPr>
          <p:nvPr/>
        </p:nvSpPr>
        <p:spPr>
          <a:xfrm>
            <a:off x="822960" y="348386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4CE4D893-8589-43D5-A991-BBB77EA6974A}"/>
              </a:ext>
            </a:extLst>
          </p:cNvPr>
          <p:cNvSpPr>
            <a:spLocks noGrp="1"/>
          </p:cNvSpPr>
          <p:nvPr/>
        </p:nvSpPr>
        <p:spPr>
          <a:xfrm>
            <a:off x="1152144" y="3447288"/>
            <a:ext cx="10277856" cy="457200"/>
          </a:xfrm>
          <a:prstGeom prst="rect">
            <a:avLst/>
          </a:prstGeom>
          <a:noFill/>
        </p:spPr>
        <p:txBody>
          <a:bodyPr wrap="square" lIns="254" tIns="254" rIns="254" bIns="254" anchor="ctr">
            <a:normAutofit/>
          </a:bodyPr>
          <a:lstStyle/>
          <a:p>
            <a:pPr marL="0" indent="0">
              <a:buNone/>
            </a:pPr>
            <a:r>
              <a:rPr sz="2100">
                <a:solidFill>
                  <a:srgbClr val="1F2937"/>
                </a:solidFill>
              </a:rPr>
              <a:t>The pipeline is a curation machine: it turns raw speech into organized knowledge.</a:t>
            </a:r>
          </a:p>
        </p:txBody>
      </p:sp>
      <p:sp>
        <p:nvSpPr>
          <p:cNvPr id="16" name="Text 14">
            <a:extLst>
              <a:ext uri="{FF2B5EF4-FFF2-40B4-BE49-F238E27FC236}">
                <a16:creationId xmlns:a16="http://schemas.microsoft.com/office/drawing/2014/main" xmlns="" id="{CFD21D7C-4C31-4B79-A87D-3287B9E82BD5}"/>
              </a:ext>
            </a:extLst>
          </p:cNvPr>
          <p:cNvSpPr>
            <a:spLocks noGrp="1"/>
          </p:cNvSpPr>
          <p:nvPr/>
        </p:nvSpPr>
        <p:spPr>
          <a:xfrm>
            <a:off x="1051560" y="5074920"/>
            <a:ext cx="10058400" cy="713232"/>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Garbage in, garbage out means: poor input structure leads to poor answers, even if the model is powerful.</a:t>
            </a:r>
          </a:p>
        </p:txBody>
      </p:sp>
    </p:spTree>
    <p:extLst>
      <p:ext uri="{BB962C8B-B14F-4D97-AF65-F5344CB8AC3E}">
        <p14:creationId xmlns:p14="http://schemas.microsoft.com/office/powerpoint/2010/main" val="9345678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9D53465-DADE-44D7-A11D-AD578A2D150A}"/>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BAFC4F46-7229-4FFC-A312-01AC17827069}"/>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1 · Motivation</a:t>
            </a:r>
          </a:p>
        </p:txBody>
      </p:sp>
      <p:sp>
        <p:nvSpPr>
          <p:cNvPr id="4" name="Shape 2">
            <a:extLst>
              <a:ext uri="{FF2B5EF4-FFF2-40B4-BE49-F238E27FC236}">
                <a16:creationId xmlns:a16="http://schemas.microsoft.com/office/drawing/2014/main" xmlns="" id="{8A43AF7A-65F6-424E-B0EF-CD092217C1ED}"/>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50874B2-96F1-4808-B99B-2A7A6960FB61}"/>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7ECBF313-CF9C-4DB8-8BCE-4F9FDFF568CB}"/>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What “curated” means here</a:t>
            </a:r>
          </a:p>
        </p:txBody>
      </p:sp>
      <p:sp>
        <p:nvSpPr>
          <p:cNvPr id="7" name="Text 5">
            <a:extLst>
              <a:ext uri="{FF2B5EF4-FFF2-40B4-BE49-F238E27FC236}">
                <a16:creationId xmlns:a16="http://schemas.microsoft.com/office/drawing/2014/main" xmlns="" id="{8687E5B9-B0CB-4C88-8623-472C7778A8E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system is not just making the text shorter. It is making the text more organized.</a:t>
            </a:r>
          </a:p>
        </p:txBody>
      </p:sp>
      <p:sp>
        <p:nvSpPr>
          <p:cNvPr id="8" name="Text 6">
            <a:extLst>
              <a:ext uri="{FF2B5EF4-FFF2-40B4-BE49-F238E27FC236}">
                <a16:creationId xmlns:a16="http://schemas.microsoft.com/office/drawing/2014/main" xmlns="" id="{3E493AEC-506D-4303-A561-91D1EFF2883B}"/>
              </a:ext>
            </a:extLst>
          </p:cNvPr>
          <p:cNvSpPr>
            <a:spLocks noGrp="1"/>
          </p:cNvSpPr>
          <p:nvPr/>
        </p:nvSpPr>
        <p:spPr>
          <a:xfrm>
            <a:off x="1005840" y="1691640"/>
            <a:ext cx="4937760" cy="562356"/>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670" b="1">
                <a:solidFill>
                  <a:srgbClr val="1F2937"/>
                </a:solidFill>
              </a:rPr>
              <a:t>Raw transcript</a:t>
            </a:r>
          </a:p>
        </p:txBody>
      </p:sp>
      <p:sp>
        <p:nvSpPr>
          <p:cNvPr id="9" name="Text 7">
            <a:extLst>
              <a:ext uri="{FF2B5EF4-FFF2-40B4-BE49-F238E27FC236}">
                <a16:creationId xmlns:a16="http://schemas.microsoft.com/office/drawing/2014/main" xmlns="" id="{4E27B60B-DDBB-4767-A0FF-73ED95AAE423}"/>
              </a:ext>
            </a:extLst>
          </p:cNvPr>
          <p:cNvSpPr>
            <a:spLocks noGrp="1"/>
          </p:cNvSpPr>
          <p:nvPr/>
        </p:nvSpPr>
        <p:spPr>
          <a:xfrm>
            <a:off x="5943600" y="1691640"/>
            <a:ext cx="5212080" cy="562356"/>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670" b="1">
                <a:solidFill>
                  <a:srgbClr val="1F2937"/>
                </a:solidFill>
              </a:rPr>
              <a:t>Curated compendium</a:t>
            </a:r>
          </a:p>
        </p:txBody>
      </p:sp>
      <p:sp>
        <p:nvSpPr>
          <p:cNvPr id="10" name="Text 8">
            <a:extLst>
              <a:ext uri="{FF2B5EF4-FFF2-40B4-BE49-F238E27FC236}">
                <a16:creationId xmlns:a16="http://schemas.microsoft.com/office/drawing/2014/main" xmlns="" id="{E134FFCD-0845-40A1-B222-DA6886452238}"/>
              </a:ext>
            </a:extLst>
          </p:cNvPr>
          <p:cNvSpPr>
            <a:spLocks noGrp="1"/>
          </p:cNvSpPr>
          <p:nvPr/>
        </p:nvSpPr>
        <p:spPr>
          <a:xfrm>
            <a:off x="1005840" y="2267712"/>
            <a:ext cx="493776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Long, repetitive speech</a:t>
            </a:r>
          </a:p>
        </p:txBody>
      </p:sp>
      <p:sp>
        <p:nvSpPr>
          <p:cNvPr id="11" name="Text 9">
            <a:extLst>
              <a:ext uri="{FF2B5EF4-FFF2-40B4-BE49-F238E27FC236}">
                <a16:creationId xmlns:a16="http://schemas.microsoft.com/office/drawing/2014/main" xmlns="" id="{C825092E-E5AD-4100-856A-AA75AB757191}"/>
              </a:ext>
            </a:extLst>
          </p:cNvPr>
          <p:cNvSpPr>
            <a:spLocks noGrp="1"/>
          </p:cNvSpPr>
          <p:nvPr/>
        </p:nvSpPr>
        <p:spPr>
          <a:xfrm>
            <a:off x="5943600" y="2267712"/>
            <a:ext cx="52120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Deduplicated claims</a:t>
            </a:r>
          </a:p>
        </p:txBody>
      </p:sp>
      <p:sp>
        <p:nvSpPr>
          <p:cNvPr id="12" name="Text 10">
            <a:extLst>
              <a:ext uri="{FF2B5EF4-FFF2-40B4-BE49-F238E27FC236}">
                <a16:creationId xmlns:a16="http://schemas.microsoft.com/office/drawing/2014/main" xmlns="" id="{BEB3B715-C73F-425A-9246-0F4AA56D2E61}"/>
              </a:ext>
            </a:extLst>
          </p:cNvPr>
          <p:cNvSpPr>
            <a:spLocks noGrp="1"/>
          </p:cNvSpPr>
          <p:nvPr/>
        </p:nvSpPr>
        <p:spPr>
          <a:xfrm>
            <a:off x="1005840" y="2843784"/>
            <a:ext cx="493776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No clear chapter structure</a:t>
            </a:r>
          </a:p>
        </p:txBody>
      </p:sp>
      <p:sp>
        <p:nvSpPr>
          <p:cNvPr id="13" name="Text 11">
            <a:extLst>
              <a:ext uri="{FF2B5EF4-FFF2-40B4-BE49-F238E27FC236}">
                <a16:creationId xmlns:a16="http://schemas.microsoft.com/office/drawing/2014/main" xmlns="" id="{8C313947-6295-49FD-89CC-1A4336BF1A08}"/>
              </a:ext>
            </a:extLst>
          </p:cNvPr>
          <p:cNvSpPr>
            <a:spLocks noGrp="1"/>
          </p:cNvSpPr>
          <p:nvPr/>
        </p:nvSpPr>
        <p:spPr>
          <a:xfrm>
            <a:off x="5943600" y="2843784"/>
            <a:ext cx="52120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Central claims and themes</a:t>
            </a:r>
          </a:p>
        </p:txBody>
      </p:sp>
      <p:sp>
        <p:nvSpPr>
          <p:cNvPr id="14" name="Text 12">
            <a:extLst>
              <a:ext uri="{FF2B5EF4-FFF2-40B4-BE49-F238E27FC236}">
                <a16:creationId xmlns:a16="http://schemas.microsoft.com/office/drawing/2014/main" xmlns="" id="{15194C2A-B4AB-4A41-A44C-A8D7548C6272}"/>
              </a:ext>
            </a:extLst>
          </p:cNvPr>
          <p:cNvSpPr>
            <a:spLocks noGrp="1"/>
          </p:cNvSpPr>
          <p:nvPr/>
        </p:nvSpPr>
        <p:spPr>
          <a:xfrm>
            <a:off x="1005840" y="3419856"/>
            <a:ext cx="493776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Evidence mixed into the talk</a:t>
            </a:r>
          </a:p>
        </p:txBody>
      </p:sp>
      <p:sp>
        <p:nvSpPr>
          <p:cNvPr id="15" name="Text 13">
            <a:extLst>
              <a:ext uri="{FF2B5EF4-FFF2-40B4-BE49-F238E27FC236}">
                <a16:creationId xmlns:a16="http://schemas.microsoft.com/office/drawing/2014/main" xmlns="" id="{09578CA2-3FD9-43D3-A2C4-59EC1C0CDC48}"/>
              </a:ext>
            </a:extLst>
          </p:cNvPr>
          <p:cNvSpPr>
            <a:spLocks noGrp="1"/>
          </p:cNvSpPr>
          <p:nvPr/>
        </p:nvSpPr>
        <p:spPr>
          <a:xfrm>
            <a:off x="5943600" y="3419856"/>
            <a:ext cx="52120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Evidence listed under arguments</a:t>
            </a:r>
          </a:p>
        </p:txBody>
      </p:sp>
      <p:sp>
        <p:nvSpPr>
          <p:cNvPr id="16" name="Text 14">
            <a:extLst>
              <a:ext uri="{FF2B5EF4-FFF2-40B4-BE49-F238E27FC236}">
                <a16:creationId xmlns:a16="http://schemas.microsoft.com/office/drawing/2014/main" xmlns="" id="{B83C35B2-6E0F-480C-A6E0-30326305A809}"/>
              </a:ext>
            </a:extLst>
          </p:cNvPr>
          <p:cNvSpPr>
            <a:spLocks noGrp="1"/>
          </p:cNvSpPr>
          <p:nvPr/>
        </p:nvSpPr>
        <p:spPr>
          <a:xfrm>
            <a:off x="1005840" y="3995928"/>
            <a:ext cx="493776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Unclear source strength</a:t>
            </a:r>
          </a:p>
        </p:txBody>
      </p:sp>
      <p:sp>
        <p:nvSpPr>
          <p:cNvPr id="17" name="Text 15">
            <a:extLst>
              <a:ext uri="{FF2B5EF4-FFF2-40B4-BE49-F238E27FC236}">
                <a16:creationId xmlns:a16="http://schemas.microsoft.com/office/drawing/2014/main" xmlns="" id="{D75BB0AB-DE98-40F1-896B-5A65935DBC51}"/>
              </a:ext>
            </a:extLst>
          </p:cNvPr>
          <p:cNvSpPr>
            <a:spLocks noGrp="1"/>
          </p:cNvSpPr>
          <p:nvPr/>
        </p:nvSpPr>
        <p:spPr>
          <a:xfrm>
            <a:off x="5943600" y="3995928"/>
            <a:ext cx="52120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Verification status flags</a:t>
            </a:r>
          </a:p>
        </p:txBody>
      </p:sp>
      <p:sp>
        <p:nvSpPr>
          <p:cNvPr id="18" name="Text 16">
            <a:extLst>
              <a:ext uri="{FF2B5EF4-FFF2-40B4-BE49-F238E27FC236}">
                <a16:creationId xmlns:a16="http://schemas.microsoft.com/office/drawing/2014/main" xmlns="" id="{F34383CE-4D6B-4792-B4EA-DFBFE39C2D4F}"/>
              </a:ext>
            </a:extLst>
          </p:cNvPr>
          <p:cNvSpPr>
            <a:spLocks noGrp="1"/>
          </p:cNvSpPr>
          <p:nvPr/>
        </p:nvSpPr>
        <p:spPr>
          <a:xfrm>
            <a:off x="1005840" y="4572000"/>
            <a:ext cx="493776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Hard to search as a whole</a:t>
            </a:r>
          </a:p>
        </p:txBody>
      </p:sp>
      <p:sp>
        <p:nvSpPr>
          <p:cNvPr id="19" name="Text 17">
            <a:extLst>
              <a:ext uri="{FF2B5EF4-FFF2-40B4-BE49-F238E27FC236}">
                <a16:creationId xmlns:a16="http://schemas.microsoft.com/office/drawing/2014/main" xmlns="" id="{0A922356-72D1-459C-87AE-A519A24380F8}"/>
              </a:ext>
            </a:extLst>
          </p:cNvPr>
          <p:cNvSpPr>
            <a:spLocks noGrp="1"/>
          </p:cNvSpPr>
          <p:nvPr/>
        </p:nvSpPr>
        <p:spPr>
          <a:xfrm>
            <a:off x="5943600" y="4572000"/>
            <a:ext cx="52120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00">
                <a:solidFill>
                  <a:srgbClr val="1F2937"/>
                </a:solidFill>
              </a:rPr>
              <a:t>Cross-indexed knowledge base</a:t>
            </a:r>
          </a:p>
        </p:txBody>
      </p:sp>
    </p:spTree>
    <p:extLst>
      <p:ext uri="{BB962C8B-B14F-4D97-AF65-F5344CB8AC3E}">
        <p14:creationId xmlns:p14="http://schemas.microsoft.com/office/powerpoint/2010/main" val="2035134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A47571C-4108-4FCE-9C83-9C33A7766BB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2EA5B3AD-0F26-40D0-9407-6FFCF275E3B9}"/>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CC6463D5-CA1F-4682-8BF6-DD860B86A4D1}"/>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28224FE1-737A-4D04-8D72-B998F1476E27}"/>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6DDED257-C43E-4A85-A54F-7577B45DABA7}"/>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0E6B46"/>
                </a:solidFill>
              </a:rPr>
              <a:t>The desired output</a:t>
            </a:r>
          </a:p>
        </p:txBody>
      </p:sp>
      <p:sp>
        <p:nvSpPr>
          <p:cNvPr id="7" name="Text 5">
            <a:extLst>
              <a:ext uri="{FF2B5EF4-FFF2-40B4-BE49-F238E27FC236}">
                <a16:creationId xmlns:a16="http://schemas.microsoft.com/office/drawing/2014/main" xmlns="" id="{514298BE-B65D-48DF-9E68-0EBB5230549B}"/>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Before explaining the program, define what the program must produce.</a:t>
            </a:r>
          </a:p>
        </p:txBody>
      </p:sp>
    </p:spTree>
    <p:extLst>
      <p:ext uri="{BB962C8B-B14F-4D97-AF65-F5344CB8AC3E}">
        <p14:creationId xmlns:p14="http://schemas.microsoft.com/office/powerpoint/2010/main" val="859911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C25CBB19-FB27-4FBF-88D4-814F31FA59BE}"/>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3519968E-0987-466C-B0D4-860F388875A2}"/>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C3144859-05FA-4858-94B0-4B16E5BFAEAF}"/>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4070EC53-7E86-46A9-885F-FF12C06644EB}"/>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DBF97EA-89A2-4799-890C-EFEB12282B4C}"/>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final output has two files</a:t>
            </a:r>
          </a:p>
        </p:txBody>
      </p:sp>
      <p:sp>
        <p:nvSpPr>
          <p:cNvPr id="7" name="Text 5">
            <a:extLst>
              <a:ext uri="{FF2B5EF4-FFF2-40B4-BE49-F238E27FC236}">
                <a16:creationId xmlns:a16="http://schemas.microsoft.com/office/drawing/2014/main" xmlns="" id="{B073D90E-5553-4A3B-A513-37CDDDEB4E46}"/>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pipeline produces one main knowledge file and one claim-checking file.</a:t>
            </a:r>
          </a:p>
        </p:txBody>
      </p:sp>
      <p:sp>
        <p:nvSpPr>
          <p:cNvPr id="8" name="Text 6">
            <a:extLst>
              <a:ext uri="{FF2B5EF4-FFF2-40B4-BE49-F238E27FC236}">
                <a16:creationId xmlns:a16="http://schemas.microsoft.com/office/drawing/2014/main" xmlns="" id="{BC39C31B-BF45-4661-855A-11F13AA83B9F}"/>
              </a:ext>
            </a:extLst>
          </p:cNvPr>
          <p:cNvSpPr>
            <a:spLocks noGrp="1"/>
          </p:cNvSpPr>
          <p:nvPr/>
        </p:nvSpPr>
        <p:spPr>
          <a:xfrm>
            <a:off x="960120" y="2103120"/>
            <a:ext cx="4800600" cy="105156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200" b="1">
                <a:solidFill>
                  <a:srgbClr val="1F2937"/>
                </a:solidFill>
              </a:rPr>
              <a:t>compendium.md</a:t>
            </a:r>
          </a:p>
          <a:p>
            <a:pPr marL="0" indent="0" algn="ctr">
              <a:buNone/>
            </a:pPr>
            <a:r>
              <a:rPr sz="2200" b="1">
                <a:solidFill>
                  <a:srgbClr val="1F2937"/>
                </a:solidFill>
              </a:rPr>
              <a:t>The structured “book” of the channel</a:t>
            </a:r>
          </a:p>
        </p:txBody>
      </p:sp>
      <p:sp>
        <p:nvSpPr>
          <p:cNvPr id="9" name="Text 7">
            <a:extLst>
              <a:ext uri="{FF2B5EF4-FFF2-40B4-BE49-F238E27FC236}">
                <a16:creationId xmlns:a16="http://schemas.microsoft.com/office/drawing/2014/main" xmlns="" id="{F24D47DC-CB0C-4992-9A44-45FC7A549A1F}"/>
              </a:ext>
            </a:extLst>
          </p:cNvPr>
          <p:cNvSpPr>
            <a:spLocks noGrp="1"/>
          </p:cNvSpPr>
          <p:nvPr/>
        </p:nvSpPr>
        <p:spPr>
          <a:xfrm>
            <a:off x="6446520" y="2103120"/>
            <a:ext cx="4800600" cy="1051560"/>
          </a:xfrm>
          <a:prstGeom prst="rect">
            <a:avLst/>
          </a:prstGeom>
          <a:solidFill>
            <a:srgbClr val="FFF3DA"/>
          </a:solidFill>
          <a:ln w="15240">
            <a:solidFill>
              <a:srgbClr val="A55D00"/>
            </a:solidFill>
          </a:ln>
        </p:spPr>
        <p:txBody>
          <a:bodyPr wrap="square" lIns="1016" tIns="1016" rIns="1016" bIns="1016" anchor="ctr">
            <a:normAutofit/>
          </a:bodyPr>
          <a:lstStyle/>
          <a:p>
            <a:pPr marL="0" indent="0" algn="ctr">
              <a:buNone/>
            </a:pPr>
            <a:r>
              <a:rPr sz="2200" b="1">
                <a:solidFill>
                  <a:srgbClr val="1F2937"/>
                </a:solidFill>
              </a:rPr>
              <a:t>unverifiable_claims.md</a:t>
            </a:r>
          </a:p>
          <a:p>
            <a:pPr marL="0" indent="0" algn="ctr">
              <a:buNone/>
            </a:pPr>
            <a:r>
              <a:rPr sz="2200" b="1">
                <a:solidFill>
                  <a:srgbClr val="1F2937"/>
                </a:solidFill>
              </a:rPr>
              <a:t>Claims that need later checking</a:t>
            </a:r>
          </a:p>
        </p:txBody>
      </p:sp>
      <p:sp>
        <p:nvSpPr>
          <p:cNvPr id="10" name="Text 8">
            <a:extLst>
              <a:ext uri="{FF2B5EF4-FFF2-40B4-BE49-F238E27FC236}">
                <a16:creationId xmlns:a16="http://schemas.microsoft.com/office/drawing/2014/main" xmlns="" id="{0A108FAB-89FD-4D4F-B22F-C2A60D0FF3BB}"/>
              </a:ext>
            </a:extLst>
          </p:cNvPr>
          <p:cNvSpPr>
            <a:spLocks noGrp="1"/>
          </p:cNvSpPr>
          <p:nvPr/>
        </p:nvSpPr>
        <p:spPr>
          <a:xfrm>
            <a:off x="1051560" y="392277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5D03D580-2ADA-47B2-8D78-B374D4BA0C80}"/>
              </a:ext>
            </a:extLst>
          </p:cNvPr>
          <p:cNvSpPr>
            <a:spLocks noGrp="1"/>
          </p:cNvSpPr>
          <p:nvPr/>
        </p:nvSpPr>
        <p:spPr>
          <a:xfrm>
            <a:off x="1380744" y="3886200"/>
            <a:ext cx="9729216" cy="438912"/>
          </a:xfrm>
          <a:prstGeom prst="rect">
            <a:avLst/>
          </a:prstGeom>
          <a:noFill/>
        </p:spPr>
        <p:txBody>
          <a:bodyPr wrap="square" lIns="254" tIns="254" rIns="254" bIns="254" anchor="ctr">
            <a:normAutofit/>
          </a:bodyPr>
          <a:lstStyle/>
          <a:p>
            <a:pPr marL="0" indent="0">
              <a:buNone/>
            </a:pPr>
            <a:r>
              <a:rPr sz="2100">
                <a:solidFill>
                  <a:srgbClr val="1F2937"/>
                </a:solidFill>
              </a:rPr>
              <a:t>The compendium is meant to answer “What is the speaker’s model?”</a:t>
            </a:r>
          </a:p>
        </p:txBody>
      </p:sp>
      <p:sp>
        <p:nvSpPr>
          <p:cNvPr id="12" name="Text 10">
            <a:extLst>
              <a:ext uri="{FF2B5EF4-FFF2-40B4-BE49-F238E27FC236}">
                <a16:creationId xmlns:a16="http://schemas.microsoft.com/office/drawing/2014/main" xmlns="" id="{4D2AAE42-CA1F-4F6B-910A-7161D57F063D}"/>
              </a:ext>
            </a:extLst>
          </p:cNvPr>
          <p:cNvSpPr>
            <a:spLocks noGrp="1"/>
          </p:cNvSpPr>
          <p:nvPr/>
        </p:nvSpPr>
        <p:spPr>
          <a:xfrm>
            <a:off x="1051560" y="448970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33146689-4DD7-4C4D-9FEC-C895F1430954}"/>
              </a:ext>
            </a:extLst>
          </p:cNvPr>
          <p:cNvSpPr>
            <a:spLocks noGrp="1"/>
          </p:cNvSpPr>
          <p:nvPr/>
        </p:nvSpPr>
        <p:spPr>
          <a:xfrm>
            <a:off x="1380744" y="4453128"/>
            <a:ext cx="9729216" cy="438912"/>
          </a:xfrm>
          <a:prstGeom prst="rect">
            <a:avLst/>
          </a:prstGeom>
          <a:noFill/>
        </p:spPr>
        <p:txBody>
          <a:bodyPr wrap="square" lIns="254" tIns="254" rIns="254" bIns="254" anchor="ctr">
            <a:normAutofit/>
          </a:bodyPr>
          <a:lstStyle/>
          <a:p>
            <a:pPr marL="0" indent="0">
              <a:buNone/>
            </a:pPr>
            <a:r>
              <a:rPr sz="2100">
                <a:solidFill>
                  <a:srgbClr val="1F2937"/>
                </a:solidFill>
              </a:rPr>
              <a:t>The unverifiable-claims file is meant to answer “Which statements need checking?”</a:t>
            </a:r>
          </a:p>
        </p:txBody>
      </p:sp>
      <p:sp>
        <p:nvSpPr>
          <p:cNvPr id="14" name="Text 12">
            <a:extLst>
              <a:ext uri="{FF2B5EF4-FFF2-40B4-BE49-F238E27FC236}">
                <a16:creationId xmlns:a16="http://schemas.microsoft.com/office/drawing/2014/main" xmlns="" id="{60BBDBFE-F992-434C-BC15-906C6C0CBA93}"/>
              </a:ext>
            </a:extLst>
          </p:cNvPr>
          <p:cNvSpPr>
            <a:spLocks noGrp="1"/>
          </p:cNvSpPr>
          <p:nvPr/>
        </p:nvSpPr>
        <p:spPr>
          <a:xfrm>
            <a:off x="1051560" y="505663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AAFB8C8C-4A81-4DEE-9CF1-A59D89951880}"/>
              </a:ext>
            </a:extLst>
          </p:cNvPr>
          <p:cNvSpPr>
            <a:spLocks noGrp="1"/>
          </p:cNvSpPr>
          <p:nvPr/>
        </p:nvSpPr>
        <p:spPr>
          <a:xfrm>
            <a:off x="1380744" y="5020056"/>
            <a:ext cx="9729216" cy="438912"/>
          </a:xfrm>
          <a:prstGeom prst="rect">
            <a:avLst/>
          </a:prstGeom>
          <a:noFill/>
        </p:spPr>
        <p:txBody>
          <a:bodyPr wrap="square" lIns="254" tIns="254" rIns="254" bIns="254" anchor="ctr">
            <a:normAutofit/>
          </a:bodyPr>
          <a:lstStyle/>
          <a:p>
            <a:pPr marL="0" indent="0">
              <a:buNone/>
            </a:pPr>
            <a:r>
              <a:rPr sz="2100">
                <a:solidFill>
                  <a:srgbClr val="1F2937"/>
                </a:solidFill>
              </a:rPr>
              <a:t>Together they help prevent the knowledge base from becoming a pile of untested claims.</a:t>
            </a:r>
          </a:p>
        </p:txBody>
      </p:sp>
    </p:spTree>
    <p:extLst>
      <p:ext uri="{BB962C8B-B14F-4D97-AF65-F5344CB8AC3E}">
        <p14:creationId xmlns:p14="http://schemas.microsoft.com/office/powerpoint/2010/main" val="77194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6260637-1D08-4AB7-ADCB-21B5617B637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65274434-41D9-43E9-AA43-503E4D7A505F}"/>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F4F3D7BF-3AC6-4291-949B-BCAB64EF6388}"/>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D202FF6C-400A-4FD0-8091-684F6730CBD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0BF52BBD-A5EF-48E3-AFE2-A27099F63DF6}"/>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What is a Markdown file?</a:t>
            </a:r>
          </a:p>
        </p:txBody>
      </p:sp>
      <p:sp>
        <p:nvSpPr>
          <p:cNvPr id="7" name="Text 5">
            <a:extLst>
              <a:ext uri="{FF2B5EF4-FFF2-40B4-BE49-F238E27FC236}">
                <a16:creationId xmlns:a16="http://schemas.microsoft.com/office/drawing/2014/main" xmlns="" id="{27D75483-C3C2-4671-B81C-C1E973CFF87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Markdown is a plain text file that uses simple symbols to mark structure.</a:t>
            </a:r>
          </a:p>
        </p:txBody>
      </p:sp>
      <p:sp>
        <p:nvSpPr>
          <p:cNvPr id="8" name="Text 6">
            <a:extLst>
              <a:ext uri="{FF2B5EF4-FFF2-40B4-BE49-F238E27FC236}">
                <a16:creationId xmlns:a16="http://schemas.microsoft.com/office/drawing/2014/main" xmlns="" id="{95614121-4359-4816-A354-060D96F51BDD}"/>
              </a:ext>
            </a:extLst>
          </p:cNvPr>
          <p:cNvSpPr>
            <a:spLocks noGrp="1"/>
          </p:cNvSpPr>
          <p:nvPr/>
        </p:nvSpPr>
        <p:spPr>
          <a:xfrm>
            <a:off x="868680" y="1691640"/>
            <a:ext cx="4389120" cy="2377440"/>
          </a:xfrm>
          <a:prstGeom prst="rect">
            <a:avLst/>
          </a:prstGeom>
          <a:solidFill>
            <a:srgbClr val="FFFFFF"/>
          </a:solidFill>
          <a:ln w="13970">
            <a:solidFill>
              <a:srgbClr val="D6D0C5"/>
            </a:solidFill>
          </a:ln>
        </p:spPr>
        <p:txBody>
          <a:bodyPr wrap="square" lIns="2286" tIns="2286" rIns="2286" bIns="2286" anchor="ctr">
            <a:normAutofit/>
          </a:bodyPr>
          <a:lstStyle/>
          <a:p>
            <a:pPr marL="0" indent="0">
              <a:buNone/>
            </a:pPr>
            <a:r>
              <a:rPr sz="1900">
                <a:solidFill>
                  <a:srgbClr val="1F2937"/>
                </a:solidFill>
                <a:latin typeface="Courier New"/>
                <a:ea typeface="Courier New"/>
                <a:cs typeface="Courier New"/>
              </a:rPr>
              <a:t># Chapter title</a:t>
            </a:r>
          </a:p>
          <a:p>
            <a:pPr marL="0" indent="0">
              <a:buNone/>
            </a:pPr>
            <a:r>
              <a:rPr sz="1900">
                <a:solidFill>
                  <a:srgbClr val="1F2937"/>
                </a:solidFill>
                <a:latin typeface="Courier New"/>
                <a:ea typeface="Courier New"/>
                <a:cs typeface="Courier New"/>
              </a:rPr>
              <a:t>## Section title</a:t>
            </a:r>
          </a:p>
          <a:p>
            <a:pPr marL="0" indent="0">
              <a:buNone/>
            </a:pPr>
            <a:r>
              <a:rPr sz="1900">
                <a:solidFill>
                  <a:srgbClr val="1F2937"/>
                </a:solidFill>
                <a:latin typeface="Courier New"/>
                <a:ea typeface="Courier New"/>
                <a:cs typeface="Courier New"/>
              </a:rPr>
              <a:t>### Subsection title</a:t>
            </a:r>
          </a:p>
          <a:p>
            <a:pPr marL="0" indent="0">
              <a:buNone/>
            </a:pPr>
            <a:r>
              <a:rPr sz="1900">
                <a:solidFill>
                  <a:srgbClr val="1F2937"/>
                </a:solidFill>
                <a:latin typeface="Courier New"/>
                <a:ea typeface="Courier New"/>
                <a:cs typeface="Courier New"/>
              </a:rPr>
              <a:t>- Bullet point</a:t>
            </a:r>
          </a:p>
          <a:p>
            <a:pPr marL="0" indent="0">
              <a:buNone/>
            </a:pPr>
            <a:r>
              <a:rPr sz="1900">
                <a:solidFill>
                  <a:srgbClr val="1F2937"/>
                </a:solidFill>
                <a:latin typeface="Courier New"/>
                <a:ea typeface="Courier New"/>
                <a:cs typeface="Courier New"/>
              </a:rPr>
              <a:t>**Bold phrase**</a:t>
            </a:r>
          </a:p>
        </p:txBody>
      </p:sp>
      <p:sp>
        <p:nvSpPr>
          <p:cNvPr id="9" name="Text 7">
            <a:extLst>
              <a:ext uri="{FF2B5EF4-FFF2-40B4-BE49-F238E27FC236}">
                <a16:creationId xmlns:a16="http://schemas.microsoft.com/office/drawing/2014/main" xmlns="" id="{82BD1C3E-9C7A-4275-9645-9E7B2F56AB52}"/>
              </a:ext>
            </a:extLst>
          </p:cNvPr>
          <p:cNvSpPr>
            <a:spLocks noGrp="1"/>
          </p:cNvSpPr>
          <p:nvPr/>
        </p:nvSpPr>
        <p:spPr>
          <a:xfrm>
            <a:off x="5715000" y="186537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0" name="Text 8">
            <a:extLst>
              <a:ext uri="{FF2B5EF4-FFF2-40B4-BE49-F238E27FC236}">
                <a16:creationId xmlns:a16="http://schemas.microsoft.com/office/drawing/2014/main" xmlns="" id="{CB1DFED0-E921-4D11-807B-D07E818A7FA6}"/>
              </a:ext>
            </a:extLst>
          </p:cNvPr>
          <p:cNvSpPr>
            <a:spLocks noGrp="1"/>
          </p:cNvSpPr>
          <p:nvPr/>
        </p:nvSpPr>
        <p:spPr>
          <a:xfrm>
            <a:off x="6044184" y="1828800"/>
            <a:ext cx="5340096" cy="457200"/>
          </a:xfrm>
          <a:prstGeom prst="rect">
            <a:avLst/>
          </a:prstGeom>
          <a:noFill/>
        </p:spPr>
        <p:txBody>
          <a:bodyPr wrap="square" lIns="254" tIns="254" rIns="254" bIns="254" anchor="ctr">
            <a:normAutofit/>
          </a:bodyPr>
          <a:lstStyle/>
          <a:p>
            <a:pPr marL="0" indent="0">
              <a:buNone/>
            </a:pPr>
            <a:r>
              <a:rPr sz="2100">
                <a:solidFill>
                  <a:srgbClr val="1F2937"/>
                </a:solidFill>
              </a:rPr>
              <a:t>A human can read it as ordinary text.</a:t>
            </a:r>
          </a:p>
        </p:txBody>
      </p:sp>
      <p:sp>
        <p:nvSpPr>
          <p:cNvPr id="11" name="Text 9">
            <a:extLst>
              <a:ext uri="{FF2B5EF4-FFF2-40B4-BE49-F238E27FC236}">
                <a16:creationId xmlns:a16="http://schemas.microsoft.com/office/drawing/2014/main" xmlns="" id="{FC6E2466-5690-4E22-8F00-6E7F38E2FD58}"/>
              </a:ext>
            </a:extLst>
          </p:cNvPr>
          <p:cNvSpPr>
            <a:spLocks noGrp="1"/>
          </p:cNvSpPr>
          <p:nvPr/>
        </p:nvSpPr>
        <p:spPr>
          <a:xfrm>
            <a:off x="5715000" y="245059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2" name="Text 10">
            <a:extLst>
              <a:ext uri="{FF2B5EF4-FFF2-40B4-BE49-F238E27FC236}">
                <a16:creationId xmlns:a16="http://schemas.microsoft.com/office/drawing/2014/main" xmlns="" id="{81E5EB8D-FE08-45F5-A3F8-6A1D6B8AFB1D}"/>
              </a:ext>
            </a:extLst>
          </p:cNvPr>
          <p:cNvSpPr>
            <a:spLocks noGrp="1"/>
          </p:cNvSpPr>
          <p:nvPr/>
        </p:nvSpPr>
        <p:spPr>
          <a:xfrm>
            <a:off x="6044184" y="2414016"/>
            <a:ext cx="5340096" cy="457200"/>
          </a:xfrm>
          <a:prstGeom prst="rect">
            <a:avLst/>
          </a:prstGeom>
          <a:noFill/>
        </p:spPr>
        <p:txBody>
          <a:bodyPr wrap="square" lIns="254" tIns="254" rIns="254" bIns="254" anchor="ctr">
            <a:normAutofit fontScale="85000" lnSpcReduction="20000"/>
          </a:bodyPr>
          <a:lstStyle/>
          <a:p>
            <a:pPr marL="0" indent="0">
              <a:buNone/>
            </a:pPr>
            <a:r>
              <a:rPr sz="2100">
                <a:solidFill>
                  <a:srgbClr val="1F2937"/>
                </a:solidFill>
              </a:rPr>
              <a:t>A computer can read its structure because the symbols are consistent.</a:t>
            </a:r>
          </a:p>
        </p:txBody>
      </p:sp>
      <p:sp>
        <p:nvSpPr>
          <p:cNvPr id="13" name="Text 11">
            <a:extLst>
              <a:ext uri="{FF2B5EF4-FFF2-40B4-BE49-F238E27FC236}">
                <a16:creationId xmlns:a16="http://schemas.microsoft.com/office/drawing/2014/main" xmlns="" id="{122C07B5-5D0E-4A50-8D31-4D753D08FC6E}"/>
              </a:ext>
            </a:extLst>
          </p:cNvPr>
          <p:cNvSpPr>
            <a:spLocks noGrp="1"/>
          </p:cNvSpPr>
          <p:nvPr/>
        </p:nvSpPr>
        <p:spPr>
          <a:xfrm>
            <a:off x="5715000" y="303580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4" name="Text 12">
            <a:extLst>
              <a:ext uri="{FF2B5EF4-FFF2-40B4-BE49-F238E27FC236}">
                <a16:creationId xmlns:a16="http://schemas.microsoft.com/office/drawing/2014/main" xmlns="" id="{69A45905-C59D-413A-BDDE-AED183EA9189}"/>
              </a:ext>
            </a:extLst>
          </p:cNvPr>
          <p:cNvSpPr>
            <a:spLocks noGrp="1"/>
          </p:cNvSpPr>
          <p:nvPr/>
        </p:nvSpPr>
        <p:spPr>
          <a:xfrm>
            <a:off x="6044184" y="2999232"/>
            <a:ext cx="5340096" cy="457200"/>
          </a:xfrm>
          <a:prstGeom prst="rect">
            <a:avLst/>
          </a:prstGeom>
          <a:noFill/>
        </p:spPr>
        <p:txBody>
          <a:bodyPr wrap="square" lIns="254" tIns="254" rIns="254" bIns="254" anchor="ctr">
            <a:normAutofit fontScale="85000" lnSpcReduction="20000"/>
          </a:bodyPr>
          <a:lstStyle/>
          <a:p>
            <a:pPr marL="0" indent="0">
              <a:buNone/>
            </a:pPr>
            <a:r>
              <a:rPr sz="2100">
                <a:solidFill>
                  <a:srgbClr val="1F2937"/>
                </a:solidFill>
              </a:rPr>
              <a:t>That makes Markdown useful for a machine-built compendium.</a:t>
            </a:r>
          </a:p>
        </p:txBody>
      </p:sp>
      <p:sp>
        <p:nvSpPr>
          <p:cNvPr id="15" name="Text 13">
            <a:extLst>
              <a:ext uri="{FF2B5EF4-FFF2-40B4-BE49-F238E27FC236}">
                <a16:creationId xmlns:a16="http://schemas.microsoft.com/office/drawing/2014/main" xmlns="" id="{0EF28750-4041-407D-A8E1-6AC15CC4CBC8}"/>
              </a:ext>
            </a:extLst>
          </p:cNvPr>
          <p:cNvSpPr>
            <a:spLocks noGrp="1"/>
          </p:cNvSpPr>
          <p:nvPr/>
        </p:nvSpPr>
        <p:spPr>
          <a:xfrm>
            <a:off x="1097280" y="4937760"/>
            <a:ext cx="9875520" cy="685800"/>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b="1">
                <a:solidFill>
                  <a:srgbClr val="1F2937"/>
                </a:solidFill>
              </a:rPr>
              <a:t>A machine reads a Markdown file more reliably than it reads a visually formatted book.</a:t>
            </a:r>
          </a:p>
        </p:txBody>
      </p:sp>
    </p:spTree>
    <p:extLst>
      <p:ext uri="{BB962C8B-B14F-4D97-AF65-F5344CB8AC3E}">
        <p14:creationId xmlns:p14="http://schemas.microsoft.com/office/powerpoint/2010/main" val="956452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68F5AFF5-3EE3-43DA-A657-C4472B3A7819}"/>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BD00A28-0483-4752-A5F4-B01797263747}"/>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8F004EB1-4ED4-4EBC-9689-C1BC433D282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2467A27E-2B65-4BE8-9998-D68C76E6358A}"/>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F1AB3B1C-DE40-4074-B485-158FC8A050EA}"/>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Book structure → compendium structure</a:t>
            </a:r>
          </a:p>
        </p:txBody>
      </p:sp>
      <p:sp>
        <p:nvSpPr>
          <p:cNvPr id="7" name="Text 5">
            <a:extLst>
              <a:ext uri="{FF2B5EF4-FFF2-40B4-BE49-F238E27FC236}">
                <a16:creationId xmlns:a16="http://schemas.microsoft.com/office/drawing/2014/main" xmlns="" id="{89973AF3-BC94-4801-892D-DD4221AB30D4}"/>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compendium imitates the parts of a serious non-fiction book.</a:t>
            </a:r>
          </a:p>
        </p:txBody>
      </p:sp>
      <p:sp>
        <p:nvSpPr>
          <p:cNvPr id="8" name="Text 6">
            <a:extLst>
              <a:ext uri="{FF2B5EF4-FFF2-40B4-BE49-F238E27FC236}">
                <a16:creationId xmlns:a16="http://schemas.microsoft.com/office/drawing/2014/main" xmlns="" id="{2FBFE353-FA50-4F6E-B9F7-3FF5F5C78B03}"/>
              </a:ext>
            </a:extLst>
          </p:cNvPr>
          <p:cNvSpPr>
            <a:spLocks noGrp="1"/>
          </p:cNvSpPr>
          <p:nvPr/>
        </p:nvSpPr>
        <p:spPr>
          <a:xfrm>
            <a:off x="594360" y="1664208"/>
            <a:ext cx="2286000" cy="617220"/>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520" b="1">
                <a:solidFill>
                  <a:srgbClr val="1F2937"/>
                </a:solidFill>
              </a:rPr>
              <a:t>Book element</a:t>
            </a:r>
          </a:p>
        </p:txBody>
      </p:sp>
      <p:sp>
        <p:nvSpPr>
          <p:cNvPr id="9" name="Text 7">
            <a:extLst>
              <a:ext uri="{FF2B5EF4-FFF2-40B4-BE49-F238E27FC236}">
                <a16:creationId xmlns:a16="http://schemas.microsoft.com/office/drawing/2014/main" xmlns="" id="{1955A4DC-210D-44C8-AF00-292AF9D52BF2}"/>
              </a:ext>
            </a:extLst>
          </p:cNvPr>
          <p:cNvSpPr>
            <a:spLocks noGrp="1"/>
          </p:cNvSpPr>
          <p:nvPr/>
        </p:nvSpPr>
        <p:spPr>
          <a:xfrm>
            <a:off x="2880360" y="1664208"/>
            <a:ext cx="2926080" cy="617220"/>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520" b="1">
                <a:solidFill>
                  <a:srgbClr val="1F2937"/>
                </a:solidFill>
              </a:rPr>
              <a:t>Compendium element</a:t>
            </a:r>
          </a:p>
        </p:txBody>
      </p:sp>
      <p:sp>
        <p:nvSpPr>
          <p:cNvPr id="10" name="Text 8">
            <a:extLst>
              <a:ext uri="{FF2B5EF4-FFF2-40B4-BE49-F238E27FC236}">
                <a16:creationId xmlns:a16="http://schemas.microsoft.com/office/drawing/2014/main" xmlns="" id="{9FD947ED-C1D4-4CAE-811D-97DDAB5E6F69}"/>
              </a:ext>
            </a:extLst>
          </p:cNvPr>
          <p:cNvSpPr>
            <a:spLocks noGrp="1"/>
          </p:cNvSpPr>
          <p:nvPr/>
        </p:nvSpPr>
        <p:spPr>
          <a:xfrm>
            <a:off x="5806440" y="1664208"/>
            <a:ext cx="5760720" cy="617220"/>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520" b="1">
                <a:solidFill>
                  <a:srgbClr val="1F2937"/>
                </a:solidFill>
              </a:rPr>
              <a:t>Plain meaning</a:t>
            </a:r>
          </a:p>
        </p:txBody>
      </p:sp>
      <p:sp>
        <p:nvSpPr>
          <p:cNvPr id="11" name="Text 9">
            <a:extLst>
              <a:ext uri="{FF2B5EF4-FFF2-40B4-BE49-F238E27FC236}">
                <a16:creationId xmlns:a16="http://schemas.microsoft.com/office/drawing/2014/main" xmlns="" id="{7C4548A7-22F6-4D7B-A286-27D20802E20C}"/>
              </a:ext>
            </a:extLst>
          </p:cNvPr>
          <p:cNvSpPr>
            <a:spLocks noGrp="1"/>
          </p:cNvSpPr>
          <p:nvPr/>
        </p:nvSpPr>
        <p:spPr>
          <a:xfrm>
            <a:off x="594360" y="2295144"/>
            <a:ext cx="228600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Chapter</a:t>
            </a:r>
          </a:p>
        </p:txBody>
      </p:sp>
      <p:sp>
        <p:nvSpPr>
          <p:cNvPr id="12" name="Text 10">
            <a:extLst>
              <a:ext uri="{FF2B5EF4-FFF2-40B4-BE49-F238E27FC236}">
                <a16:creationId xmlns:a16="http://schemas.microsoft.com/office/drawing/2014/main" xmlns="" id="{0FFB194D-CF08-4AE8-8F62-7F223EEF4FDC}"/>
              </a:ext>
            </a:extLst>
          </p:cNvPr>
          <p:cNvSpPr>
            <a:spLocks noGrp="1"/>
          </p:cNvSpPr>
          <p:nvPr/>
        </p:nvSpPr>
        <p:spPr>
          <a:xfrm>
            <a:off x="2880360" y="2295144"/>
            <a:ext cx="292608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Central Claim</a:t>
            </a:r>
          </a:p>
        </p:txBody>
      </p:sp>
      <p:sp>
        <p:nvSpPr>
          <p:cNvPr id="13" name="Text 11">
            <a:extLst>
              <a:ext uri="{FF2B5EF4-FFF2-40B4-BE49-F238E27FC236}">
                <a16:creationId xmlns:a16="http://schemas.microsoft.com/office/drawing/2014/main" xmlns="" id="{8F8904B6-916B-4B66-8245-8BD06E367923}"/>
              </a:ext>
            </a:extLst>
          </p:cNvPr>
          <p:cNvSpPr>
            <a:spLocks noGrp="1"/>
          </p:cNvSpPr>
          <p:nvPr/>
        </p:nvSpPr>
        <p:spPr>
          <a:xfrm>
            <a:off x="5806440" y="2295144"/>
            <a:ext cx="576072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A major thesis the speaker repeats</a:t>
            </a:r>
          </a:p>
        </p:txBody>
      </p:sp>
      <p:sp>
        <p:nvSpPr>
          <p:cNvPr id="14" name="Text 12">
            <a:extLst>
              <a:ext uri="{FF2B5EF4-FFF2-40B4-BE49-F238E27FC236}">
                <a16:creationId xmlns:a16="http://schemas.microsoft.com/office/drawing/2014/main" xmlns="" id="{1EF8F0AF-9940-4A2F-BBA9-BE5B54575C50}"/>
              </a:ext>
            </a:extLst>
          </p:cNvPr>
          <p:cNvSpPr>
            <a:spLocks noGrp="1"/>
          </p:cNvSpPr>
          <p:nvPr/>
        </p:nvSpPr>
        <p:spPr>
          <a:xfrm>
            <a:off x="594360" y="2926080"/>
            <a:ext cx="228600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Section</a:t>
            </a:r>
          </a:p>
        </p:txBody>
      </p:sp>
      <p:sp>
        <p:nvSpPr>
          <p:cNvPr id="15" name="Text 13">
            <a:extLst>
              <a:ext uri="{FF2B5EF4-FFF2-40B4-BE49-F238E27FC236}">
                <a16:creationId xmlns:a16="http://schemas.microsoft.com/office/drawing/2014/main" xmlns="" id="{759B7CAE-46F5-4013-8D94-3C1C3960EDF8}"/>
              </a:ext>
            </a:extLst>
          </p:cNvPr>
          <p:cNvSpPr>
            <a:spLocks noGrp="1"/>
          </p:cNvSpPr>
          <p:nvPr/>
        </p:nvSpPr>
        <p:spPr>
          <a:xfrm>
            <a:off x="2880360" y="2926080"/>
            <a:ext cx="292608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Theme</a:t>
            </a:r>
          </a:p>
        </p:txBody>
      </p:sp>
      <p:sp>
        <p:nvSpPr>
          <p:cNvPr id="16" name="Text 14">
            <a:extLst>
              <a:ext uri="{FF2B5EF4-FFF2-40B4-BE49-F238E27FC236}">
                <a16:creationId xmlns:a16="http://schemas.microsoft.com/office/drawing/2014/main" xmlns="" id="{E2E0641B-BD88-45C7-8DCB-2D0C5B7A2FEE}"/>
              </a:ext>
            </a:extLst>
          </p:cNvPr>
          <p:cNvSpPr>
            <a:spLocks noGrp="1"/>
          </p:cNvSpPr>
          <p:nvPr/>
        </p:nvSpPr>
        <p:spPr>
          <a:xfrm>
            <a:off x="5806440" y="2926080"/>
            <a:ext cx="576072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A specific topic inside that thesis</a:t>
            </a:r>
          </a:p>
        </p:txBody>
      </p:sp>
      <p:sp>
        <p:nvSpPr>
          <p:cNvPr id="17" name="Text 15">
            <a:extLst>
              <a:ext uri="{FF2B5EF4-FFF2-40B4-BE49-F238E27FC236}">
                <a16:creationId xmlns:a16="http://schemas.microsoft.com/office/drawing/2014/main" xmlns="" id="{5023D3F8-3E77-4757-A1DA-4749D29C7EB7}"/>
              </a:ext>
            </a:extLst>
          </p:cNvPr>
          <p:cNvSpPr>
            <a:spLocks noGrp="1"/>
          </p:cNvSpPr>
          <p:nvPr/>
        </p:nvSpPr>
        <p:spPr>
          <a:xfrm>
            <a:off x="594360" y="3557016"/>
            <a:ext cx="228600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Subsection</a:t>
            </a:r>
          </a:p>
        </p:txBody>
      </p:sp>
      <p:sp>
        <p:nvSpPr>
          <p:cNvPr id="18" name="Text 16">
            <a:extLst>
              <a:ext uri="{FF2B5EF4-FFF2-40B4-BE49-F238E27FC236}">
                <a16:creationId xmlns:a16="http://schemas.microsoft.com/office/drawing/2014/main" xmlns="" id="{2EC38A1E-26EB-47A7-824E-6F9046AD7280}"/>
              </a:ext>
            </a:extLst>
          </p:cNvPr>
          <p:cNvSpPr>
            <a:spLocks noGrp="1"/>
          </p:cNvSpPr>
          <p:nvPr/>
        </p:nvSpPr>
        <p:spPr>
          <a:xfrm>
            <a:off x="2880360" y="3557016"/>
            <a:ext cx="292608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Argument</a:t>
            </a:r>
          </a:p>
        </p:txBody>
      </p:sp>
      <p:sp>
        <p:nvSpPr>
          <p:cNvPr id="19" name="Text 17">
            <a:extLst>
              <a:ext uri="{FF2B5EF4-FFF2-40B4-BE49-F238E27FC236}">
                <a16:creationId xmlns:a16="http://schemas.microsoft.com/office/drawing/2014/main" xmlns="" id="{59C87106-06A7-4246-9B90-B658EB3A60CF}"/>
              </a:ext>
            </a:extLst>
          </p:cNvPr>
          <p:cNvSpPr>
            <a:spLocks noGrp="1"/>
          </p:cNvSpPr>
          <p:nvPr/>
        </p:nvSpPr>
        <p:spPr>
          <a:xfrm>
            <a:off x="5806440" y="3557016"/>
            <a:ext cx="576072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One claim with reasons</a:t>
            </a:r>
          </a:p>
        </p:txBody>
      </p:sp>
      <p:sp>
        <p:nvSpPr>
          <p:cNvPr id="20" name="Text 18">
            <a:extLst>
              <a:ext uri="{FF2B5EF4-FFF2-40B4-BE49-F238E27FC236}">
                <a16:creationId xmlns:a16="http://schemas.microsoft.com/office/drawing/2014/main" xmlns="" id="{48F427D6-ABB8-42B2-9D2F-46611D170D93}"/>
              </a:ext>
            </a:extLst>
          </p:cNvPr>
          <p:cNvSpPr>
            <a:spLocks noGrp="1"/>
          </p:cNvSpPr>
          <p:nvPr/>
        </p:nvSpPr>
        <p:spPr>
          <a:xfrm>
            <a:off x="594360" y="4187952"/>
            <a:ext cx="228600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Footnote</a:t>
            </a:r>
          </a:p>
        </p:txBody>
      </p:sp>
      <p:sp>
        <p:nvSpPr>
          <p:cNvPr id="21" name="Text 19">
            <a:extLst>
              <a:ext uri="{FF2B5EF4-FFF2-40B4-BE49-F238E27FC236}">
                <a16:creationId xmlns:a16="http://schemas.microsoft.com/office/drawing/2014/main" xmlns="" id="{255B06D2-D0F2-4E3A-8C64-BF2D9C5C17C8}"/>
              </a:ext>
            </a:extLst>
          </p:cNvPr>
          <p:cNvSpPr>
            <a:spLocks noGrp="1"/>
          </p:cNvSpPr>
          <p:nvPr/>
        </p:nvSpPr>
        <p:spPr>
          <a:xfrm>
            <a:off x="2880360" y="4187952"/>
            <a:ext cx="292608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Evidence &amp; Support</a:t>
            </a:r>
          </a:p>
        </p:txBody>
      </p:sp>
      <p:sp>
        <p:nvSpPr>
          <p:cNvPr id="22" name="Text 20">
            <a:extLst>
              <a:ext uri="{FF2B5EF4-FFF2-40B4-BE49-F238E27FC236}">
                <a16:creationId xmlns:a16="http://schemas.microsoft.com/office/drawing/2014/main" xmlns="" id="{F3F3E58C-365B-4462-88DB-98B149FC20B7}"/>
              </a:ext>
            </a:extLst>
          </p:cNvPr>
          <p:cNvSpPr>
            <a:spLocks noGrp="1"/>
          </p:cNvSpPr>
          <p:nvPr/>
        </p:nvSpPr>
        <p:spPr>
          <a:xfrm>
            <a:off x="5806440" y="4187952"/>
            <a:ext cx="576072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Facts, examples, and reliability flags</a:t>
            </a:r>
          </a:p>
        </p:txBody>
      </p:sp>
      <p:sp>
        <p:nvSpPr>
          <p:cNvPr id="23" name="Text 21">
            <a:extLst>
              <a:ext uri="{FF2B5EF4-FFF2-40B4-BE49-F238E27FC236}">
                <a16:creationId xmlns:a16="http://schemas.microsoft.com/office/drawing/2014/main" xmlns="" id="{CD688137-3C11-43FA-A38E-FC5A6013D877}"/>
              </a:ext>
            </a:extLst>
          </p:cNvPr>
          <p:cNvSpPr>
            <a:spLocks noGrp="1"/>
          </p:cNvSpPr>
          <p:nvPr/>
        </p:nvSpPr>
        <p:spPr>
          <a:xfrm>
            <a:off x="594360" y="4818888"/>
            <a:ext cx="228600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Index</a:t>
            </a:r>
          </a:p>
        </p:txBody>
      </p:sp>
      <p:sp>
        <p:nvSpPr>
          <p:cNvPr id="24" name="Text 22">
            <a:extLst>
              <a:ext uri="{FF2B5EF4-FFF2-40B4-BE49-F238E27FC236}">
                <a16:creationId xmlns:a16="http://schemas.microsoft.com/office/drawing/2014/main" xmlns="" id="{045F04FD-62D3-4EA7-A189-632B4C690EB8}"/>
              </a:ext>
            </a:extLst>
          </p:cNvPr>
          <p:cNvSpPr>
            <a:spLocks noGrp="1"/>
          </p:cNvSpPr>
          <p:nvPr/>
        </p:nvSpPr>
        <p:spPr>
          <a:xfrm>
            <a:off x="2880360" y="4818888"/>
            <a:ext cx="292608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Theme Cross-Index</a:t>
            </a:r>
          </a:p>
        </p:txBody>
      </p:sp>
      <p:sp>
        <p:nvSpPr>
          <p:cNvPr id="25" name="Text 23">
            <a:extLst>
              <a:ext uri="{FF2B5EF4-FFF2-40B4-BE49-F238E27FC236}">
                <a16:creationId xmlns:a16="http://schemas.microsoft.com/office/drawing/2014/main" xmlns="" id="{10E4E4B2-D5E4-42ED-A5C5-E97943D18E6A}"/>
              </a:ext>
            </a:extLst>
          </p:cNvPr>
          <p:cNvSpPr>
            <a:spLocks noGrp="1"/>
          </p:cNvSpPr>
          <p:nvPr/>
        </p:nvSpPr>
        <p:spPr>
          <a:xfrm>
            <a:off x="5806440" y="4818888"/>
            <a:ext cx="5760720" cy="617220"/>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450">
                <a:solidFill>
                  <a:srgbClr val="1F2937"/>
                </a:solidFill>
              </a:rPr>
              <a:t>Where the same theme appears elsewhere</a:t>
            </a:r>
          </a:p>
        </p:txBody>
      </p:sp>
    </p:spTree>
    <p:extLst>
      <p:ext uri="{BB962C8B-B14F-4D97-AF65-F5344CB8AC3E}">
        <p14:creationId xmlns:p14="http://schemas.microsoft.com/office/powerpoint/2010/main" val="5482194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A78BE29-F35E-4979-BF61-F9563913EA98}"/>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3CAC67AA-074B-4784-82E4-74A46677F20C}"/>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7AE35A8F-B7AF-43D5-B7A0-0B1A7B0FAFF1}"/>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C00A605-8292-44B9-9743-BECF9E1013B8}"/>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A1D5C0C-18E3-4F51-94ED-8D709534987B}"/>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Central Claim: the chapter-level thesis</a:t>
            </a:r>
          </a:p>
        </p:txBody>
      </p:sp>
      <p:sp>
        <p:nvSpPr>
          <p:cNvPr id="7" name="Text 5">
            <a:extLst>
              <a:ext uri="{FF2B5EF4-FFF2-40B4-BE49-F238E27FC236}">
                <a16:creationId xmlns:a16="http://schemas.microsoft.com/office/drawing/2014/main" xmlns="" id="{23B0946C-7887-4B74-B108-08C8D9401F21}"/>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Central Claim is a full sentence saying what the speaker is arguing.</a:t>
            </a:r>
          </a:p>
        </p:txBody>
      </p:sp>
      <p:sp>
        <p:nvSpPr>
          <p:cNvPr id="8" name="Text 6">
            <a:extLst>
              <a:ext uri="{FF2B5EF4-FFF2-40B4-BE49-F238E27FC236}">
                <a16:creationId xmlns:a16="http://schemas.microsoft.com/office/drawing/2014/main" xmlns="" id="{CAB1AAC3-4DF2-427F-8048-05BB5AC89421}"/>
              </a:ext>
            </a:extLst>
          </p:cNvPr>
          <p:cNvSpPr>
            <a:spLocks noGrp="1"/>
          </p:cNvSpPr>
          <p:nvPr/>
        </p:nvSpPr>
        <p:spPr>
          <a:xfrm>
            <a:off x="914400" y="1828800"/>
            <a:ext cx="10332720" cy="868680"/>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100" b="1">
                <a:solidFill>
                  <a:srgbClr val="1F2937"/>
                </a:solidFill>
              </a:rPr>
              <a:t>Good Central Claim: “Central bank monetary expansion causes inflation, malinvestment, and instability.”</a:t>
            </a:r>
          </a:p>
        </p:txBody>
      </p:sp>
      <p:sp>
        <p:nvSpPr>
          <p:cNvPr id="9" name="Text 7">
            <a:extLst>
              <a:ext uri="{FF2B5EF4-FFF2-40B4-BE49-F238E27FC236}">
                <a16:creationId xmlns:a16="http://schemas.microsoft.com/office/drawing/2014/main" xmlns="" id="{0176DFAA-553D-4160-AC08-99B3B88250B3}"/>
              </a:ext>
            </a:extLst>
          </p:cNvPr>
          <p:cNvSpPr>
            <a:spLocks noGrp="1"/>
          </p:cNvSpPr>
          <p:nvPr/>
        </p:nvSpPr>
        <p:spPr>
          <a:xfrm>
            <a:off x="1051560" y="328269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0" name="Text 8">
            <a:extLst>
              <a:ext uri="{FF2B5EF4-FFF2-40B4-BE49-F238E27FC236}">
                <a16:creationId xmlns:a16="http://schemas.microsoft.com/office/drawing/2014/main" xmlns="" id="{605FBBC8-891B-4E0C-9388-FEB76D563456}"/>
              </a:ext>
            </a:extLst>
          </p:cNvPr>
          <p:cNvSpPr>
            <a:spLocks noGrp="1"/>
          </p:cNvSpPr>
          <p:nvPr/>
        </p:nvSpPr>
        <p:spPr>
          <a:xfrm>
            <a:off x="1380744" y="3246120"/>
            <a:ext cx="9729216" cy="457200"/>
          </a:xfrm>
          <a:prstGeom prst="rect">
            <a:avLst/>
          </a:prstGeom>
          <a:noFill/>
        </p:spPr>
        <p:txBody>
          <a:bodyPr wrap="square" lIns="254" tIns="254" rIns="254" bIns="254" anchor="ctr">
            <a:normAutofit/>
          </a:bodyPr>
          <a:lstStyle/>
          <a:p>
            <a:pPr marL="0" indent="0">
              <a:buNone/>
            </a:pPr>
            <a:r>
              <a:rPr sz="2100">
                <a:solidFill>
                  <a:srgbClr val="1F2937"/>
                </a:solidFill>
              </a:rPr>
              <a:t>It contains a verb, so it makes an actual claim.</a:t>
            </a:r>
          </a:p>
        </p:txBody>
      </p:sp>
      <p:sp>
        <p:nvSpPr>
          <p:cNvPr id="11" name="Text 9">
            <a:extLst>
              <a:ext uri="{FF2B5EF4-FFF2-40B4-BE49-F238E27FC236}">
                <a16:creationId xmlns:a16="http://schemas.microsoft.com/office/drawing/2014/main" xmlns="" id="{3F9B5ECC-56CD-4D98-B48E-0EDC693D3837}"/>
              </a:ext>
            </a:extLst>
          </p:cNvPr>
          <p:cNvSpPr>
            <a:spLocks noGrp="1"/>
          </p:cNvSpPr>
          <p:nvPr/>
        </p:nvSpPr>
        <p:spPr>
          <a:xfrm>
            <a:off x="1051560" y="386791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2" name="Text 10">
            <a:extLst>
              <a:ext uri="{FF2B5EF4-FFF2-40B4-BE49-F238E27FC236}">
                <a16:creationId xmlns:a16="http://schemas.microsoft.com/office/drawing/2014/main" xmlns="" id="{71392E84-7162-4A32-9CC3-B56D0178588D}"/>
              </a:ext>
            </a:extLst>
          </p:cNvPr>
          <p:cNvSpPr>
            <a:spLocks noGrp="1"/>
          </p:cNvSpPr>
          <p:nvPr/>
        </p:nvSpPr>
        <p:spPr>
          <a:xfrm>
            <a:off x="1380744" y="3831336"/>
            <a:ext cx="9729216" cy="457200"/>
          </a:xfrm>
          <a:prstGeom prst="rect">
            <a:avLst/>
          </a:prstGeom>
          <a:noFill/>
        </p:spPr>
        <p:txBody>
          <a:bodyPr wrap="square" lIns="254" tIns="254" rIns="254" bIns="254" anchor="ctr">
            <a:normAutofit/>
          </a:bodyPr>
          <a:lstStyle/>
          <a:p>
            <a:pPr marL="0" indent="0">
              <a:buNone/>
            </a:pPr>
            <a:r>
              <a:rPr sz="2100">
                <a:solidFill>
                  <a:srgbClr val="1F2937"/>
                </a:solidFill>
              </a:rPr>
              <a:t>It is specific enough that some speeches clearly do not belong to it.</a:t>
            </a:r>
          </a:p>
        </p:txBody>
      </p:sp>
      <p:sp>
        <p:nvSpPr>
          <p:cNvPr id="13" name="Text 11">
            <a:extLst>
              <a:ext uri="{FF2B5EF4-FFF2-40B4-BE49-F238E27FC236}">
                <a16:creationId xmlns:a16="http://schemas.microsoft.com/office/drawing/2014/main" xmlns="" id="{868D708B-FBE3-462A-9441-ACB60029AE68}"/>
              </a:ext>
            </a:extLst>
          </p:cNvPr>
          <p:cNvSpPr>
            <a:spLocks noGrp="1"/>
          </p:cNvSpPr>
          <p:nvPr/>
        </p:nvSpPr>
        <p:spPr>
          <a:xfrm>
            <a:off x="1051560" y="445312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4" name="Text 12">
            <a:extLst>
              <a:ext uri="{FF2B5EF4-FFF2-40B4-BE49-F238E27FC236}">
                <a16:creationId xmlns:a16="http://schemas.microsoft.com/office/drawing/2014/main" xmlns="" id="{B7F081E9-378A-4429-999E-EE595420B5F2}"/>
              </a:ext>
            </a:extLst>
          </p:cNvPr>
          <p:cNvSpPr>
            <a:spLocks noGrp="1"/>
          </p:cNvSpPr>
          <p:nvPr/>
        </p:nvSpPr>
        <p:spPr>
          <a:xfrm>
            <a:off x="1380744" y="4416552"/>
            <a:ext cx="9729216" cy="457200"/>
          </a:xfrm>
          <a:prstGeom prst="rect">
            <a:avLst/>
          </a:prstGeom>
          <a:noFill/>
        </p:spPr>
        <p:txBody>
          <a:bodyPr wrap="square" lIns="254" tIns="254" rIns="254" bIns="254" anchor="ctr">
            <a:normAutofit/>
          </a:bodyPr>
          <a:lstStyle/>
          <a:p>
            <a:pPr marL="0" indent="0">
              <a:buNone/>
            </a:pPr>
            <a:r>
              <a:rPr sz="2100">
                <a:solidFill>
                  <a:srgbClr val="1F2937"/>
                </a:solidFill>
              </a:rPr>
              <a:t>It can represent one speech or a cluster of speeches arguing the same thesis.</a:t>
            </a:r>
          </a:p>
        </p:txBody>
      </p:sp>
    </p:spTree>
    <p:extLst>
      <p:ext uri="{BB962C8B-B14F-4D97-AF65-F5344CB8AC3E}">
        <p14:creationId xmlns:p14="http://schemas.microsoft.com/office/powerpoint/2010/main" val="6834567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C2F7EE1-DE97-408D-81F6-D49C750CB906}"/>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6A25A6B-B14E-4E93-B89B-4E9A89A3252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AC42AA5A-F94B-43EC-A3A6-C6CB25FBB96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8C107431-A0C7-421C-B03B-94EF5F597A0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62B78BB8-1FE0-41D8-B939-34D71685F638}"/>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Theme: the topic-level section</a:t>
            </a:r>
          </a:p>
        </p:txBody>
      </p:sp>
      <p:sp>
        <p:nvSpPr>
          <p:cNvPr id="7" name="Text 5">
            <a:extLst>
              <a:ext uri="{FF2B5EF4-FFF2-40B4-BE49-F238E27FC236}">
                <a16:creationId xmlns:a16="http://schemas.microsoft.com/office/drawing/2014/main" xmlns="" id="{508A8075-9962-4ACA-A9FD-9702C2137465}"/>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Theme is a specific noun phrase, not a full sentence.</a:t>
            </a:r>
          </a:p>
        </p:txBody>
      </p:sp>
      <p:sp>
        <p:nvSpPr>
          <p:cNvPr id="8" name="Text 6">
            <a:extLst>
              <a:ext uri="{FF2B5EF4-FFF2-40B4-BE49-F238E27FC236}">
                <a16:creationId xmlns:a16="http://schemas.microsoft.com/office/drawing/2014/main" xmlns="" id="{DC3134F3-07B4-42A5-BD8F-097C1757C40D}"/>
              </a:ext>
            </a:extLst>
          </p:cNvPr>
          <p:cNvSpPr>
            <a:spLocks noGrp="1"/>
          </p:cNvSpPr>
          <p:nvPr/>
        </p:nvSpPr>
        <p:spPr>
          <a:xfrm>
            <a:off x="822960" y="1920240"/>
            <a:ext cx="3474720" cy="96012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900" b="1">
                <a:solidFill>
                  <a:srgbClr val="1F2937"/>
                </a:solidFill>
              </a:rPr>
              <a:t>Central Claim</a:t>
            </a:r>
          </a:p>
          <a:p>
            <a:pPr marL="0" indent="0" algn="ctr">
              <a:buNone/>
            </a:pPr>
            <a:r>
              <a:rPr sz="1900" b="1">
                <a:solidFill>
                  <a:srgbClr val="1F2937"/>
                </a:solidFill>
              </a:rPr>
              <a:t>Money printing creates instability</a:t>
            </a:r>
          </a:p>
        </p:txBody>
      </p:sp>
      <p:sp>
        <p:nvSpPr>
          <p:cNvPr id="9" name="Shape 7">
            <a:extLst>
              <a:ext uri="{FF2B5EF4-FFF2-40B4-BE49-F238E27FC236}">
                <a16:creationId xmlns:a16="http://schemas.microsoft.com/office/drawing/2014/main" xmlns="" id="{42B7DB53-6A3F-461C-BC31-9F0DCD28B08F}"/>
              </a:ext>
            </a:extLst>
          </p:cNvPr>
          <p:cNvSpPr>
            <a:spLocks noGrp="1"/>
          </p:cNvSpPr>
          <p:nvPr/>
        </p:nvSpPr>
        <p:spPr>
          <a:xfrm>
            <a:off x="4480560" y="2395728"/>
            <a:ext cx="86868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7ECA97F0-9AAB-42EB-9825-351301303A90}"/>
              </a:ext>
            </a:extLst>
          </p:cNvPr>
          <p:cNvSpPr>
            <a:spLocks noGrp="1"/>
          </p:cNvSpPr>
          <p:nvPr/>
        </p:nvSpPr>
        <p:spPr>
          <a:xfrm>
            <a:off x="5486400" y="1920240"/>
            <a:ext cx="3017520" cy="9601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900" b="1">
                <a:solidFill>
                  <a:srgbClr val="1F2937"/>
                </a:solidFill>
              </a:rPr>
              <a:t>Theme</a:t>
            </a:r>
          </a:p>
          <a:p>
            <a:pPr marL="0" indent="0" algn="ctr">
              <a:buNone/>
            </a:pPr>
            <a:r>
              <a:rPr sz="1900" b="1">
                <a:solidFill>
                  <a:srgbClr val="1F2937"/>
                </a:solidFill>
              </a:rPr>
              <a:t>Monetary expansion and inflation</a:t>
            </a:r>
          </a:p>
        </p:txBody>
      </p:sp>
      <p:sp>
        <p:nvSpPr>
          <p:cNvPr id="11" name="Shape 9">
            <a:extLst>
              <a:ext uri="{FF2B5EF4-FFF2-40B4-BE49-F238E27FC236}">
                <a16:creationId xmlns:a16="http://schemas.microsoft.com/office/drawing/2014/main" xmlns="" id="{4428855E-A806-4CF3-B2E6-FF631201B800}"/>
              </a:ext>
            </a:extLst>
          </p:cNvPr>
          <p:cNvSpPr>
            <a:spLocks noGrp="1"/>
          </p:cNvSpPr>
          <p:nvPr/>
        </p:nvSpPr>
        <p:spPr>
          <a:xfrm>
            <a:off x="8686800" y="2395728"/>
            <a:ext cx="86868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CF87B5D8-C195-48EF-BA33-88471AFBBFED}"/>
              </a:ext>
            </a:extLst>
          </p:cNvPr>
          <p:cNvSpPr>
            <a:spLocks noGrp="1"/>
          </p:cNvSpPr>
          <p:nvPr/>
        </p:nvSpPr>
        <p:spPr>
          <a:xfrm>
            <a:off x="9692640" y="1920240"/>
            <a:ext cx="1737360" cy="96012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600" b="1">
                <a:solidFill>
                  <a:srgbClr val="1F2937"/>
                </a:solidFill>
              </a:rPr>
              <a:t>May appear</a:t>
            </a:r>
          </a:p>
          <a:p>
            <a:pPr marL="0" indent="0" algn="ctr">
              <a:buNone/>
            </a:pPr>
            <a:r>
              <a:rPr sz="1600" b="1">
                <a:solidFill>
                  <a:srgbClr val="1F2937"/>
                </a:solidFill>
              </a:rPr>
              <a:t>under other claims too</a:t>
            </a:r>
          </a:p>
        </p:txBody>
      </p:sp>
      <p:sp>
        <p:nvSpPr>
          <p:cNvPr id="13" name="Text 11">
            <a:extLst>
              <a:ext uri="{FF2B5EF4-FFF2-40B4-BE49-F238E27FC236}">
                <a16:creationId xmlns:a16="http://schemas.microsoft.com/office/drawing/2014/main" xmlns="" id="{1EA698EA-6060-422B-AD3C-61497F387C8F}"/>
              </a:ext>
            </a:extLst>
          </p:cNvPr>
          <p:cNvSpPr>
            <a:spLocks noGrp="1"/>
          </p:cNvSpPr>
          <p:nvPr/>
        </p:nvSpPr>
        <p:spPr>
          <a:xfrm>
            <a:off x="914400" y="369417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4" name="Text 12">
            <a:extLst>
              <a:ext uri="{FF2B5EF4-FFF2-40B4-BE49-F238E27FC236}">
                <a16:creationId xmlns:a16="http://schemas.microsoft.com/office/drawing/2014/main" xmlns="" id="{703B5B36-B8B0-4F09-9117-5CF5B02B06B2}"/>
              </a:ext>
            </a:extLst>
          </p:cNvPr>
          <p:cNvSpPr>
            <a:spLocks noGrp="1"/>
          </p:cNvSpPr>
          <p:nvPr/>
        </p:nvSpPr>
        <p:spPr>
          <a:xfrm>
            <a:off x="1243584" y="3657600"/>
            <a:ext cx="10186416" cy="438912"/>
          </a:xfrm>
          <a:prstGeom prst="rect">
            <a:avLst/>
          </a:prstGeom>
          <a:noFill/>
        </p:spPr>
        <p:txBody>
          <a:bodyPr wrap="square" lIns="254" tIns="254" rIns="254" bIns="254" anchor="ctr">
            <a:normAutofit/>
          </a:bodyPr>
          <a:lstStyle/>
          <a:p>
            <a:pPr marL="0" indent="0">
              <a:buNone/>
            </a:pPr>
            <a:r>
              <a:rPr sz="2100">
                <a:solidFill>
                  <a:srgbClr val="1F2937"/>
                </a:solidFill>
              </a:rPr>
              <a:t>Themes are cross-cutting: the same theme may appear under more than one Central Claim.</a:t>
            </a:r>
          </a:p>
        </p:txBody>
      </p:sp>
      <p:sp>
        <p:nvSpPr>
          <p:cNvPr id="15" name="Text 13">
            <a:extLst>
              <a:ext uri="{FF2B5EF4-FFF2-40B4-BE49-F238E27FC236}">
                <a16:creationId xmlns:a16="http://schemas.microsoft.com/office/drawing/2014/main" xmlns="" id="{CD2B9C5C-095E-4080-8BBE-2844B938C5AD}"/>
              </a:ext>
            </a:extLst>
          </p:cNvPr>
          <p:cNvSpPr>
            <a:spLocks noGrp="1"/>
          </p:cNvSpPr>
          <p:nvPr/>
        </p:nvSpPr>
        <p:spPr>
          <a:xfrm>
            <a:off x="914400" y="426110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6" name="Text 14">
            <a:extLst>
              <a:ext uri="{FF2B5EF4-FFF2-40B4-BE49-F238E27FC236}">
                <a16:creationId xmlns:a16="http://schemas.microsoft.com/office/drawing/2014/main" xmlns="" id="{4120DFA9-189B-44F2-B0BE-0CA12FB07DB4}"/>
              </a:ext>
            </a:extLst>
          </p:cNvPr>
          <p:cNvSpPr>
            <a:spLocks noGrp="1"/>
          </p:cNvSpPr>
          <p:nvPr/>
        </p:nvSpPr>
        <p:spPr>
          <a:xfrm>
            <a:off x="1243584" y="4224528"/>
            <a:ext cx="10186416" cy="438912"/>
          </a:xfrm>
          <a:prstGeom prst="rect">
            <a:avLst/>
          </a:prstGeom>
          <a:noFill/>
        </p:spPr>
        <p:txBody>
          <a:bodyPr wrap="square" lIns="254" tIns="254" rIns="254" bIns="254" anchor="ctr">
            <a:normAutofit/>
          </a:bodyPr>
          <a:lstStyle/>
          <a:p>
            <a:pPr marL="0" indent="0">
              <a:buNone/>
            </a:pPr>
            <a:r>
              <a:rPr sz="2100">
                <a:solidFill>
                  <a:srgbClr val="1F2937"/>
                </a:solidFill>
              </a:rPr>
              <a:t>Themes should be narrow enough to be useful, not vague labels like “economics.”</a:t>
            </a:r>
          </a:p>
        </p:txBody>
      </p:sp>
      <p:sp>
        <p:nvSpPr>
          <p:cNvPr id="17" name="Text 15">
            <a:extLst>
              <a:ext uri="{FF2B5EF4-FFF2-40B4-BE49-F238E27FC236}">
                <a16:creationId xmlns:a16="http://schemas.microsoft.com/office/drawing/2014/main" xmlns="" id="{FBD7BD2D-4E56-4B89-92D8-0E3DE5DB5652}"/>
              </a:ext>
            </a:extLst>
          </p:cNvPr>
          <p:cNvSpPr>
            <a:spLocks noGrp="1"/>
          </p:cNvSpPr>
          <p:nvPr/>
        </p:nvSpPr>
        <p:spPr>
          <a:xfrm>
            <a:off x="914400" y="482803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8" name="Text 16">
            <a:extLst>
              <a:ext uri="{FF2B5EF4-FFF2-40B4-BE49-F238E27FC236}">
                <a16:creationId xmlns:a16="http://schemas.microsoft.com/office/drawing/2014/main" xmlns="" id="{E4DAFC11-5BF3-4860-8600-C7991AD47353}"/>
              </a:ext>
            </a:extLst>
          </p:cNvPr>
          <p:cNvSpPr>
            <a:spLocks noGrp="1"/>
          </p:cNvSpPr>
          <p:nvPr/>
        </p:nvSpPr>
        <p:spPr>
          <a:xfrm>
            <a:off x="1243584" y="4791456"/>
            <a:ext cx="10186416" cy="438912"/>
          </a:xfrm>
          <a:prstGeom prst="rect">
            <a:avLst/>
          </a:prstGeom>
          <a:noFill/>
        </p:spPr>
        <p:txBody>
          <a:bodyPr wrap="square" lIns="254" tIns="254" rIns="254" bIns="254" anchor="ctr">
            <a:normAutofit/>
          </a:bodyPr>
          <a:lstStyle/>
          <a:p>
            <a:pPr marL="0" indent="0">
              <a:buNone/>
            </a:pPr>
            <a:r>
              <a:rPr sz="2100">
                <a:solidFill>
                  <a:srgbClr val="1F2937"/>
                </a:solidFill>
              </a:rPr>
              <a:t>The Theme Cross-Index is like the index at the back of a book.</a:t>
            </a:r>
          </a:p>
        </p:txBody>
      </p:sp>
    </p:spTree>
    <p:extLst>
      <p:ext uri="{BB962C8B-B14F-4D97-AF65-F5344CB8AC3E}">
        <p14:creationId xmlns:p14="http://schemas.microsoft.com/office/powerpoint/2010/main" val="18073264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CA872AC8-E5A4-4BE9-ADD1-64F20C54B86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A55D0D1-B2C2-474D-8721-284557148501}"/>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B12C44D2-EAE8-4829-98A6-00DF815BE633}"/>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80858548-42F8-41FD-8E9A-1C74117BDC9A}"/>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26AF9C9-C114-4E35-BAAF-B935CEB6F9AF}"/>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Argument: the main intellectual unit</a:t>
            </a:r>
          </a:p>
        </p:txBody>
      </p:sp>
      <p:sp>
        <p:nvSpPr>
          <p:cNvPr id="7" name="Text 5">
            <a:extLst>
              <a:ext uri="{FF2B5EF4-FFF2-40B4-BE49-F238E27FC236}">
                <a16:creationId xmlns:a16="http://schemas.microsoft.com/office/drawing/2014/main" xmlns="" id="{CF39E412-7EF1-4B1F-AFAF-5FFE91089040}"/>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An Argument is one claim supported by premises and evidence.</a:t>
            </a:r>
          </a:p>
        </p:txBody>
      </p:sp>
      <p:sp>
        <p:nvSpPr>
          <p:cNvPr id="8" name="Text 6">
            <a:extLst>
              <a:ext uri="{FF2B5EF4-FFF2-40B4-BE49-F238E27FC236}">
                <a16:creationId xmlns:a16="http://schemas.microsoft.com/office/drawing/2014/main" xmlns="" id="{780C5555-8FF2-4E32-A4A3-7F54EACE08E3}"/>
              </a:ext>
            </a:extLst>
          </p:cNvPr>
          <p:cNvSpPr>
            <a:spLocks noGrp="1"/>
          </p:cNvSpPr>
          <p:nvPr/>
        </p:nvSpPr>
        <p:spPr>
          <a:xfrm>
            <a:off x="1005840" y="1828800"/>
            <a:ext cx="2743200" cy="86868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2000" b="1">
                <a:solidFill>
                  <a:srgbClr val="1F2937"/>
                </a:solidFill>
              </a:rPr>
              <a:t>Premises</a:t>
            </a:r>
          </a:p>
          <a:p>
            <a:pPr marL="0" indent="0" algn="ctr">
              <a:buNone/>
            </a:pPr>
            <a:r>
              <a:rPr sz="2000" b="1">
                <a:solidFill>
                  <a:srgbClr val="1F2937"/>
                </a:solidFill>
              </a:rPr>
              <a:t>Reasons offered</a:t>
            </a:r>
          </a:p>
        </p:txBody>
      </p:sp>
      <p:sp>
        <p:nvSpPr>
          <p:cNvPr id="9" name="Shape 7">
            <a:extLst>
              <a:ext uri="{FF2B5EF4-FFF2-40B4-BE49-F238E27FC236}">
                <a16:creationId xmlns:a16="http://schemas.microsoft.com/office/drawing/2014/main" xmlns="" id="{5A070CA6-2257-4A77-80D5-F18BF9FDED80}"/>
              </a:ext>
            </a:extLst>
          </p:cNvPr>
          <p:cNvSpPr>
            <a:spLocks noGrp="1"/>
          </p:cNvSpPr>
          <p:nvPr/>
        </p:nvSpPr>
        <p:spPr>
          <a:xfrm>
            <a:off x="3886200" y="2267712"/>
            <a:ext cx="82296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1950B1E7-A226-4891-9F44-4FBB94A77740}"/>
              </a:ext>
            </a:extLst>
          </p:cNvPr>
          <p:cNvSpPr>
            <a:spLocks noGrp="1"/>
          </p:cNvSpPr>
          <p:nvPr/>
        </p:nvSpPr>
        <p:spPr>
          <a:xfrm>
            <a:off x="4892040" y="1828800"/>
            <a:ext cx="2560320" cy="86868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2000" b="1">
                <a:solidFill>
                  <a:srgbClr val="1F2937"/>
                </a:solidFill>
              </a:rPr>
              <a:t>Argument</a:t>
            </a:r>
          </a:p>
          <a:p>
            <a:pPr marL="0" indent="0" algn="ctr">
              <a:buNone/>
            </a:pPr>
            <a:r>
              <a:rPr sz="2000" b="1">
                <a:solidFill>
                  <a:srgbClr val="1F2937"/>
                </a:solidFill>
              </a:rPr>
              <a:t>A specific claim</a:t>
            </a:r>
          </a:p>
        </p:txBody>
      </p:sp>
      <p:sp>
        <p:nvSpPr>
          <p:cNvPr id="11" name="Shape 9">
            <a:extLst>
              <a:ext uri="{FF2B5EF4-FFF2-40B4-BE49-F238E27FC236}">
                <a16:creationId xmlns:a16="http://schemas.microsoft.com/office/drawing/2014/main" xmlns="" id="{1A51B261-3B66-4362-86DD-D7042DCF3345}"/>
              </a:ext>
            </a:extLst>
          </p:cNvPr>
          <p:cNvSpPr>
            <a:spLocks noGrp="1"/>
          </p:cNvSpPr>
          <p:nvPr/>
        </p:nvSpPr>
        <p:spPr>
          <a:xfrm>
            <a:off x="7635240" y="2267712"/>
            <a:ext cx="82296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66AF8C72-B759-4762-88A8-6EE7A8419A2B}"/>
              </a:ext>
            </a:extLst>
          </p:cNvPr>
          <p:cNvSpPr>
            <a:spLocks noGrp="1"/>
          </p:cNvSpPr>
          <p:nvPr/>
        </p:nvSpPr>
        <p:spPr>
          <a:xfrm>
            <a:off x="8641080" y="1828800"/>
            <a:ext cx="2560320" cy="86868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Conclusion</a:t>
            </a:r>
          </a:p>
          <a:p>
            <a:pPr marL="0" indent="0" algn="ctr">
              <a:buNone/>
            </a:pPr>
            <a:r>
              <a:rPr sz="2000" b="1">
                <a:solidFill>
                  <a:srgbClr val="1F2937"/>
                </a:solidFill>
              </a:rPr>
              <a:t>What follows</a:t>
            </a:r>
          </a:p>
        </p:txBody>
      </p:sp>
      <p:sp>
        <p:nvSpPr>
          <p:cNvPr id="13" name="Text 11">
            <a:extLst>
              <a:ext uri="{FF2B5EF4-FFF2-40B4-BE49-F238E27FC236}">
                <a16:creationId xmlns:a16="http://schemas.microsoft.com/office/drawing/2014/main" xmlns="" id="{CC4073F3-8E8B-44A3-8C2C-64A29BE86748}"/>
              </a:ext>
            </a:extLst>
          </p:cNvPr>
          <p:cNvSpPr>
            <a:spLocks noGrp="1"/>
          </p:cNvSpPr>
          <p:nvPr/>
        </p:nvSpPr>
        <p:spPr>
          <a:xfrm>
            <a:off x="1097280" y="3794760"/>
            <a:ext cx="9921240" cy="68580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At the corpus level, repeated arguments are deduplicated so the same idea is not written twenty times.</a:t>
            </a:r>
          </a:p>
        </p:txBody>
      </p:sp>
    </p:spTree>
    <p:extLst>
      <p:ext uri="{BB962C8B-B14F-4D97-AF65-F5344CB8AC3E}">
        <p14:creationId xmlns:p14="http://schemas.microsoft.com/office/powerpoint/2010/main" val="8162582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8C10A1AD-ECA0-4F49-A0D1-A951EEF9C95D}"/>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3063D01E-1288-4FAD-A94D-D8EC8B82C8FE}"/>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498A5631-E162-4BC3-8BD9-FAA76CD3855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FC79B0F6-5240-426E-A717-6C5C37551E59}"/>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746C307B-2C79-4BC4-8081-736F2044A91D}"/>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Evidence and verification flags</a:t>
            </a:r>
          </a:p>
        </p:txBody>
      </p:sp>
      <p:sp>
        <p:nvSpPr>
          <p:cNvPr id="7" name="Text 5">
            <a:extLst>
              <a:ext uri="{FF2B5EF4-FFF2-40B4-BE49-F238E27FC236}">
                <a16:creationId xmlns:a16="http://schemas.microsoft.com/office/drawing/2014/main" xmlns="" id="{15E47F45-5D9F-4CDC-9F04-1E3E7884B12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compendium keeps the speaker’s support for each argument visible.</a:t>
            </a:r>
          </a:p>
        </p:txBody>
      </p:sp>
      <p:sp>
        <p:nvSpPr>
          <p:cNvPr id="8" name="Text 6">
            <a:extLst>
              <a:ext uri="{FF2B5EF4-FFF2-40B4-BE49-F238E27FC236}">
                <a16:creationId xmlns:a16="http://schemas.microsoft.com/office/drawing/2014/main" xmlns="" id="{46797FB9-D49A-4EE4-A448-6D563C2596C5}"/>
              </a:ext>
            </a:extLst>
          </p:cNvPr>
          <p:cNvSpPr>
            <a:spLocks noGrp="1"/>
          </p:cNvSpPr>
          <p:nvPr/>
        </p:nvSpPr>
        <p:spPr>
          <a:xfrm>
            <a:off x="914400" y="1554480"/>
            <a:ext cx="2286000" cy="320040"/>
          </a:xfrm>
          <a:prstGeom prst="rect">
            <a:avLst/>
          </a:prstGeom>
          <a:noFill/>
        </p:spPr>
        <p:txBody>
          <a:bodyPr wrap="square" lIns="0" tIns="0" rIns="0" bIns="0" anchor="ctr"/>
          <a:lstStyle/>
          <a:p>
            <a:pPr marL="0" indent="0">
              <a:buNone/>
            </a:pPr>
            <a:r>
              <a:rPr sz="2100" b="1">
                <a:solidFill>
                  <a:srgbClr val="1F2937"/>
                </a:solidFill>
              </a:rPr>
              <a:t>✅ Verified</a:t>
            </a:r>
          </a:p>
        </p:txBody>
      </p:sp>
      <p:sp>
        <p:nvSpPr>
          <p:cNvPr id="9" name="Text 7">
            <a:extLst>
              <a:ext uri="{FF2B5EF4-FFF2-40B4-BE49-F238E27FC236}">
                <a16:creationId xmlns:a16="http://schemas.microsoft.com/office/drawing/2014/main" xmlns="" id="{91DB019B-346B-4059-8502-1CACA2034A9C}"/>
              </a:ext>
            </a:extLst>
          </p:cNvPr>
          <p:cNvSpPr>
            <a:spLocks noGrp="1"/>
          </p:cNvSpPr>
          <p:nvPr/>
        </p:nvSpPr>
        <p:spPr>
          <a:xfrm>
            <a:off x="3337560" y="1536192"/>
            <a:ext cx="7772400" cy="438912"/>
          </a:xfrm>
          <a:prstGeom prst="rect">
            <a:avLst/>
          </a:prstGeom>
          <a:noFill/>
        </p:spPr>
        <p:txBody>
          <a:bodyPr wrap="square" lIns="254" tIns="254" rIns="254" bIns="254" anchor="ctr">
            <a:normAutofit/>
          </a:bodyPr>
          <a:lstStyle/>
          <a:p>
            <a:pPr marL="0" indent="0">
              <a:buNone/>
            </a:pPr>
            <a:r>
              <a:rPr sz="1800">
                <a:solidFill>
                  <a:srgbClr val="596273"/>
                </a:solidFill>
              </a:rPr>
              <a:t>Independently checkable and treated as correct in the workflow.</a:t>
            </a:r>
          </a:p>
        </p:txBody>
      </p:sp>
      <p:sp>
        <p:nvSpPr>
          <p:cNvPr id="10" name="Text 8">
            <a:extLst>
              <a:ext uri="{FF2B5EF4-FFF2-40B4-BE49-F238E27FC236}">
                <a16:creationId xmlns:a16="http://schemas.microsoft.com/office/drawing/2014/main" xmlns="" id="{81A2654B-F363-486D-AD47-DCE2095A98AE}"/>
              </a:ext>
            </a:extLst>
          </p:cNvPr>
          <p:cNvSpPr>
            <a:spLocks noGrp="1"/>
          </p:cNvSpPr>
          <p:nvPr/>
        </p:nvSpPr>
        <p:spPr>
          <a:xfrm>
            <a:off x="914400" y="2423160"/>
            <a:ext cx="2286000" cy="320040"/>
          </a:xfrm>
          <a:prstGeom prst="rect">
            <a:avLst/>
          </a:prstGeom>
          <a:noFill/>
        </p:spPr>
        <p:txBody>
          <a:bodyPr wrap="square" lIns="0" tIns="0" rIns="0" bIns="0" anchor="ctr"/>
          <a:lstStyle/>
          <a:p>
            <a:pPr marL="0" indent="0">
              <a:buNone/>
            </a:pPr>
            <a:r>
              <a:rPr sz="2100" b="1">
                <a:solidFill>
                  <a:srgbClr val="1F2937"/>
                </a:solidFill>
              </a:rPr>
              <a:t>⚠️ Unverifiable</a:t>
            </a:r>
          </a:p>
        </p:txBody>
      </p:sp>
      <p:sp>
        <p:nvSpPr>
          <p:cNvPr id="11" name="Text 9">
            <a:extLst>
              <a:ext uri="{FF2B5EF4-FFF2-40B4-BE49-F238E27FC236}">
                <a16:creationId xmlns:a16="http://schemas.microsoft.com/office/drawing/2014/main" xmlns="" id="{9A641871-2202-4885-8265-08BAB601BF57}"/>
              </a:ext>
            </a:extLst>
          </p:cNvPr>
          <p:cNvSpPr>
            <a:spLocks noGrp="1"/>
          </p:cNvSpPr>
          <p:nvPr/>
        </p:nvSpPr>
        <p:spPr>
          <a:xfrm>
            <a:off x="3337560" y="2404872"/>
            <a:ext cx="7772400" cy="438912"/>
          </a:xfrm>
          <a:prstGeom prst="rect">
            <a:avLst/>
          </a:prstGeom>
          <a:noFill/>
        </p:spPr>
        <p:txBody>
          <a:bodyPr wrap="square" lIns="254" tIns="254" rIns="254" bIns="254" anchor="ctr">
            <a:normAutofit/>
          </a:bodyPr>
          <a:lstStyle/>
          <a:p>
            <a:pPr marL="0" indent="0">
              <a:buNone/>
            </a:pPr>
            <a:r>
              <a:rPr sz="1800">
                <a:solidFill>
                  <a:srgbClr val="596273"/>
                </a:solidFill>
              </a:rPr>
              <a:t>Plausible, but the transcript gives no source strong enough to verify it.</a:t>
            </a:r>
          </a:p>
        </p:txBody>
      </p:sp>
      <p:sp>
        <p:nvSpPr>
          <p:cNvPr id="12" name="Text 10">
            <a:extLst>
              <a:ext uri="{FF2B5EF4-FFF2-40B4-BE49-F238E27FC236}">
                <a16:creationId xmlns:a16="http://schemas.microsoft.com/office/drawing/2014/main" xmlns="" id="{657DD693-BDBE-4DB3-AF3A-857948D922E4}"/>
              </a:ext>
            </a:extLst>
          </p:cNvPr>
          <p:cNvSpPr>
            <a:spLocks noGrp="1"/>
          </p:cNvSpPr>
          <p:nvPr/>
        </p:nvSpPr>
        <p:spPr>
          <a:xfrm>
            <a:off x="914400" y="3291840"/>
            <a:ext cx="2286000" cy="320040"/>
          </a:xfrm>
          <a:prstGeom prst="rect">
            <a:avLst/>
          </a:prstGeom>
          <a:noFill/>
        </p:spPr>
        <p:txBody>
          <a:bodyPr wrap="square" lIns="0" tIns="0" rIns="0" bIns="0" anchor="ctr"/>
          <a:lstStyle/>
          <a:p>
            <a:pPr marL="0" indent="0">
              <a:buNone/>
            </a:pPr>
            <a:r>
              <a:rPr sz="2100" b="1">
                <a:solidFill>
                  <a:srgbClr val="1F2937"/>
                </a:solidFill>
              </a:rPr>
              <a:t>❌ Disputed</a:t>
            </a:r>
          </a:p>
        </p:txBody>
      </p:sp>
      <p:sp>
        <p:nvSpPr>
          <p:cNvPr id="13" name="Text 11">
            <a:extLst>
              <a:ext uri="{FF2B5EF4-FFF2-40B4-BE49-F238E27FC236}">
                <a16:creationId xmlns:a16="http://schemas.microsoft.com/office/drawing/2014/main" xmlns="" id="{B67DCDF3-3CFB-477A-8C70-48327C1BB308}"/>
              </a:ext>
            </a:extLst>
          </p:cNvPr>
          <p:cNvSpPr>
            <a:spLocks noGrp="1"/>
          </p:cNvSpPr>
          <p:nvPr/>
        </p:nvSpPr>
        <p:spPr>
          <a:xfrm>
            <a:off x="3337560" y="3273552"/>
            <a:ext cx="7772400" cy="438912"/>
          </a:xfrm>
          <a:prstGeom prst="rect">
            <a:avLst/>
          </a:prstGeom>
          <a:noFill/>
        </p:spPr>
        <p:txBody>
          <a:bodyPr wrap="square" lIns="254" tIns="254" rIns="254" bIns="254" anchor="ctr">
            <a:normAutofit/>
          </a:bodyPr>
          <a:lstStyle/>
          <a:p>
            <a:pPr marL="0" indent="0">
              <a:buNone/>
            </a:pPr>
            <a:r>
              <a:rPr sz="1800">
                <a:solidFill>
                  <a:srgbClr val="596273"/>
                </a:solidFill>
              </a:rPr>
              <a:t>Contradicted by available evidence or by another reliable source.</a:t>
            </a:r>
          </a:p>
        </p:txBody>
      </p:sp>
      <p:sp>
        <p:nvSpPr>
          <p:cNvPr id="14" name="Text 12">
            <a:extLst>
              <a:ext uri="{FF2B5EF4-FFF2-40B4-BE49-F238E27FC236}">
                <a16:creationId xmlns:a16="http://schemas.microsoft.com/office/drawing/2014/main" xmlns="" id="{6AEAECD5-E68C-4C16-B984-C04D054FF02F}"/>
              </a:ext>
            </a:extLst>
          </p:cNvPr>
          <p:cNvSpPr>
            <a:spLocks noGrp="1"/>
          </p:cNvSpPr>
          <p:nvPr/>
        </p:nvSpPr>
        <p:spPr>
          <a:xfrm>
            <a:off x="914400" y="4160520"/>
            <a:ext cx="2286000" cy="320040"/>
          </a:xfrm>
          <a:prstGeom prst="rect">
            <a:avLst/>
          </a:prstGeom>
          <a:noFill/>
        </p:spPr>
        <p:txBody>
          <a:bodyPr wrap="square" lIns="0" tIns="0" rIns="0" bIns="0" anchor="ctr"/>
          <a:lstStyle/>
          <a:p>
            <a:pPr marL="0" indent="0">
              <a:buNone/>
            </a:pPr>
            <a:r>
              <a:rPr sz="2100" b="1">
                <a:solidFill>
                  <a:srgbClr val="1F2937"/>
                </a:solidFill>
              </a:rPr>
              <a:t>Neutral</a:t>
            </a:r>
          </a:p>
        </p:txBody>
      </p:sp>
      <p:sp>
        <p:nvSpPr>
          <p:cNvPr id="15" name="Text 13">
            <a:extLst>
              <a:ext uri="{FF2B5EF4-FFF2-40B4-BE49-F238E27FC236}">
                <a16:creationId xmlns:a16="http://schemas.microsoft.com/office/drawing/2014/main" xmlns="" id="{8730F241-70DE-4197-9A8E-90C96C118E84}"/>
              </a:ext>
            </a:extLst>
          </p:cNvPr>
          <p:cNvSpPr>
            <a:spLocks noGrp="1"/>
          </p:cNvSpPr>
          <p:nvPr/>
        </p:nvSpPr>
        <p:spPr>
          <a:xfrm>
            <a:off x="3337560" y="4142232"/>
            <a:ext cx="7772400" cy="438912"/>
          </a:xfrm>
          <a:prstGeom prst="rect">
            <a:avLst/>
          </a:prstGeom>
          <a:noFill/>
        </p:spPr>
        <p:txBody>
          <a:bodyPr wrap="square" lIns="254" tIns="254" rIns="254" bIns="254" anchor="ctr">
            <a:normAutofit/>
          </a:bodyPr>
          <a:lstStyle/>
          <a:p>
            <a:pPr marL="0" indent="0">
              <a:buNone/>
            </a:pPr>
            <a:r>
              <a:rPr sz="1800">
                <a:solidFill>
                  <a:srgbClr val="596273"/>
                </a:solidFill>
              </a:rPr>
              <a:t>Useful context, but not a factual claim requiring a strong flag.</a:t>
            </a:r>
          </a:p>
        </p:txBody>
      </p:sp>
      <p:sp>
        <p:nvSpPr>
          <p:cNvPr id="16" name="Text 14">
            <a:extLst>
              <a:ext uri="{FF2B5EF4-FFF2-40B4-BE49-F238E27FC236}">
                <a16:creationId xmlns:a16="http://schemas.microsoft.com/office/drawing/2014/main" xmlns="" id="{AFD5A812-738A-46AC-AD49-A6431E67BDBA}"/>
              </a:ext>
            </a:extLst>
          </p:cNvPr>
          <p:cNvSpPr>
            <a:spLocks noGrp="1"/>
          </p:cNvSpPr>
          <p:nvPr/>
        </p:nvSpPr>
        <p:spPr>
          <a:xfrm>
            <a:off x="1005840" y="5440680"/>
            <a:ext cx="10058400" cy="576072"/>
          </a:xfrm>
          <a:prstGeom prst="rect">
            <a:avLst/>
          </a:prstGeom>
          <a:solidFill>
            <a:srgbClr val="FDECEC"/>
          </a:solidFill>
          <a:ln w="15240">
            <a:solidFill>
              <a:srgbClr val="9B1C1C"/>
            </a:solidFill>
          </a:ln>
        </p:spPr>
        <p:txBody>
          <a:bodyPr wrap="square" lIns="1778" tIns="1778" rIns="1778" bIns="1778" anchor="ctr">
            <a:normAutofit/>
          </a:bodyPr>
          <a:lstStyle/>
          <a:p>
            <a:pPr marL="0" indent="0">
              <a:buNone/>
            </a:pPr>
            <a:r>
              <a:rPr sz="1800" b="1">
                <a:solidFill>
                  <a:srgbClr val="1F2937"/>
                </a:solidFill>
              </a:rPr>
              <a:t>Important: in the described pipeline, labels come from transcript analysis, not from live web search.</a:t>
            </a:r>
          </a:p>
        </p:txBody>
      </p:sp>
    </p:spTree>
    <p:extLst>
      <p:ext uri="{BB962C8B-B14F-4D97-AF65-F5344CB8AC3E}">
        <p14:creationId xmlns:p14="http://schemas.microsoft.com/office/powerpoint/2010/main" val="2749878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2C2C99AC-68E9-4215-8243-B8BB689833D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1D7C52F-DBCC-49FB-B068-8A3046385453}"/>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41D3C3C6-98CC-469C-B7E2-7749B5286919}"/>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33F87191-8178-438C-8270-F25A5D8C53A9}"/>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B21E30C-9AC9-4A62-BFCB-6D894B1F5E23}"/>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compendium hierarchy</a:t>
            </a:r>
          </a:p>
        </p:txBody>
      </p:sp>
      <p:sp>
        <p:nvSpPr>
          <p:cNvPr id="7" name="Text 5">
            <a:extLst>
              <a:ext uri="{FF2B5EF4-FFF2-40B4-BE49-F238E27FC236}">
                <a16:creationId xmlns:a16="http://schemas.microsoft.com/office/drawing/2014/main" xmlns="" id="{FE803DB1-3609-4A6A-B4DF-B116A68F3FED}"/>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desired file has a strict nested structure.</a:t>
            </a:r>
          </a:p>
        </p:txBody>
      </p:sp>
      <p:sp>
        <p:nvSpPr>
          <p:cNvPr id="8" name="Text 6">
            <a:extLst>
              <a:ext uri="{FF2B5EF4-FFF2-40B4-BE49-F238E27FC236}">
                <a16:creationId xmlns:a16="http://schemas.microsoft.com/office/drawing/2014/main" xmlns="" id="{A3920412-DF74-41D1-80D3-AFCBAE8EA129}"/>
              </a:ext>
            </a:extLst>
          </p:cNvPr>
          <p:cNvSpPr>
            <a:spLocks noGrp="1"/>
          </p:cNvSpPr>
          <p:nvPr/>
        </p:nvSpPr>
        <p:spPr>
          <a:xfrm>
            <a:off x="4114800" y="1627632"/>
            <a:ext cx="3931920" cy="54864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Compendium of Speeches</a:t>
            </a:r>
          </a:p>
        </p:txBody>
      </p:sp>
      <p:sp>
        <p:nvSpPr>
          <p:cNvPr id="9" name="Shape 7">
            <a:extLst>
              <a:ext uri="{FF2B5EF4-FFF2-40B4-BE49-F238E27FC236}">
                <a16:creationId xmlns:a16="http://schemas.microsoft.com/office/drawing/2014/main" xmlns="" id="{B1338798-387E-4422-9D82-04C6382537B1}"/>
              </a:ext>
            </a:extLst>
          </p:cNvPr>
          <p:cNvSpPr>
            <a:spLocks noGrp="1"/>
          </p:cNvSpPr>
          <p:nvPr/>
        </p:nvSpPr>
        <p:spPr>
          <a:xfrm>
            <a:off x="6080760" y="2176272"/>
            <a:ext cx="0" cy="41148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65D46BDE-CFFB-45CD-AFDD-8FAAF2531984}"/>
              </a:ext>
            </a:extLst>
          </p:cNvPr>
          <p:cNvSpPr>
            <a:spLocks noGrp="1"/>
          </p:cNvSpPr>
          <p:nvPr/>
        </p:nvSpPr>
        <p:spPr>
          <a:xfrm>
            <a:off x="4389120" y="2679192"/>
            <a:ext cx="3383280" cy="64008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800" b="1">
                <a:solidFill>
                  <a:srgbClr val="1F2937"/>
                </a:solidFill>
              </a:rPr>
              <a:t>Central Claim</a:t>
            </a:r>
          </a:p>
          <a:p>
            <a:pPr marL="0" indent="0" algn="ctr">
              <a:buNone/>
            </a:pPr>
            <a:r>
              <a:rPr sz="1800" b="1">
                <a:solidFill>
                  <a:srgbClr val="1F2937"/>
                </a:solidFill>
              </a:rPr>
              <a:t>(chapter)</a:t>
            </a:r>
          </a:p>
        </p:txBody>
      </p:sp>
      <p:sp>
        <p:nvSpPr>
          <p:cNvPr id="11" name="Shape 9">
            <a:extLst>
              <a:ext uri="{FF2B5EF4-FFF2-40B4-BE49-F238E27FC236}">
                <a16:creationId xmlns:a16="http://schemas.microsoft.com/office/drawing/2014/main" xmlns="" id="{FEB90DD8-3936-4CE7-9F96-8FEBE20484AB}"/>
              </a:ext>
            </a:extLst>
          </p:cNvPr>
          <p:cNvSpPr>
            <a:spLocks noGrp="1"/>
          </p:cNvSpPr>
          <p:nvPr/>
        </p:nvSpPr>
        <p:spPr>
          <a:xfrm>
            <a:off x="6080760" y="3319272"/>
            <a:ext cx="0" cy="41148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C0D45702-0A1B-49E1-A545-6F59FEC1A93D}"/>
              </a:ext>
            </a:extLst>
          </p:cNvPr>
          <p:cNvSpPr>
            <a:spLocks noGrp="1"/>
          </p:cNvSpPr>
          <p:nvPr/>
        </p:nvSpPr>
        <p:spPr>
          <a:xfrm>
            <a:off x="4389120" y="3822192"/>
            <a:ext cx="3383280" cy="64008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800" b="1">
                <a:solidFill>
                  <a:srgbClr val="1F2937"/>
                </a:solidFill>
              </a:rPr>
              <a:t>Theme</a:t>
            </a:r>
          </a:p>
          <a:p>
            <a:pPr marL="0" indent="0" algn="ctr">
              <a:buNone/>
            </a:pPr>
            <a:r>
              <a:rPr sz="1800" b="1">
                <a:solidFill>
                  <a:srgbClr val="1F2937"/>
                </a:solidFill>
              </a:rPr>
              <a:t>(section)</a:t>
            </a:r>
          </a:p>
        </p:txBody>
      </p:sp>
      <p:sp>
        <p:nvSpPr>
          <p:cNvPr id="13" name="Shape 11">
            <a:extLst>
              <a:ext uri="{FF2B5EF4-FFF2-40B4-BE49-F238E27FC236}">
                <a16:creationId xmlns:a16="http://schemas.microsoft.com/office/drawing/2014/main" xmlns="" id="{B5FFE635-7287-4D60-9D09-8BF390ABAFCA}"/>
              </a:ext>
            </a:extLst>
          </p:cNvPr>
          <p:cNvSpPr>
            <a:spLocks noGrp="1"/>
          </p:cNvSpPr>
          <p:nvPr/>
        </p:nvSpPr>
        <p:spPr>
          <a:xfrm>
            <a:off x="6080760" y="4462272"/>
            <a:ext cx="0" cy="338328"/>
          </a:xfrm>
          <a:prstGeom prst="line">
            <a:avLst/>
          </a:prstGeom>
          <a:noFill/>
          <a:ln w="16510">
            <a:solidFill>
              <a:srgbClr val="596273"/>
            </a:solidFill>
            <a:prstDash val="solid"/>
          </a:ln>
        </p:spPr>
      </p:sp>
      <p:sp>
        <p:nvSpPr>
          <p:cNvPr id="14" name="Text 12">
            <a:extLst>
              <a:ext uri="{FF2B5EF4-FFF2-40B4-BE49-F238E27FC236}">
                <a16:creationId xmlns:a16="http://schemas.microsoft.com/office/drawing/2014/main" xmlns="" id="{23506B94-FD2A-4FF3-B56E-1B0AEEE8CBCA}"/>
              </a:ext>
            </a:extLst>
          </p:cNvPr>
          <p:cNvSpPr>
            <a:spLocks noGrp="1"/>
          </p:cNvSpPr>
          <p:nvPr/>
        </p:nvSpPr>
        <p:spPr>
          <a:xfrm>
            <a:off x="3246120" y="4892040"/>
            <a:ext cx="5669280" cy="594360"/>
          </a:xfrm>
          <a:prstGeom prst="rect">
            <a:avLst/>
          </a:prstGeom>
          <a:solidFill>
            <a:srgbClr val="FFF3DA"/>
          </a:solidFill>
          <a:ln w="15240">
            <a:solidFill>
              <a:srgbClr val="A55D00"/>
            </a:solidFill>
          </a:ln>
        </p:spPr>
        <p:txBody>
          <a:bodyPr wrap="square" lIns="1016" tIns="1016" rIns="1016" bIns="1016" anchor="ctr">
            <a:normAutofit/>
          </a:bodyPr>
          <a:lstStyle/>
          <a:p>
            <a:pPr marL="0" indent="0" algn="ctr">
              <a:buNone/>
            </a:pPr>
            <a:r>
              <a:rPr sz="1800" b="1">
                <a:solidFill>
                  <a:srgbClr val="1F2937"/>
                </a:solidFill>
              </a:rPr>
              <a:t>Argument → Premises → Evidence → Evolution</a:t>
            </a:r>
          </a:p>
        </p:txBody>
      </p:sp>
      <p:sp>
        <p:nvSpPr>
          <p:cNvPr id="15" name="Text 13">
            <a:extLst>
              <a:ext uri="{FF2B5EF4-FFF2-40B4-BE49-F238E27FC236}">
                <a16:creationId xmlns:a16="http://schemas.microsoft.com/office/drawing/2014/main" xmlns="" id="{7D9BEE72-ADD1-4CBF-97D6-CFBDAD7FF79A}"/>
              </a:ext>
            </a:extLst>
          </p:cNvPr>
          <p:cNvSpPr>
            <a:spLocks noGrp="1"/>
          </p:cNvSpPr>
          <p:nvPr/>
        </p:nvSpPr>
        <p:spPr>
          <a:xfrm>
            <a:off x="1051560" y="5742432"/>
            <a:ext cx="10058400" cy="365760"/>
          </a:xfrm>
          <a:prstGeom prst="rect">
            <a:avLst/>
          </a:prstGeom>
          <a:noFill/>
        </p:spPr>
        <p:txBody>
          <a:bodyPr wrap="square" lIns="254" tIns="254" rIns="254" bIns="254" anchor="ctr"/>
          <a:lstStyle/>
          <a:p>
            <a:pPr marL="0" indent="0" algn="ctr">
              <a:buNone/>
            </a:pPr>
            <a:r>
              <a:rPr sz="1800">
                <a:solidFill>
                  <a:srgbClr val="596273"/>
                </a:solidFill>
              </a:rPr>
              <a:t>Every level has a job. The rules file defines those jobs so Claude has less room to improvise.</a:t>
            </a:r>
          </a:p>
        </p:txBody>
      </p:sp>
    </p:spTree>
    <p:extLst>
      <p:ext uri="{BB962C8B-B14F-4D97-AF65-F5344CB8AC3E}">
        <p14:creationId xmlns:p14="http://schemas.microsoft.com/office/powerpoint/2010/main" val="14599786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6E5EFB02-57B8-4DBC-A14B-448AE50A0923}"/>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35C2E2C-E781-4B61-B2AE-EC0CC89737B6}"/>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2 · Desired output</a:t>
            </a:r>
          </a:p>
        </p:txBody>
      </p:sp>
      <p:sp>
        <p:nvSpPr>
          <p:cNvPr id="4" name="Shape 2">
            <a:extLst>
              <a:ext uri="{FF2B5EF4-FFF2-40B4-BE49-F238E27FC236}">
                <a16:creationId xmlns:a16="http://schemas.microsoft.com/office/drawing/2014/main" xmlns="" id="{C63B943D-0FD6-486B-9873-18F66E3D136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76FFB436-9BBD-4A84-AF87-AB59FAB4FAA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8AF78DE-98D8-483E-AEFE-E72CD5A3A6E9}"/>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unverifiable claims file</a:t>
            </a:r>
          </a:p>
        </p:txBody>
      </p:sp>
      <p:sp>
        <p:nvSpPr>
          <p:cNvPr id="7" name="Text 5">
            <a:extLst>
              <a:ext uri="{FF2B5EF4-FFF2-40B4-BE49-F238E27FC236}">
                <a16:creationId xmlns:a16="http://schemas.microsoft.com/office/drawing/2014/main" xmlns="" id="{D504952B-6944-4B4D-B41E-6D90B2DAE8D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This file collects claims that should be checked later.</a:t>
            </a:r>
          </a:p>
        </p:txBody>
      </p:sp>
      <p:sp>
        <p:nvSpPr>
          <p:cNvPr id="8" name="Text 6">
            <a:extLst>
              <a:ext uri="{FF2B5EF4-FFF2-40B4-BE49-F238E27FC236}">
                <a16:creationId xmlns:a16="http://schemas.microsoft.com/office/drawing/2014/main" xmlns="" id="{BF408741-D584-47FD-A3C2-28A0A2FEE932}"/>
              </a:ext>
            </a:extLst>
          </p:cNvPr>
          <p:cNvSpPr>
            <a:spLocks noGrp="1"/>
          </p:cNvSpPr>
          <p:nvPr/>
        </p:nvSpPr>
        <p:spPr>
          <a:xfrm>
            <a:off x="914400" y="1600200"/>
            <a:ext cx="10332720" cy="1737360"/>
          </a:xfrm>
          <a:prstGeom prst="rect">
            <a:avLst/>
          </a:prstGeom>
          <a:solidFill>
            <a:srgbClr val="FFFFFF"/>
          </a:solidFill>
          <a:ln w="13970">
            <a:solidFill>
              <a:srgbClr val="D6D0C5"/>
            </a:solidFill>
          </a:ln>
        </p:spPr>
        <p:txBody>
          <a:bodyPr wrap="square" lIns="2286" tIns="2286" rIns="2286" bIns="2286" anchor="ctr">
            <a:normAutofit/>
          </a:bodyPr>
          <a:lstStyle/>
          <a:p>
            <a:pPr marL="0" indent="0">
              <a:buNone/>
            </a:pPr>
            <a:r>
              <a:rPr sz="1700">
                <a:solidFill>
                  <a:srgbClr val="1F2937"/>
                </a:solidFill>
                <a:latin typeface="Courier New"/>
                <a:ea typeface="Courier New"/>
                <a:cs typeface="Courier New"/>
              </a:rPr>
              <a:t>SPEECH_REF: 20211111_The Cost of Money.txt</a:t>
            </a:r>
          </a:p>
          <a:p>
            <a:pPr marL="0" indent="0">
              <a:buNone/>
            </a:pPr>
            <a:r>
              <a:rPr sz="1700">
                <a:solidFill>
                  <a:srgbClr val="1F2937"/>
                </a:solidFill>
                <a:latin typeface="Courier New"/>
                <a:ea typeface="Courier New"/>
                <a:cs typeface="Courier New"/>
              </a:rPr>
              <a:t>CLAIM: The speaker asserts a specific factual statement.</a:t>
            </a:r>
          </a:p>
          <a:p>
            <a:pPr marL="0" indent="0">
              <a:buNone/>
            </a:pPr>
            <a:r>
              <a:rPr sz="1700">
                <a:solidFill>
                  <a:srgbClr val="1F2937"/>
                </a:solidFill>
                <a:latin typeface="Courier New"/>
                <a:ea typeface="Courier New"/>
                <a:cs typeface="Courier New"/>
              </a:rPr>
              <a:t>REASON: No source is given in the transcript.</a:t>
            </a:r>
          </a:p>
          <a:p>
            <a:pPr marL="0" indent="0">
              <a:buNone/>
            </a:pPr>
            <a:r>
              <a:rPr sz="1700">
                <a:solidFill>
                  <a:srgbClr val="1F2937"/>
                </a:solidFill>
                <a:latin typeface="Courier New"/>
                <a:ea typeface="Courier New"/>
                <a:cs typeface="Courier New"/>
              </a:rPr>
              <a:t>MEMORY: NoInternalBasis</a:t>
            </a:r>
          </a:p>
        </p:txBody>
      </p:sp>
      <p:sp>
        <p:nvSpPr>
          <p:cNvPr id="9" name="Text 7">
            <a:extLst>
              <a:ext uri="{FF2B5EF4-FFF2-40B4-BE49-F238E27FC236}">
                <a16:creationId xmlns:a16="http://schemas.microsoft.com/office/drawing/2014/main" xmlns="" id="{18DA67FD-CBC9-4661-AF9E-D4DF0DE1D9A8}"/>
              </a:ext>
            </a:extLst>
          </p:cNvPr>
          <p:cNvSpPr>
            <a:spLocks noGrp="1"/>
          </p:cNvSpPr>
          <p:nvPr/>
        </p:nvSpPr>
        <p:spPr>
          <a:xfrm>
            <a:off x="914400" y="39227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0" name="Text 8">
            <a:extLst>
              <a:ext uri="{FF2B5EF4-FFF2-40B4-BE49-F238E27FC236}">
                <a16:creationId xmlns:a16="http://schemas.microsoft.com/office/drawing/2014/main" xmlns="" id="{92E1A9AD-5C95-4780-87F4-E946F7F60AB0}"/>
              </a:ext>
            </a:extLst>
          </p:cNvPr>
          <p:cNvSpPr>
            <a:spLocks noGrp="1"/>
          </p:cNvSpPr>
          <p:nvPr/>
        </p:nvSpPr>
        <p:spPr>
          <a:xfrm>
            <a:off x="1243584" y="3886200"/>
            <a:ext cx="10003536" cy="411480"/>
          </a:xfrm>
          <a:prstGeom prst="rect">
            <a:avLst/>
          </a:prstGeom>
          <a:noFill/>
        </p:spPr>
        <p:txBody>
          <a:bodyPr wrap="square" lIns="254" tIns="254" rIns="254" bIns="254" anchor="ctr">
            <a:normAutofit/>
          </a:bodyPr>
          <a:lstStyle/>
          <a:p>
            <a:pPr marL="0" indent="0">
              <a:buNone/>
            </a:pPr>
            <a:r>
              <a:rPr sz="2000">
                <a:solidFill>
                  <a:srgbClr val="1F2937"/>
                </a:solidFill>
              </a:rPr>
              <a:t>It is not a trash folder. It is a review list.</a:t>
            </a:r>
          </a:p>
        </p:txBody>
      </p:sp>
      <p:sp>
        <p:nvSpPr>
          <p:cNvPr id="11" name="Text 9">
            <a:extLst>
              <a:ext uri="{FF2B5EF4-FFF2-40B4-BE49-F238E27FC236}">
                <a16:creationId xmlns:a16="http://schemas.microsoft.com/office/drawing/2014/main" xmlns="" id="{BF833112-CDB2-42E4-9AD2-D5962765D005}"/>
              </a:ext>
            </a:extLst>
          </p:cNvPr>
          <p:cNvSpPr>
            <a:spLocks noGrp="1"/>
          </p:cNvSpPr>
          <p:nvPr/>
        </p:nvSpPr>
        <p:spPr>
          <a:xfrm>
            <a:off x="914400" y="44622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2" name="Text 10">
            <a:extLst>
              <a:ext uri="{FF2B5EF4-FFF2-40B4-BE49-F238E27FC236}">
                <a16:creationId xmlns:a16="http://schemas.microsoft.com/office/drawing/2014/main" xmlns="" id="{5C07E4D9-B19D-448E-B9C9-C6CC3D230295}"/>
              </a:ext>
            </a:extLst>
          </p:cNvPr>
          <p:cNvSpPr>
            <a:spLocks noGrp="1"/>
          </p:cNvSpPr>
          <p:nvPr/>
        </p:nvSpPr>
        <p:spPr>
          <a:xfrm>
            <a:off x="1243584" y="4425696"/>
            <a:ext cx="10003536" cy="411480"/>
          </a:xfrm>
          <a:prstGeom prst="rect">
            <a:avLst/>
          </a:prstGeom>
          <a:noFill/>
        </p:spPr>
        <p:txBody>
          <a:bodyPr wrap="square" lIns="254" tIns="254" rIns="254" bIns="254" anchor="ctr">
            <a:normAutofit/>
          </a:bodyPr>
          <a:lstStyle/>
          <a:p>
            <a:pPr marL="0" indent="0">
              <a:buNone/>
            </a:pPr>
            <a:r>
              <a:rPr sz="2000">
                <a:solidFill>
                  <a:srgbClr val="1F2937"/>
                </a:solidFill>
              </a:rPr>
              <a:t>It prevents weak or unsupported claims from being silently absorbed into the knowledge base.</a:t>
            </a:r>
          </a:p>
        </p:txBody>
      </p:sp>
      <p:sp>
        <p:nvSpPr>
          <p:cNvPr id="13" name="Text 11">
            <a:extLst>
              <a:ext uri="{FF2B5EF4-FFF2-40B4-BE49-F238E27FC236}">
                <a16:creationId xmlns:a16="http://schemas.microsoft.com/office/drawing/2014/main" xmlns="" id="{47ECB2F7-C8E5-4246-8EE1-4AD902088738}"/>
              </a:ext>
            </a:extLst>
          </p:cNvPr>
          <p:cNvSpPr>
            <a:spLocks noGrp="1"/>
          </p:cNvSpPr>
          <p:nvPr/>
        </p:nvSpPr>
        <p:spPr>
          <a:xfrm>
            <a:off x="914400" y="500176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8B22DC73-C596-4345-9C96-579C7D280BE1}"/>
              </a:ext>
            </a:extLst>
          </p:cNvPr>
          <p:cNvSpPr>
            <a:spLocks noGrp="1"/>
          </p:cNvSpPr>
          <p:nvPr/>
        </p:nvSpPr>
        <p:spPr>
          <a:xfrm>
            <a:off x="1243584" y="4965192"/>
            <a:ext cx="10003536" cy="411480"/>
          </a:xfrm>
          <a:prstGeom prst="rect">
            <a:avLst/>
          </a:prstGeom>
          <a:noFill/>
        </p:spPr>
        <p:txBody>
          <a:bodyPr wrap="square" lIns="254" tIns="254" rIns="254" bIns="254" anchor="ctr">
            <a:normAutofit/>
          </a:bodyPr>
          <a:lstStyle/>
          <a:p>
            <a:pPr marL="0" indent="0">
              <a:buNone/>
            </a:pPr>
            <a:r>
              <a:rPr sz="2000">
                <a:solidFill>
                  <a:srgbClr val="1F2937"/>
                </a:solidFill>
              </a:rPr>
              <a:t>A later verification program can take this file and check the claims externally.</a:t>
            </a:r>
          </a:p>
        </p:txBody>
      </p:sp>
    </p:spTree>
    <p:extLst>
      <p:ext uri="{BB962C8B-B14F-4D97-AF65-F5344CB8AC3E}">
        <p14:creationId xmlns:p14="http://schemas.microsoft.com/office/powerpoint/2010/main" val="8380217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1116C76A-5C75-4DDB-A9AE-9CC9C4D2FB01}"/>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C03996AE-8004-4502-AFAC-2B396CB46902}"/>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BF165620-BFF3-4F92-B7EA-656180A834F1}"/>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D0AE8C15-C799-4F3B-82B0-FE8AE1AA5009}"/>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843EA7A-263F-4BD2-B954-C41F4CCD94F8}"/>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40319B"/>
                </a:solidFill>
              </a:rPr>
              <a:t>The five-phase pipeline</a:t>
            </a:r>
          </a:p>
        </p:txBody>
      </p:sp>
      <p:sp>
        <p:nvSpPr>
          <p:cNvPr id="7" name="Text 5">
            <a:extLst>
              <a:ext uri="{FF2B5EF4-FFF2-40B4-BE49-F238E27FC236}">
                <a16:creationId xmlns:a16="http://schemas.microsoft.com/office/drawing/2014/main" xmlns="" id="{6137CC91-0712-47F0-80A4-707E75DC31D1}"/>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Now we explain the workflow that turns transcripts into the final files.</a:t>
            </a:r>
          </a:p>
        </p:txBody>
      </p:sp>
    </p:spTree>
    <p:extLst>
      <p:ext uri="{BB962C8B-B14F-4D97-AF65-F5344CB8AC3E}">
        <p14:creationId xmlns:p14="http://schemas.microsoft.com/office/powerpoint/2010/main" val="2801096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2AC87D6C-94EF-49D2-9422-8CB606277B0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714DA653-FBFD-484B-86BA-151D2CB8BE42}"/>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AFC7EB4E-09E0-4E0D-83AD-9950B45EFF5F}"/>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3D6A7773-F27F-4A67-B4A4-9E8B50021CEC}"/>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D9F21F36-4E16-43E6-863D-E06CDAFFC59E}"/>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Pipeline overview</a:t>
            </a:r>
          </a:p>
        </p:txBody>
      </p:sp>
      <p:sp>
        <p:nvSpPr>
          <p:cNvPr id="7" name="Text 5">
            <a:extLst>
              <a:ext uri="{FF2B5EF4-FFF2-40B4-BE49-F238E27FC236}">
                <a16:creationId xmlns:a16="http://schemas.microsoft.com/office/drawing/2014/main" xmlns="" id="{9C55E879-5682-4689-82A2-3F350FA4A57A}"/>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full workflow moves from raw transcripts to a finished compendium.</a:t>
            </a:r>
          </a:p>
        </p:txBody>
      </p:sp>
      <p:pic>
        <p:nvPicPr>
          <p:cNvPr id="8" name="Image 0"/>
          <p:cNvPicPr>
            <a:picLocks noChangeAspect="1"/>
          </p:cNvPicPr>
          <p:nvPr/>
        </p:nvPicPr>
        <p:blipFill>
          <a:blip r:embed="rId3" cstate="print"/>
          <a:stretch>
            <a:fillRect/>
          </a:stretch>
        </p:blipFill>
        <p:spPr>
          <a:xfrm>
            <a:off x="4459987" y="1627632"/>
            <a:ext cx="3278124" cy="4370832"/>
          </a:xfrm>
          <a:prstGeom prst="rect">
            <a:avLst/>
          </a:prstGeom>
        </p:spPr>
      </p:pic>
    </p:spTree>
    <p:extLst>
      <p:ext uri="{BB962C8B-B14F-4D97-AF65-F5344CB8AC3E}">
        <p14:creationId xmlns:p14="http://schemas.microsoft.com/office/powerpoint/2010/main" val="11303982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9B6B7FD5-5E6F-4AC1-959F-ABCF4F6613A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EB69551-80F3-45F4-AA51-6A49E29DD4AD}"/>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AB2F5473-1A91-4138-8E1E-C7B7F9EF3AF1}"/>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01C3F43F-338F-4B08-80D7-B4DB5CCDE29A}"/>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715E0451-9C67-4AC3-BFDD-8F06A7C03F43}"/>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Map-reduce summarization in plain language</a:t>
            </a:r>
          </a:p>
        </p:txBody>
      </p:sp>
      <p:sp>
        <p:nvSpPr>
          <p:cNvPr id="7" name="Text 5">
            <a:extLst>
              <a:ext uri="{FF2B5EF4-FFF2-40B4-BE49-F238E27FC236}">
                <a16:creationId xmlns:a16="http://schemas.microsoft.com/office/drawing/2014/main" xmlns="" id="{0223DF6E-F970-438E-A23D-6F2E68A90BF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This phrase sounds technical, but the idea is simple.</a:t>
            </a:r>
          </a:p>
        </p:txBody>
      </p:sp>
      <p:sp>
        <p:nvSpPr>
          <p:cNvPr id="8" name="Text 6">
            <a:extLst>
              <a:ext uri="{FF2B5EF4-FFF2-40B4-BE49-F238E27FC236}">
                <a16:creationId xmlns:a16="http://schemas.microsoft.com/office/drawing/2014/main" xmlns="" id="{DB38D787-29E1-40F5-8D83-F5B075AC6297}"/>
              </a:ext>
            </a:extLst>
          </p:cNvPr>
          <p:cNvSpPr>
            <a:spLocks noGrp="1"/>
          </p:cNvSpPr>
          <p:nvPr/>
        </p:nvSpPr>
        <p:spPr>
          <a:xfrm>
            <a:off x="868680" y="1828800"/>
            <a:ext cx="3108960" cy="100584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2000" b="1">
                <a:solidFill>
                  <a:srgbClr val="1F2937"/>
                </a:solidFill>
              </a:rPr>
              <a:t>MAP</a:t>
            </a:r>
          </a:p>
          <a:p>
            <a:pPr marL="0" indent="0" algn="ctr">
              <a:buNone/>
            </a:pPr>
            <a:r>
              <a:rPr sz="2000" b="1">
                <a:solidFill>
                  <a:srgbClr val="1F2937"/>
                </a:solidFill>
              </a:rPr>
              <a:t>Analyze each transcript separately</a:t>
            </a:r>
          </a:p>
        </p:txBody>
      </p:sp>
      <p:sp>
        <p:nvSpPr>
          <p:cNvPr id="9" name="Shape 7">
            <a:extLst>
              <a:ext uri="{FF2B5EF4-FFF2-40B4-BE49-F238E27FC236}">
                <a16:creationId xmlns:a16="http://schemas.microsoft.com/office/drawing/2014/main" xmlns="" id="{315CFDA7-F5C7-4901-8E9D-DC25774E4B36}"/>
              </a:ext>
            </a:extLst>
          </p:cNvPr>
          <p:cNvSpPr>
            <a:spLocks noGrp="1"/>
          </p:cNvSpPr>
          <p:nvPr/>
        </p:nvSpPr>
        <p:spPr>
          <a:xfrm>
            <a:off x="4160520" y="2331720"/>
            <a:ext cx="91440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30BF0B2C-D987-41FE-A39B-FE961A93B944}"/>
              </a:ext>
            </a:extLst>
          </p:cNvPr>
          <p:cNvSpPr>
            <a:spLocks noGrp="1"/>
          </p:cNvSpPr>
          <p:nvPr/>
        </p:nvSpPr>
        <p:spPr>
          <a:xfrm>
            <a:off x="5257800" y="1828800"/>
            <a:ext cx="2834640" cy="100584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2000" b="1">
                <a:solidFill>
                  <a:srgbClr val="1F2937"/>
                </a:solidFill>
              </a:rPr>
              <a:t>REDUCE</a:t>
            </a:r>
          </a:p>
          <a:p>
            <a:pPr marL="0" indent="0" algn="ctr">
              <a:buNone/>
            </a:pPr>
            <a:r>
              <a:rPr sz="2000" b="1">
                <a:solidFill>
                  <a:srgbClr val="1F2937"/>
                </a:solidFill>
              </a:rPr>
              <a:t>Merge similar findings</a:t>
            </a:r>
          </a:p>
        </p:txBody>
      </p:sp>
      <p:sp>
        <p:nvSpPr>
          <p:cNvPr id="11" name="Shape 9">
            <a:extLst>
              <a:ext uri="{FF2B5EF4-FFF2-40B4-BE49-F238E27FC236}">
                <a16:creationId xmlns:a16="http://schemas.microsoft.com/office/drawing/2014/main" xmlns="" id="{68921708-802B-43F6-BD1F-357357C9DF55}"/>
              </a:ext>
            </a:extLst>
          </p:cNvPr>
          <p:cNvSpPr>
            <a:spLocks noGrp="1"/>
          </p:cNvSpPr>
          <p:nvPr/>
        </p:nvSpPr>
        <p:spPr>
          <a:xfrm>
            <a:off x="8275320" y="2331720"/>
            <a:ext cx="91440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75F53D05-738B-4CE5-8B00-FA07E540306A}"/>
              </a:ext>
            </a:extLst>
          </p:cNvPr>
          <p:cNvSpPr>
            <a:spLocks noGrp="1"/>
          </p:cNvSpPr>
          <p:nvPr/>
        </p:nvSpPr>
        <p:spPr>
          <a:xfrm>
            <a:off x="9372600" y="1828800"/>
            <a:ext cx="1965960" cy="100584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700" b="1">
                <a:solidFill>
                  <a:srgbClr val="1F2937"/>
                </a:solidFill>
              </a:rPr>
              <a:t>SYNTHESIZE</a:t>
            </a:r>
          </a:p>
          <a:p>
            <a:pPr marL="0" indent="0" algn="ctr">
              <a:buNone/>
            </a:pPr>
            <a:r>
              <a:rPr sz="1700" b="1">
                <a:solidFill>
                  <a:srgbClr val="1F2937"/>
                </a:solidFill>
              </a:rPr>
              <a:t>Write the final structured result</a:t>
            </a:r>
          </a:p>
        </p:txBody>
      </p:sp>
      <p:sp>
        <p:nvSpPr>
          <p:cNvPr id="13" name="Text 11">
            <a:extLst>
              <a:ext uri="{FF2B5EF4-FFF2-40B4-BE49-F238E27FC236}">
                <a16:creationId xmlns:a16="http://schemas.microsoft.com/office/drawing/2014/main" xmlns="" id="{92DAE8FE-8C8E-4775-AC92-8015C5F94BDE}"/>
              </a:ext>
            </a:extLst>
          </p:cNvPr>
          <p:cNvSpPr>
            <a:spLocks noGrp="1"/>
          </p:cNvSpPr>
          <p:nvPr/>
        </p:nvSpPr>
        <p:spPr>
          <a:xfrm>
            <a:off x="1051560" y="3977640"/>
            <a:ext cx="10058400" cy="77724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Think of it like asking students to summarize chapters separately, then asking an editor to combine the summaries into one organized book.</a:t>
            </a:r>
          </a:p>
        </p:txBody>
      </p:sp>
    </p:spTree>
    <p:extLst>
      <p:ext uri="{BB962C8B-B14F-4D97-AF65-F5344CB8AC3E}">
        <p14:creationId xmlns:p14="http://schemas.microsoft.com/office/powerpoint/2010/main" val="17717753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4C1175D-47D2-48DD-A0BF-1A86BE4C08E2}"/>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62CBAD28-52E9-496B-839E-E0F7CB670D87}"/>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145AD97F-5803-46A9-8560-AF27EED36AE4}"/>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CDAD26DE-096B-4D7F-91D4-C55D2C6273C4}"/>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3FF58AE-1D86-4EB5-889F-915A923F62DD}"/>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Phase 1 — summarize</a:t>
            </a:r>
          </a:p>
        </p:txBody>
      </p:sp>
      <p:sp>
        <p:nvSpPr>
          <p:cNvPr id="7" name="Text 5">
            <a:extLst>
              <a:ext uri="{FF2B5EF4-FFF2-40B4-BE49-F238E27FC236}">
                <a16:creationId xmlns:a16="http://schemas.microsoft.com/office/drawing/2014/main" xmlns="" id="{2F6381D7-16DC-431F-BBB8-09C06BF1DB0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LLM reads one transcript at a time and extracts structured information.</a:t>
            </a:r>
          </a:p>
        </p:txBody>
      </p:sp>
      <p:sp>
        <p:nvSpPr>
          <p:cNvPr id="8" name="Text 6">
            <a:extLst>
              <a:ext uri="{FF2B5EF4-FFF2-40B4-BE49-F238E27FC236}">
                <a16:creationId xmlns:a16="http://schemas.microsoft.com/office/drawing/2014/main" xmlns="" id="{32AC660E-8DB7-454C-B552-46B5294618BC}"/>
              </a:ext>
            </a:extLst>
          </p:cNvPr>
          <p:cNvSpPr>
            <a:spLocks noGrp="1"/>
          </p:cNvSpPr>
          <p:nvPr/>
        </p:nvSpPr>
        <p:spPr>
          <a:xfrm>
            <a:off x="868680" y="168249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BDAECADC-5AB9-4194-9AB1-84D54E24C95D}"/>
              </a:ext>
            </a:extLst>
          </p:cNvPr>
          <p:cNvSpPr>
            <a:spLocks noGrp="1"/>
          </p:cNvSpPr>
          <p:nvPr/>
        </p:nvSpPr>
        <p:spPr>
          <a:xfrm>
            <a:off x="1197864" y="164592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Input: one raw transcript file.</a:t>
            </a:r>
          </a:p>
        </p:txBody>
      </p:sp>
      <p:sp>
        <p:nvSpPr>
          <p:cNvPr id="10" name="Text 8">
            <a:extLst>
              <a:ext uri="{FF2B5EF4-FFF2-40B4-BE49-F238E27FC236}">
                <a16:creationId xmlns:a16="http://schemas.microsoft.com/office/drawing/2014/main" xmlns="" id="{E436D814-2C92-48A5-943E-34EBBA0546C9}"/>
              </a:ext>
            </a:extLst>
          </p:cNvPr>
          <p:cNvSpPr>
            <a:spLocks noGrp="1"/>
          </p:cNvSpPr>
          <p:nvPr/>
        </p:nvSpPr>
        <p:spPr>
          <a:xfrm>
            <a:off x="868680" y="224942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6AA98F96-C537-4F7D-948A-7CD9563D43BC}"/>
              </a:ext>
            </a:extLst>
          </p:cNvPr>
          <p:cNvSpPr>
            <a:spLocks noGrp="1"/>
          </p:cNvSpPr>
          <p:nvPr/>
        </p:nvSpPr>
        <p:spPr>
          <a:xfrm>
            <a:off x="1197864" y="221284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Output: one summary file, usually JSON, for that transcript.</a:t>
            </a:r>
          </a:p>
        </p:txBody>
      </p:sp>
      <p:sp>
        <p:nvSpPr>
          <p:cNvPr id="12" name="Text 10">
            <a:extLst>
              <a:ext uri="{FF2B5EF4-FFF2-40B4-BE49-F238E27FC236}">
                <a16:creationId xmlns:a16="http://schemas.microsoft.com/office/drawing/2014/main" xmlns="" id="{B7C05700-E7C4-4017-8B8B-8DDF11EB04B5}"/>
              </a:ext>
            </a:extLst>
          </p:cNvPr>
          <p:cNvSpPr>
            <a:spLocks noGrp="1"/>
          </p:cNvSpPr>
          <p:nvPr/>
        </p:nvSpPr>
        <p:spPr>
          <a:xfrm>
            <a:off x="868680" y="281635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60C8FC01-EBB1-4B26-9A11-83341B1A6F5B}"/>
              </a:ext>
            </a:extLst>
          </p:cNvPr>
          <p:cNvSpPr>
            <a:spLocks noGrp="1"/>
          </p:cNvSpPr>
          <p:nvPr/>
        </p:nvSpPr>
        <p:spPr>
          <a:xfrm>
            <a:off x="1197864" y="2779776"/>
            <a:ext cx="10186416" cy="438912"/>
          </a:xfrm>
          <a:prstGeom prst="rect">
            <a:avLst/>
          </a:prstGeom>
          <a:noFill/>
        </p:spPr>
        <p:txBody>
          <a:bodyPr wrap="square" lIns="254" tIns="254" rIns="254" bIns="254" anchor="ctr">
            <a:normAutofit fontScale="85000" lnSpcReduction="10000"/>
          </a:bodyPr>
          <a:lstStyle/>
          <a:p>
            <a:pPr marL="0" indent="0">
              <a:buNone/>
            </a:pPr>
            <a:r>
              <a:rPr sz="2000">
                <a:solidFill>
                  <a:srgbClr val="1F2937"/>
                </a:solidFill>
              </a:rPr>
              <a:t>The summary includes a central claim, themes, arguments, evidence, analogies, and possible unverifiable claims.</a:t>
            </a:r>
          </a:p>
        </p:txBody>
      </p:sp>
      <p:sp>
        <p:nvSpPr>
          <p:cNvPr id="14" name="Text 12">
            <a:extLst>
              <a:ext uri="{FF2B5EF4-FFF2-40B4-BE49-F238E27FC236}">
                <a16:creationId xmlns:a16="http://schemas.microsoft.com/office/drawing/2014/main" xmlns="" id="{5CCB5D54-A53D-4060-8ED9-92577E191CE9}"/>
              </a:ext>
            </a:extLst>
          </p:cNvPr>
          <p:cNvSpPr>
            <a:spLocks noGrp="1"/>
          </p:cNvSpPr>
          <p:nvPr/>
        </p:nvSpPr>
        <p:spPr>
          <a:xfrm>
            <a:off x="868680" y="338328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DBDE9CDA-624C-4AAA-80EC-DE1E0C570CF6}"/>
              </a:ext>
            </a:extLst>
          </p:cNvPr>
          <p:cNvSpPr>
            <a:spLocks noGrp="1"/>
          </p:cNvSpPr>
          <p:nvPr/>
        </p:nvSpPr>
        <p:spPr>
          <a:xfrm>
            <a:off x="1197864" y="334670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The program uses retries and JSON parsing because LLM outputs may be imperfect.</a:t>
            </a:r>
          </a:p>
        </p:txBody>
      </p:sp>
      <p:sp>
        <p:nvSpPr>
          <p:cNvPr id="16" name="Text 14">
            <a:extLst>
              <a:ext uri="{FF2B5EF4-FFF2-40B4-BE49-F238E27FC236}">
                <a16:creationId xmlns:a16="http://schemas.microsoft.com/office/drawing/2014/main" xmlns="" id="{A83FDDCF-4861-4B03-9415-95829B4170D9}"/>
              </a:ext>
            </a:extLst>
          </p:cNvPr>
          <p:cNvSpPr>
            <a:spLocks noGrp="1"/>
          </p:cNvSpPr>
          <p:nvPr/>
        </p:nvSpPr>
        <p:spPr>
          <a:xfrm>
            <a:off x="1097280" y="507492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000" b="1">
                <a:solidFill>
                  <a:srgbClr val="1F2937"/>
                </a:solidFill>
              </a:rPr>
              <a:t>Phase 1 is where the program is closest to the original transcript.</a:t>
            </a:r>
          </a:p>
        </p:txBody>
      </p:sp>
    </p:spTree>
    <p:extLst>
      <p:ext uri="{BB962C8B-B14F-4D97-AF65-F5344CB8AC3E}">
        <p14:creationId xmlns:p14="http://schemas.microsoft.com/office/powerpoint/2010/main" val="6874924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33039188-19AF-4DA3-BEDB-5AB9A2A0DE72}"/>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7258F323-E3F4-418E-B0B2-645A649C12F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D3FE9730-2474-4EB8-895F-1DB7C862EE7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31A13772-AC3B-4C07-A562-B69CD53B684F}"/>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CA4B61AC-7B7A-4079-AD19-7E7E8ED5A62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Phase 2 — inventory</a:t>
            </a:r>
          </a:p>
        </p:txBody>
      </p:sp>
      <p:sp>
        <p:nvSpPr>
          <p:cNvPr id="7" name="Text 5">
            <a:extLst>
              <a:ext uri="{FF2B5EF4-FFF2-40B4-BE49-F238E27FC236}">
                <a16:creationId xmlns:a16="http://schemas.microsoft.com/office/drawing/2014/main" xmlns="" id="{0D308E39-4541-4DBC-8B65-4FE4C7205EA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program gathers all per-speech summaries into one master inventory.</a:t>
            </a:r>
          </a:p>
        </p:txBody>
      </p:sp>
      <p:sp>
        <p:nvSpPr>
          <p:cNvPr id="8" name="Text 6">
            <a:extLst>
              <a:ext uri="{FF2B5EF4-FFF2-40B4-BE49-F238E27FC236}">
                <a16:creationId xmlns:a16="http://schemas.microsoft.com/office/drawing/2014/main" xmlns="" id="{2FB97153-55B1-4471-AEE4-AE9ABF5C7CFC}"/>
              </a:ext>
            </a:extLst>
          </p:cNvPr>
          <p:cNvSpPr>
            <a:spLocks noGrp="1"/>
          </p:cNvSpPr>
          <p:nvPr/>
        </p:nvSpPr>
        <p:spPr>
          <a:xfrm>
            <a:off x="914400" y="1874520"/>
            <a:ext cx="2286000" cy="5029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500" b="1">
                <a:solidFill>
                  <a:srgbClr val="1F2937"/>
                </a:solidFill>
              </a:rPr>
              <a:t>summary_001.json</a:t>
            </a:r>
          </a:p>
        </p:txBody>
      </p:sp>
      <p:sp>
        <p:nvSpPr>
          <p:cNvPr id="9" name="Text 7">
            <a:extLst>
              <a:ext uri="{FF2B5EF4-FFF2-40B4-BE49-F238E27FC236}">
                <a16:creationId xmlns:a16="http://schemas.microsoft.com/office/drawing/2014/main" xmlns="" id="{AE633D03-9B11-4868-AB76-6E499D5B1D7E}"/>
              </a:ext>
            </a:extLst>
          </p:cNvPr>
          <p:cNvSpPr>
            <a:spLocks noGrp="1"/>
          </p:cNvSpPr>
          <p:nvPr/>
        </p:nvSpPr>
        <p:spPr>
          <a:xfrm>
            <a:off x="914400" y="2514600"/>
            <a:ext cx="2286000" cy="5029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500" b="1">
                <a:solidFill>
                  <a:srgbClr val="1F2937"/>
                </a:solidFill>
              </a:rPr>
              <a:t>summary_002.json</a:t>
            </a:r>
          </a:p>
        </p:txBody>
      </p:sp>
      <p:sp>
        <p:nvSpPr>
          <p:cNvPr id="10" name="Text 8">
            <a:extLst>
              <a:ext uri="{FF2B5EF4-FFF2-40B4-BE49-F238E27FC236}">
                <a16:creationId xmlns:a16="http://schemas.microsoft.com/office/drawing/2014/main" xmlns="" id="{ABE8A9C2-DABA-4305-9AA9-64CC6AB429AD}"/>
              </a:ext>
            </a:extLst>
          </p:cNvPr>
          <p:cNvSpPr>
            <a:spLocks noGrp="1"/>
          </p:cNvSpPr>
          <p:nvPr/>
        </p:nvSpPr>
        <p:spPr>
          <a:xfrm>
            <a:off x="914400" y="3154680"/>
            <a:ext cx="2286000" cy="5029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500" b="1">
                <a:solidFill>
                  <a:srgbClr val="1F2937"/>
                </a:solidFill>
              </a:rPr>
              <a:t>summary_003.json</a:t>
            </a:r>
          </a:p>
        </p:txBody>
      </p:sp>
      <p:sp>
        <p:nvSpPr>
          <p:cNvPr id="11" name="Shape 9">
            <a:extLst>
              <a:ext uri="{FF2B5EF4-FFF2-40B4-BE49-F238E27FC236}">
                <a16:creationId xmlns:a16="http://schemas.microsoft.com/office/drawing/2014/main" xmlns="" id="{C0FF229E-2E6A-4BDF-ABDF-45C05501EE45}"/>
              </a:ext>
            </a:extLst>
          </p:cNvPr>
          <p:cNvSpPr>
            <a:spLocks noGrp="1"/>
          </p:cNvSpPr>
          <p:nvPr/>
        </p:nvSpPr>
        <p:spPr>
          <a:xfrm>
            <a:off x="3429000" y="2788920"/>
            <a:ext cx="173736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9299E3C5-5BAE-4792-B801-E5216660395B}"/>
              </a:ext>
            </a:extLst>
          </p:cNvPr>
          <p:cNvSpPr>
            <a:spLocks noGrp="1"/>
          </p:cNvSpPr>
          <p:nvPr/>
        </p:nvSpPr>
        <p:spPr>
          <a:xfrm>
            <a:off x="5349240" y="2240280"/>
            <a:ext cx="4114800" cy="109728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2100" b="1">
                <a:solidFill>
                  <a:srgbClr val="1F2937"/>
                </a:solidFill>
              </a:rPr>
              <a:t>master_inventory.json</a:t>
            </a:r>
          </a:p>
          <a:p>
            <a:pPr marL="0" indent="0" algn="ctr">
              <a:buNone/>
            </a:pPr>
            <a:r>
              <a:rPr sz="2100" b="1">
                <a:solidFill>
                  <a:srgbClr val="1F2937"/>
                </a:solidFill>
              </a:rPr>
              <a:t>All speech summaries together</a:t>
            </a:r>
          </a:p>
        </p:txBody>
      </p:sp>
      <p:sp>
        <p:nvSpPr>
          <p:cNvPr id="13" name="Text 11">
            <a:extLst>
              <a:ext uri="{FF2B5EF4-FFF2-40B4-BE49-F238E27FC236}">
                <a16:creationId xmlns:a16="http://schemas.microsoft.com/office/drawing/2014/main" xmlns="" id="{83AB3F9D-3F83-4B01-AED7-DF0B646F072D}"/>
              </a:ext>
            </a:extLst>
          </p:cNvPr>
          <p:cNvSpPr>
            <a:spLocks noGrp="1"/>
          </p:cNvSpPr>
          <p:nvPr/>
        </p:nvSpPr>
        <p:spPr>
          <a:xfrm>
            <a:off x="914400" y="46085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7822BC28-789B-49BB-BAB0-77F61967A34E}"/>
              </a:ext>
            </a:extLst>
          </p:cNvPr>
          <p:cNvSpPr>
            <a:spLocks noGrp="1"/>
          </p:cNvSpPr>
          <p:nvPr/>
        </p:nvSpPr>
        <p:spPr>
          <a:xfrm>
            <a:off x="1243584" y="457200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This is an aggregation step: collect the pieces into one file.</a:t>
            </a:r>
          </a:p>
        </p:txBody>
      </p:sp>
      <p:sp>
        <p:nvSpPr>
          <p:cNvPr id="15" name="Text 13">
            <a:extLst>
              <a:ext uri="{FF2B5EF4-FFF2-40B4-BE49-F238E27FC236}">
                <a16:creationId xmlns:a16="http://schemas.microsoft.com/office/drawing/2014/main" xmlns="" id="{889FBBE7-FB22-43EF-A2B2-728627C1F770}"/>
              </a:ext>
            </a:extLst>
          </p:cNvPr>
          <p:cNvSpPr>
            <a:spLocks noGrp="1"/>
          </p:cNvSpPr>
          <p:nvPr/>
        </p:nvSpPr>
        <p:spPr>
          <a:xfrm>
            <a:off x="914400" y="51480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6" name="Text 14">
            <a:extLst>
              <a:ext uri="{FF2B5EF4-FFF2-40B4-BE49-F238E27FC236}">
                <a16:creationId xmlns:a16="http://schemas.microsoft.com/office/drawing/2014/main" xmlns="" id="{F49FDCDD-5BBC-475D-8B85-C3B23A43AAC6}"/>
              </a:ext>
            </a:extLst>
          </p:cNvPr>
          <p:cNvSpPr>
            <a:spLocks noGrp="1"/>
          </p:cNvSpPr>
          <p:nvPr/>
        </p:nvSpPr>
        <p:spPr>
          <a:xfrm>
            <a:off x="1243584" y="511149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It prepares the corpus for clustering and deduplication in Phase 3.</a:t>
            </a:r>
          </a:p>
        </p:txBody>
      </p:sp>
    </p:spTree>
    <p:extLst>
      <p:ext uri="{BB962C8B-B14F-4D97-AF65-F5344CB8AC3E}">
        <p14:creationId xmlns:p14="http://schemas.microsoft.com/office/powerpoint/2010/main" val="17740304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46DA78E-66BF-457C-ADEE-DC41A42FE24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4457B0A6-8568-487A-A3F3-2880BAC96BAA}"/>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88FAF01A-AA66-4951-B2FB-C3855816B5D6}"/>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EF7984E-CD59-4C1E-84C3-546935974CB4}"/>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09CC46F7-5969-42A8-B9DD-30A11439549D}"/>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Phase 3 — consolidate</a:t>
            </a:r>
          </a:p>
        </p:txBody>
      </p:sp>
      <p:sp>
        <p:nvSpPr>
          <p:cNvPr id="7" name="Text 5">
            <a:extLst>
              <a:ext uri="{FF2B5EF4-FFF2-40B4-BE49-F238E27FC236}">
                <a16:creationId xmlns:a16="http://schemas.microsoft.com/office/drawing/2014/main" xmlns="" id="{E0BEE2D4-5C27-40E8-AD1C-90CF38C87B09}"/>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This is where repeated ideas are merged into canonical ideas.</a:t>
            </a:r>
          </a:p>
        </p:txBody>
      </p:sp>
      <p:sp>
        <p:nvSpPr>
          <p:cNvPr id="8" name="Text 6">
            <a:extLst>
              <a:ext uri="{FF2B5EF4-FFF2-40B4-BE49-F238E27FC236}">
                <a16:creationId xmlns:a16="http://schemas.microsoft.com/office/drawing/2014/main" xmlns="" id="{A45F964C-93A0-4236-B3D2-B5385BF6BECE}"/>
              </a:ext>
            </a:extLst>
          </p:cNvPr>
          <p:cNvSpPr>
            <a:spLocks noGrp="1"/>
          </p:cNvSpPr>
          <p:nvPr/>
        </p:nvSpPr>
        <p:spPr>
          <a:xfrm>
            <a:off x="868680" y="16367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F6A507C9-19FA-498D-A8B3-5C4A81F242C9}"/>
              </a:ext>
            </a:extLst>
          </p:cNvPr>
          <p:cNvSpPr>
            <a:spLocks noGrp="1"/>
          </p:cNvSpPr>
          <p:nvPr/>
        </p:nvSpPr>
        <p:spPr>
          <a:xfrm>
            <a:off x="1197864" y="1600200"/>
            <a:ext cx="10186416" cy="429768"/>
          </a:xfrm>
          <a:prstGeom prst="rect">
            <a:avLst/>
          </a:prstGeom>
          <a:noFill/>
        </p:spPr>
        <p:txBody>
          <a:bodyPr wrap="square" lIns="254" tIns="254" rIns="254" bIns="254" anchor="ctr">
            <a:normAutofit/>
          </a:bodyPr>
          <a:lstStyle/>
          <a:p>
            <a:pPr marL="0" indent="0">
              <a:buNone/>
            </a:pPr>
            <a:r>
              <a:rPr sz="2000">
                <a:solidFill>
                  <a:srgbClr val="1F2937"/>
                </a:solidFill>
              </a:rPr>
              <a:t>Discover canonical Central Claims and canonical Themes.</a:t>
            </a:r>
          </a:p>
        </p:txBody>
      </p:sp>
      <p:sp>
        <p:nvSpPr>
          <p:cNvPr id="10" name="Text 8">
            <a:extLst>
              <a:ext uri="{FF2B5EF4-FFF2-40B4-BE49-F238E27FC236}">
                <a16:creationId xmlns:a16="http://schemas.microsoft.com/office/drawing/2014/main" xmlns="" id="{09A9D6ED-F7FB-4473-A739-CF972A01CDDC}"/>
              </a:ext>
            </a:extLst>
          </p:cNvPr>
          <p:cNvSpPr>
            <a:spLocks noGrp="1"/>
          </p:cNvSpPr>
          <p:nvPr/>
        </p:nvSpPr>
        <p:spPr>
          <a:xfrm>
            <a:off x="868680" y="219456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B16BD7D7-6FDC-475D-B65C-58EAA4A35C7E}"/>
              </a:ext>
            </a:extLst>
          </p:cNvPr>
          <p:cNvSpPr>
            <a:spLocks noGrp="1"/>
          </p:cNvSpPr>
          <p:nvPr/>
        </p:nvSpPr>
        <p:spPr>
          <a:xfrm>
            <a:off x="1197864" y="2157984"/>
            <a:ext cx="10186416" cy="429768"/>
          </a:xfrm>
          <a:prstGeom prst="rect">
            <a:avLst/>
          </a:prstGeom>
          <a:noFill/>
        </p:spPr>
        <p:txBody>
          <a:bodyPr wrap="square" lIns="254" tIns="254" rIns="254" bIns="254" anchor="ctr">
            <a:normAutofit/>
          </a:bodyPr>
          <a:lstStyle/>
          <a:p>
            <a:pPr marL="0" indent="0">
              <a:buNone/>
            </a:pPr>
            <a:r>
              <a:rPr sz="2000">
                <a:solidFill>
                  <a:srgbClr val="1F2937"/>
                </a:solidFill>
              </a:rPr>
              <a:t>Normalize and merge duplicates or near-duplicates.</a:t>
            </a:r>
          </a:p>
        </p:txBody>
      </p:sp>
      <p:sp>
        <p:nvSpPr>
          <p:cNvPr id="12" name="Text 10">
            <a:extLst>
              <a:ext uri="{FF2B5EF4-FFF2-40B4-BE49-F238E27FC236}">
                <a16:creationId xmlns:a16="http://schemas.microsoft.com/office/drawing/2014/main" xmlns="" id="{D33815AB-73B9-46EA-AD21-F59D7C4C2A55}"/>
              </a:ext>
            </a:extLst>
          </p:cNvPr>
          <p:cNvSpPr>
            <a:spLocks noGrp="1"/>
          </p:cNvSpPr>
          <p:nvPr/>
        </p:nvSpPr>
        <p:spPr>
          <a:xfrm>
            <a:off x="868680" y="275234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9D57972D-4A84-46FD-9C1C-57D1B7D9294D}"/>
              </a:ext>
            </a:extLst>
          </p:cNvPr>
          <p:cNvSpPr>
            <a:spLocks noGrp="1"/>
          </p:cNvSpPr>
          <p:nvPr/>
        </p:nvSpPr>
        <p:spPr>
          <a:xfrm>
            <a:off x="1197864" y="2715768"/>
            <a:ext cx="10186416" cy="429768"/>
          </a:xfrm>
          <a:prstGeom prst="rect">
            <a:avLst/>
          </a:prstGeom>
          <a:noFill/>
        </p:spPr>
        <p:txBody>
          <a:bodyPr wrap="square" lIns="254" tIns="254" rIns="254" bIns="254" anchor="ctr">
            <a:normAutofit/>
          </a:bodyPr>
          <a:lstStyle/>
          <a:p>
            <a:pPr marL="0" indent="0">
              <a:buNone/>
            </a:pPr>
            <a:r>
              <a:rPr sz="2000">
                <a:solidFill>
                  <a:srgbClr val="1F2937"/>
                </a:solidFill>
              </a:rPr>
              <a:t>Classify each speech under one canonical Central Claim and one to three canonical Themes.</a:t>
            </a:r>
          </a:p>
        </p:txBody>
      </p:sp>
      <p:sp>
        <p:nvSpPr>
          <p:cNvPr id="14" name="Text 12">
            <a:extLst>
              <a:ext uri="{FF2B5EF4-FFF2-40B4-BE49-F238E27FC236}">
                <a16:creationId xmlns:a16="http://schemas.microsoft.com/office/drawing/2014/main" xmlns="" id="{DAA294DC-B4CF-4C69-8D7B-31E4FDEA31BF}"/>
              </a:ext>
            </a:extLst>
          </p:cNvPr>
          <p:cNvSpPr>
            <a:spLocks noGrp="1"/>
          </p:cNvSpPr>
          <p:nvPr/>
        </p:nvSpPr>
        <p:spPr>
          <a:xfrm>
            <a:off x="868680" y="331012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05F29DD2-03DE-4291-BFF7-AB6547D1E7EE}"/>
              </a:ext>
            </a:extLst>
          </p:cNvPr>
          <p:cNvSpPr>
            <a:spLocks noGrp="1"/>
          </p:cNvSpPr>
          <p:nvPr/>
        </p:nvSpPr>
        <p:spPr>
          <a:xfrm>
            <a:off x="1197864" y="3273552"/>
            <a:ext cx="10186416" cy="429768"/>
          </a:xfrm>
          <a:prstGeom prst="rect">
            <a:avLst/>
          </a:prstGeom>
          <a:noFill/>
        </p:spPr>
        <p:txBody>
          <a:bodyPr wrap="square" lIns="254" tIns="254" rIns="254" bIns="254" anchor="ctr">
            <a:normAutofit/>
          </a:bodyPr>
          <a:lstStyle/>
          <a:p>
            <a:pPr marL="0" indent="0">
              <a:buNone/>
            </a:pPr>
            <a:r>
              <a:rPr sz="2000">
                <a:solidFill>
                  <a:srgbClr val="1F2937"/>
                </a:solidFill>
              </a:rPr>
              <a:t>Store the result in canonical.json.</a:t>
            </a:r>
          </a:p>
        </p:txBody>
      </p:sp>
      <p:sp>
        <p:nvSpPr>
          <p:cNvPr id="16" name="Text 14">
            <a:extLst>
              <a:ext uri="{FF2B5EF4-FFF2-40B4-BE49-F238E27FC236}">
                <a16:creationId xmlns:a16="http://schemas.microsoft.com/office/drawing/2014/main" xmlns="" id="{1FD1D071-965C-43A1-88A8-5992F2AD645D}"/>
              </a:ext>
            </a:extLst>
          </p:cNvPr>
          <p:cNvSpPr>
            <a:spLocks noGrp="1"/>
          </p:cNvSpPr>
          <p:nvPr/>
        </p:nvSpPr>
        <p:spPr>
          <a:xfrm>
            <a:off x="1097280" y="4709160"/>
            <a:ext cx="9966960" cy="658368"/>
          </a:xfrm>
          <a:prstGeom prst="rect">
            <a:avLst/>
          </a:prstGeom>
          <a:solidFill>
            <a:srgbClr val="EEEAFE"/>
          </a:solidFill>
          <a:ln w="15240">
            <a:solidFill>
              <a:srgbClr val="40319B"/>
            </a:solidFill>
          </a:ln>
        </p:spPr>
        <p:txBody>
          <a:bodyPr wrap="square" lIns="1778" tIns="1778" rIns="1778" bIns="1778" anchor="ctr">
            <a:normAutofit/>
          </a:bodyPr>
          <a:lstStyle/>
          <a:p>
            <a:pPr marL="0" indent="0">
              <a:buNone/>
            </a:pPr>
            <a:r>
              <a:rPr sz="2100" b="1">
                <a:solidFill>
                  <a:srgbClr val="1F2937"/>
                </a:solidFill>
              </a:rPr>
              <a:t>Canonical means normalized and deduplicated across the whole corpus.</a:t>
            </a:r>
          </a:p>
        </p:txBody>
      </p:sp>
    </p:spTree>
    <p:extLst>
      <p:ext uri="{BB962C8B-B14F-4D97-AF65-F5344CB8AC3E}">
        <p14:creationId xmlns:p14="http://schemas.microsoft.com/office/powerpoint/2010/main" val="303397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190FBDB2-735B-4A23-97E8-27AE875166A6}"/>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B4704887-7279-47F6-9CCF-FB2DE8676962}"/>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73E816B8-93A9-4D76-9B53-B7C5C9B3E50D}"/>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D2520BC4-C3A2-4B46-A52D-55E633CF8336}"/>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ABA42080-4888-4DE4-B6AC-A28834016E3C}"/>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What canonical.json contains</a:t>
            </a:r>
          </a:p>
        </p:txBody>
      </p:sp>
      <p:sp>
        <p:nvSpPr>
          <p:cNvPr id="7" name="Text 5">
            <a:extLst>
              <a:ext uri="{FF2B5EF4-FFF2-40B4-BE49-F238E27FC236}">
                <a16:creationId xmlns:a16="http://schemas.microsoft.com/office/drawing/2014/main" xmlns="" id="{CFAD7DAD-23DC-46AD-83BD-31BBC4C02E2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canonical.json is the main checkpoint after Phase 3.</a:t>
            </a:r>
          </a:p>
        </p:txBody>
      </p:sp>
      <p:sp>
        <p:nvSpPr>
          <p:cNvPr id="8" name="Text 6">
            <a:extLst>
              <a:ext uri="{FF2B5EF4-FFF2-40B4-BE49-F238E27FC236}">
                <a16:creationId xmlns:a16="http://schemas.microsoft.com/office/drawing/2014/main" xmlns="" id="{1C199394-5BFA-4D63-95F6-94DD5BB67A3A}"/>
              </a:ext>
            </a:extLst>
          </p:cNvPr>
          <p:cNvSpPr>
            <a:spLocks noGrp="1"/>
          </p:cNvSpPr>
          <p:nvPr/>
        </p:nvSpPr>
        <p:spPr>
          <a:xfrm>
            <a:off x="960120" y="1783080"/>
            <a:ext cx="3657600" cy="562356"/>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770" b="1">
                <a:solidFill>
                  <a:srgbClr val="1F2937"/>
                </a:solidFill>
              </a:rPr>
              <a:t>Top-level key</a:t>
            </a:r>
          </a:p>
        </p:txBody>
      </p:sp>
      <p:sp>
        <p:nvSpPr>
          <p:cNvPr id="9" name="Text 7">
            <a:extLst>
              <a:ext uri="{FF2B5EF4-FFF2-40B4-BE49-F238E27FC236}">
                <a16:creationId xmlns:a16="http://schemas.microsoft.com/office/drawing/2014/main" xmlns="" id="{BFFF8938-8492-42D0-8983-5CB9B334C52B}"/>
              </a:ext>
            </a:extLst>
          </p:cNvPr>
          <p:cNvSpPr>
            <a:spLocks noGrp="1"/>
          </p:cNvSpPr>
          <p:nvPr/>
        </p:nvSpPr>
        <p:spPr>
          <a:xfrm>
            <a:off x="4617720" y="1783080"/>
            <a:ext cx="6583680" cy="562356"/>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770" b="1">
                <a:solidFill>
                  <a:srgbClr val="1F2937"/>
                </a:solidFill>
              </a:rPr>
              <a:t>Plain meaning</a:t>
            </a:r>
          </a:p>
        </p:txBody>
      </p:sp>
      <p:sp>
        <p:nvSpPr>
          <p:cNvPr id="10" name="Text 8">
            <a:extLst>
              <a:ext uri="{FF2B5EF4-FFF2-40B4-BE49-F238E27FC236}">
                <a16:creationId xmlns:a16="http://schemas.microsoft.com/office/drawing/2014/main" xmlns="" id="{674945F3-57D5-4628-9020-2B6348E691E6}"/>
              </a:ext>
            </a:extLst>
          </p:cNvPr>
          <p:cNvSpPr>
            <a:spLocks noGrp="1"/>
          </p:cNvSpPr>
          <p:nvPr/>
        </p:nvSpPr>
        <p:spPr>
          <a:xfrm>
            <a:off x="960120" y="2359152"/>
            <a:ext cx="365760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canonical_central_claims</a:t>
            </a:r>
          </a:p>
        </p:txBody>
      </p:sp>
      <p:sp>
        <p:nvSpPr>
          <p:cNvPr id="11" name="Text 9">
            <a:extLst>
              <a:ext uri="{FF2B5EF4-FFF2-40B4-BE49-F238E27FC236}">
                <a16:creationId xmlns:a16="http://schemas.microsoft.com/office/drawing/2014/main" xmlns="" id="{8B53F211-518F-4729-8205-58FD672D8EBC}"/>
              </a:ext>
            </a:extLst>
          </p:cNvPr>
          <p:cNvSpPr>
            <a:spLocks noGrp="1"/>
          </p:cNvSpPr>
          <p:nvPr/>
        </p:nvSpPr>
        <p:spPr>
          <a:xfrm>
            <a:off x="4617720" y="2359152"/>
            <a:ext cx="65836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The deduplicated chapter-level theses</a:t>
            </a:r>
          </a:p>
        </p:txBody>
      </p:sp>
      <p:sp>
        <p:nvSpPr>
          <p:cNvPr id="12" name="Text 10">
            <a:extLst>
              <a:ext uri="{FF2B5EF4-FFF2-40B4-BE49-F238E27FC236}">
                <a16:creationId xmlns:a16="http://schemas.microsoft.com/office/drawing/2014/main" xmlns="" id="{6333C104-F9C5-4290-8035-33036D1DB6ED}"/>
              </a:ext>
            </a:extLst>
          </p:cNvPr>
          <p:cNvSpPr>
            <a:spLocks noGrp="1"/>
          </p:cNvSpPr>
          <p:nvPr/>
        </p:nvSpPr>
        <p:spPr>
          <a:xfrm>
            <a:off x="960120" y="2935224"/>
            <a:ext cx="365760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canonical_themes</a:t>
            </a:r>
          </a:p>
        </p:txBody>
      </p:sp>
      <p:sp>
        <p:nvSpPr>
          <p:cNvPr id="13" name="Text 11">
            <a:extLst>
              <a:ext uri="{FF2B5EF4-FFF2-40B4-BE49-F238E27FC236}">
                <a16:creationId xmlns:a16="http://schemas.microsoft.com/office/drawing/2014/main" xmlns="" id="{81A375F7-51FF-49FB-94AE-F3A28DDD9E7A}"/>
              </a:ext>
            </a:extLst>
          </p:cNvPr>
          <p:cNvSpPr>
            <a:spLocks noGrp="1"/>
          </p:cNvSpPr>
          <p:nvPr/>
        </p:nvSpPr>
        <p:spPr>
          <a:xfrm>
            <a:off x="4617720" y="2935224"/>
            <a:ext cx="65836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The deduplicated themes that may cross chapters</a:t>
            </a:r>
          </a:p>
        </p:txBody>
      </p:sp>
      <p:sp>
        <p:nvSpPr>
          <p:cNvPr id="14" name="Text 12">
            <a:extLst>
              <a:ext uri="{FF2B5EF4-FFF2-40B4-BE49-F238E27FC236}">
                <a16:creationId xmlns:a16="http://schemas.microsoft.com/office/drawing/2014/main" xmlns="" id="{8DEA2D6B-2344-40AE-9C15-7E9CE6709273}"/>
              </a:ext>
            </a:extLst>
          </p:cNvPr>
          <p:cNvSpPr>
            <a:spLocks noGrp="1"/>
          </p:cNvSpPr>
          <p:nvPr/>
        </p:nvSpPr>
        <p:spPr>
          <a:xfrm>
            <a:off x="960120" y="3511296"/>
            <a:ext cx="365760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classifications</a:t>
            </a:r>
          </a:p>
        </p:txBody>
      </p:sp>
      <p:sp>
        <p:nvSpPr>
          <p:cNvPr id="15" name="Text 13">
            <a:extLst>
              <a:ext uri="{FF2B5EF4-FFF2-40B4-BE49-F238E27FC236}">
                <a16:creationId xmlns:a16="http://schemas.microsoft.com/office/drawing/2014/main" xmlns="" id="{F871A8E7-B15D-4E51-B525-C65A5A83A96F}"/>
              </a:ext>
            </a:extLst>
          </p:cNvPr>
          <p:cNvSpPr>
            <a:spLocks noGrp="1"/>
          </p:cNvSpPr>
          <p:nvPr/>
        </p:nvSpPr>
        <p:spPr>
          <a:xfrm>
            <a:off x="4617720" y="3511296"/>
            <a:ext cx="6583680" cy="562356"/>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The assignment of each speech to a CC and theme IDs</a:t>
            </a:r>
          </a:p>
        </p:txBody>
      </p:sp>
      <p:sp>
        <p:nvSpPr>
          <p:cNvPr id="16" name="Text 14">
            <a:extLst>
              <a:ext uri="{FF2B5EF4-FFF2-40B4-BE49-F238E27FC236}">
                <a16:creationId xmlns:a16="http://schemas.microsoft.com/office/drawing/2014/main" xmlns="" id="{DA2CE9BB-63A2-462A-A22A-905E17F4E829}"/>
              </a:ext>
            </a:extLst>
          </p:cNvPr>
          <p:cNvSpPr>
            <a:spLocks noGrp="1"/>
          </p:cNvSpPr>
          <p:nvPr/>
        </p:nvSpPr>
        <p:spPr>
          <a:xfrm>
            <a:off x="1097280" y="466344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000" b="1">
                <a:solidFill>
                  <a:srgbClr val="1F2937"/>
                </a:solidFill>
              </a:rPr>
              <a:t>This file lets later phases work from stable IDs such as CC1, CC2, T1, and T2.</a:t>
            </a:r>
          </a:p>
        </p:txBody>
      </p:sp>
    </p:spTree>
    <p:extLst>
      <p:ext uri="{BB962C8B-B14F-4D97-AF65-F5344CB8AC3E}">
        <p14:creationId xmlns:p14="http://schemas.microsoft.com/office/powerpoint/2010/main" val="18289088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90C2D644-A065-405D-908F-67B3D8DAF80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5E6BC1F1-94AE-48FB-89E2-E7921F83E46E}"/>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F44E7B34-1B40-4FBC-8C7E-18774D123644}"/>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9C743205-5558-4219-9D83-513026F094B6}"/>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F441A580-CF54-4176-8A53-EE013706D28E}"/>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Phase 4 — remap</a:t>
            </a:r>
          </a:p>
        </p:txBody>
      </p:sp>
      <p:sp>
        <p:nvSpPr>
          <p:cNvPr id="7" name="Text 5">
            <a:extLst>
              <a:ext uri="{FF2B5EF4-FFF2-40B4-BE49-F238E27FC236}">
                <a16:creationId xmlns:a16="http://schemas.microsoft.com/office/drawing/2014/main" xmlns="" id="{F5BBC818-F08E-4615-8C2F-FCA2D164AAB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Each speech summary is rewritten using the canonical labels.</a:t>
            </a:r>
          </a:p>
        </p:txBody>
      </p:sp>
      <p:sp>
        <p:nvSpPr>
          <p:cNvPr id="8" name="Text 6">
            <a:extLst>
              <a:ext uri="{FF2B5EF4-FFF2-40B4-BE49-F238E27FC236}">
                <a16:creationId xmlns:a16="http://schemas.microsoft.com/office/drawing/2014/main" xmlns="" id="{F5152038-E437-4143-9FEF-D3C9E2C45394}"/>
              </a:ext>
            </a:extLst>
          </p:cNvPr>
          <p:cNvSpPr>
            <a:spLocks noGrp="1"/>
          </p:cNvSpPr>
          <p:nvPr/>
        </p:nvSpPr>
        <p:spPr>
          <a:xfrm>
            <a:off x="868680" y="2011680"/>
            <a:ext cx="3474720" cy="91440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800" b="1">
                <a:solidFill>
                  <a:srgbClr val="1F2937"/>
                </a:solidFill>
              </a:rPr>
              <a:t>Original speech summary</a:t>
            </a:r>
          </a:p>
          <a:p>
            <a:pPr marL="0" indent="0" algn="ctr">
              <a:buNone/>
            </a:pPr>
            <a:r>
              <a:rPr sz="1800" b="1">
                <a:solidFill>
                  <a:srgbClr val="1F2937"/>
                </a:solidFill>
              </a:rPr>
              <a:t>Local claim and local themes</a:t>
            </a:r>
          </a:p>
        </p:txBody>
      </p:sp>
      <p:sp>
        <p:nvSpPr>
          <p:cNvPr id="9" name="Shape 7">
            <a:extLst>
              <a:ext uri="{FF2B5EF4-FFF2-40B4-BE49-F238E27FC236}">
                <a16:creationId xmlns:a16="http://schemas.microsoft.com/office/drawing/2014/main" xmlns="" id="{6582BD12-A53F-42CD-BCFA-6FADE2DBCC54}"/>
              </a:ext>
            </a:extLst>
          </p:cNvPr>
          <p:cNvSpPr>
            <a:spLocks noGrp="1"/>
          </p:cNvSpPr>
          <p:nvPr/>
        </p:nvSpPr>
        <p:spPr>
          <a:xfrm>
            <a:off x="4526280" y="2468880"/>
            <a:ext cx="86868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412CDA19-3203-46CD-BF6D-C5F98189680F}"/>
              </a:ext>
            </a:extLst>
          </p:cNvPr>
          <p:cNvSpPr>
            <a:spLocks noGrp="1"/>
          </p:cNvSpPr>
          <p:nvPr/>
        </p:nvSpPr>
        <p:spPr>
          <a:xfrm>
            <a:off x="5577840" y="2011680"/>
            <a:ext cx="2834640" cy="91440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800" b="1">
                <a:solidFill>
                  <a:srgbClr val="1F2937"/>
                </a:solidFill>
              </a:rPr>
              <a:t>canonical.json</a:t>
            </a:r>
          </a:p>
          <a:p>
            <a:pPr marL="0" indent="0" algn="ctr">
              <a:buNone/>
            </a:pPr>
            <a:r>
              <a:rPr sz="1800" b="1">
                <a:solidFill>
                  <a:srgbClr val="1F2937"/>
                </a:solidFill>
              </a:rPr>
              <a:t>Official CC and Theme IDs</a:t>
            </a:r>
          </a:p>
        </p:txBody>
      </p:sp>
      <p:sp>
        <p:nvSpPr>
          <p:cNvPr id="11" name="Shape 9">
            <a:extLst>
              <a:ext uri="{FF2B5EF4-FFF2-40B4-BE49-F238E27FC236}">
                <a16:creationId xmlns:a16="http://schemas.microsoft.com/office/drawing/2014/main" xmlns="" id="{77A2796B-6AD5-4EB6-A942-B820067A2ADC}"/>
              </a:ext>
            </a:extLst>
          </p:cNvPr>
          <p:cNvSpPr>
            <a:spLocks noGrp="1"/>
          </p:cNvSpPr>
          <p:nvPr/>
        </p:nvSpPr>
        <p:spPr>
          <a:xfrm>
            <a:off x="8595360" y="2468880"/>
            <a:ext cx="82296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DDDCBFB0-0013-482F-9F92-2362DED92BA8}"/>
              </a:ext>
            </a:extLst>
          </p:cNvPr>
          <p:cNvSpPr>
            <a:spLocks noGrp="1"/>
          </p:cNvSpPr>
          <p:nvPr/>
        </p:nvSpPr>
        <p:spPr>
          <a:xfrm>
            <a:off x="9601200" y="2011680"/>
            <a:ext cx="1737360" cy="91440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600" b="1">
                <a:solidFill>
                  <a:srgbClr val="1F2937"/>
                </a:solidFill>
              </a:rPr>
              <a:t>Remapped file</a:t>
            </a:r>
          </a:p>
          <a:p>
            <a:pPr marL="0" indent="0" algn="ctr">
              <a:buNone/>
            </a:pPr>
            <a:r>
              <a:rPr sz="1600" b="1">
                <a:solidFill>
                  <a:srgbClr val="1F2937"/>
                </a:solidFill>
              </a:rPr>
              <a:t>One .md per speech</a:t>
            </a:r>
          </a:p>
        </p:txBody>
      </p:sp>
      <p:sp>
        <p:nvSpPr>
          <p:cNvPr id="13" name="Text 11">
            <a:extLst>
              <a:ext uri="{FF2B5EF4-FFF2-40B4-BE49-F238E27FC236}">
                <a16:creationId xmlns:a16="http://schemas.microsoft.com/office/drawing/2014/main" xmlns="" id="{6788BC9F-2B0B-4F40-B278-C0830347E272}"/>
              </a:ext>
            </a:extLst>
          </p:cNvPr>
          <p:cNvSpPr>
            <a:spLocks noGrp="1"/>
          </p:cNvSpPr>
          <p:nvPr/>
        </p:nvSpPr>
        <p:spPr>
          <a:xfrm>
            <a:off x="1097280" y="4160520"/>
            <a:ext cx="9875520" cy="658368"/>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Phase 4 makes all speech summaries speak the same “label language.”</a:t>
            </a:r>
          </a:p>
        </p:txBody>
      </p:sp>
    </p:spTree>
    <p:extLst>
      <p:ext uri="{BB962C8B-B14F-4D97-AF65-F5344CB8AC3E}">
        <p14:creationId xmlns:p14="http://schemas.microsoft.com/office/powerpoint/2010/main" val="19084382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D1F251A-E75D-4D09-89BB-5960710BF65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F1544A1-14FB-414F-AE62-861307918346}"/>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27275192-025D-49DC-9943-FFCCD98C788F}"/>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95045B04-D3F4-4EC1-8776-4EA418CBAF5D}"/>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C49E060F-534D-45F7-9689-416B85D8986C}"/>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Phase 5 — assemble</a:t>
            </a:r>
          </a:p>
        </p:txBody>
      </p:sp>
      <p:sp>
        <p:nvSpPr>
          <p:cNvPr id="7" name="Text 5">
            <a:extLst>
              <a:ext uri="{FF2B5EF4-FFF2-40B4-BE49-F238E27FC236}">
                <a16:creationId xmlns:a16="http://schemas.microsoft.com/office/drawing/2014/main" xmlns="" id="{7610CE0C-FE92-4D05-87D4-74C08350374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final phase writes the finished compendium and claims list.</a:t>
            </a:r>
          </a:p>
        </p:txBody>
      </p:sp>
      <p:sp>
        <p:nvSpPr>
          <p:cNvPr id="8" name="Text 6">
            <a:extLst>
              <a:ext uri="{FF2B5EF4-FFF2-40B4-BE49-F238E27FC236}">
                <a16:creationId xmlns:a16="http://schemas.microsoft.com/office/drawing/2014/main" xmlns="" id="{E89992C8-03B9-4288-AEE5-7FC710CC0A0E}"/>
              </a:ext>
            </a:extLst>
          </p:cNvPr>
          <p:cNvSpPr>
            <a:spLocks noGrp="1"/>
          </p:cNvSpPr>
          <p:nvPr/>
        </p:nvSpPr>
        <p:spPr>
          <a:xfrm>
            <a:off x="868680" y="154533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50E34C78-19C9-41BA-A66E-50EB6D886743}"/>
              </a:ext>
            </a:extLst>
          </p:cNvPr>
          <p:cNvSpPr>
            <a:spLocks noGrp="1"/>
          </p:cNvSpPr>
          <p:nvPr/>
        </p:nvSpPr>
        <p:spPr>
          <a:xfrm>
            <a:off x="1197864" y="1508760"/>
            <a:ext cx="10186416" cy="420624"/>
          </a:xfrm>
          <a:prstGeom prst="rect">
            <a:avLst/>
          </a:prstGeom>
          <a:noFill/>
        </p:spPr>
        <p:txBody>
          <a:bodyPr wrap="square" lIns="254" tIns="254" rIns="254" bIns="254" anchor="ctr">
            <a:normAutofit/>
          </a:bodyPr>
          <a:lstStyle/>
          <a:p>
            <a:pPr marL="0" indent="0">
              <a:buNone/>
            </a:pPr>
            <a:r>
              <a:rPr sz="2000">
                <a:solidFill>
                  <a:srgbClr val="1F2937"/>
                </a:solidFill>
              </a:rPr>
              <a:t>Group remapped speeches into manageable chunks.</a:t>
            </a:r>
          </a:p>
        </p:txBody>
      </p:sp>
      <p:sp>
        <p:nvSpPr>
          <p:cNvPr id="10" name="Text 8">
            <a:extLst>
              <a:ext uri="{FF2B5EF4-FFF2-40B4-BE49-F238E27FC236}">
                <a16:creationId xmlns:a16="http://schemas.microsoft.com/office/drawing/2014/main" xmlns="" id="{99800EE5-DC89-4E29-A121-BD168EBB19A6}"/>
              </a:ext>
            </a:extLst>
          </p:cNvPr>
          <p:cNvSpPr>
            <a:spLocks noGrp="1"/>
          </p:cNvSpPr>
          <p:nvPr/>
        </p:nvSpPr>
        <p:spPr>
          <a:xfrm>
            <a:off x="868680" y="20939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1954C73A-77BB-4D6F-9F6C-039FE1366CD2}"/>
              </a:ext>
            </a:extLst>
          </p:cNvPr>
          <p:cNvSpPr>
            <a:spLocks noGrp="1"/>
          </p:cNvSpPr>
          <p:nvPr/>
        </p:nvSpPr>
        <p:spPr>
          <a:xfrm>
            <a:off x="1197864" y="2057400"/>
            <a:ext cx="10186416" cy="420624"/>
          </a:xfrm>
          <a:prstGeom prst="rect">
            <a:avLst/>
          </a:prstGeom>
          <a:noFill/>
        </p:spPr>
        <p:txBody>
          <a:bodyPr wrap="square" lIns="254" tIns="254" rIns="254" bIns="254" anchor="ctr">
            <a:normAutofit/>
          </a:bodyPr>
          <a:lstStyle/>
          <a:p>
            <a:pPr marL="0" indent="0">
              <a:buNone/>
            </a:pPr>
            <a:r>
              <a:rPr sz="2000">
                <a:solidFill>
                  <a:srgbClr val="1F2937"/>
                </a:solidFill>
              </a:rPr>
              <a:t>Synthesize arguments inside each Central Claim × Theme bucket.</a:t>
            </a:r>
          </a:p>
        </p:txBody>
      </p:sp>
      <p:sp>
        <p:nvSpPr>
          <p:cNvPr id="12" name="Text 10">
            <a:extLst>
              <a:ext uri="{FF2B5EF4-FFF2-40B4-BE49-F238E27FC236}">
                <a16:creationId xmlns:a16="http://schemas.microsoft.com/office/drawing/2014/main" xmlns="" id="{FE44A979-79F2-4F42-92B8-C9167DB4C96A}"/>
              </a:ext>
            </a:extLst>
          </p:cNvPr>
          <p:cNvSpPr>
            <a:spLocks noGrp="1"/>
          </p:cNvSpPr>
          <p:nvPr/>
        </p:nvSpPr>
        <p:spPr>
          <a:xfrm>
            <a:off x="868680" y="26426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029639A0-4644-4EA9-90AE-F28A4E19FDD3}"/>
              </a:ext>
            </a:extLst>
          </p:cNvPr>
          <p:cNvSpPr>
            <a:spLocks noGrp="1"/>
          </p:cNvSpPr>
          <p:nvPr/>
        </p:nvSpPr>
        <p:spPr>
          <a:xfrm>
            <a:off x="1197864" y="2606040"/>
            <a:ext cx="10186416" cy="420624"/>
          </a:xfrm>
          <a:prstGeom prst="rect">
            <a:avLst/>
          </a:prstGeom>
          <a:noFill/>
        </p:spPr>
        <p:txBody>
          <a:bodyPr wrap="square" lIns="254" tIns="254" rIns="254" bIns="254" anchor="ctr">
            <a:normAutofit/>
          </a:bodyPr>
          <a:lstStyle/>
          <a:p>
            <a:pPr marL="0" indent="0">
              <a:buNone/>
            </a:pPr>
            <a:r>
              <a:rPr sz="2000">
                <a:solidFill>
                  <a:srgbClr val="1F2937"/>
                </a:solidFill>
              </a:rPr>
              <a:t>Merge repeated evidence while preserving unique evidence.</a:t>
            </a:r>
          </a:p>
        </p:txBody>
      </p:sp>
      <p:sp>
        <p:nvSpPr>
          <p:cNvPr id="14" name="Text 12">
            <a:extLst>
              <a:ext uri="{FF2B5EF4-FFF2-40B4-BE49-F238E27FC236}">
                <a16:creationId xmlns:a16="http://schemas.microsoft.com/office/drawing/2014/main" xmlns="" id="{7D114BF9-EEC1-40E9-B7EC-BB35EFC2C50C}"/>
              </a:ext>
            </a:extLst>
          </p:cNvPr>
          <p:cNvSpPr>
            <a:spLocks noGrp="1"/>
          </p:cNvSpPr>
          <p:nvPr/>
        </p:nvSpPr>
        <p:spPr>
          <a:xfrm>
            <a:off x="868680" y="319125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A2885B53-30A9-4A02-B4A3-E89C71E66765}"/>
              </a:ext>
            </a:extLst>
          </p:cNvPr>
          <p:cNvSpPr>
            <a:spLocks noGrp="1"/>
          </p:cNvSpPr>
          <p:nvPr/>
        </p:nvSpPr>
        <p:spPr>
          <a:xfrm>
            <a:off x="1197864" y="3154680"/>
            <a:ext cx="10186416" cy="420624"/>
          </a:xfrm>
          <a:prstGeom prst="rect">
            <a:avLst/>
          </a:prstGeom>
          <a:noFill/>
        </p:spPr>
        <p:txBody>
          <a:bodyPr wrap="square" lIns="254" tIns="254" rIns="254" bIns="254" anchor="ctr">
            <a:normAutofit/>
          </a:bodyPr>
          <a:lstStyle/>
          <a:p>
            <a:pPr marL="0" indent="0">
              <a:buNone/>
            </a:pPr>
            <a:r>
              <a:rPr sz="2000">
                <a:solidFill>
                  <a:srgbClr val="1F2937"/>
                </a:solidFill>
              </a:rPr>
              <a:t>Create the Theme Cross-Index and write compendium.md.</a:t>
            </a:r>
          </a:p>
        </p:txBody>
      </p:sp>
      <p:sp>
        <p:nvSpPr>
          <p:cNvPr id="16" name="Text 14">
            <a:extLst>
              <a:ext uri="{FF2B5EF4-FFF2-40B4-BE49-F238E27FC236}">
                <a16:creationId xmlns:a16="http://schemas.microsoft.com/office/drawing/2014/main" xmlns="" id="{1FFB7DCF-FD0C-4F83-8154-1CB531BF1A1F}"/>
              </a:ext>
            </a:extLst>
          </p:cNvPr>
          <p:cNvSpPr>
            <a:spLocks noGrp="1"/>
          </p:cNvSpPr>
          <p:nvPr/>
        </p:nvSpPr>
        <p:spPr>
          <a:xfrm>
            <a:off x="868680" y="373989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7" name="Text 15">
            <a:extLst>
              <a:ext uri="{FF2B5EF4-FFF2-40B4-BE49-F238E27FC236}">
                <a16:creationId xmlns:a16="http://schemas.microsoft.com/office/drawing/2014/main" xmlns="" id="{F31C563E-77FD-4854-9E3D-662F49ADC1F9}"/>
              </a:ext>
            </a:extLst>
          </p:cNvPr>
          <p:cNvSpPr>
            <a:spLocks noGrp="1"/>
          </p:cNvSpPr>
          <p:nvPr/>
        </p:nvSpPr>
        <p:spPr>
          <a:xfrm>
            <a:off x="1197864" y="3703320"/>
            <a:ext cx="10186416" cy="420624"/>
          </a:xfrm>
          <a:prstGeom prst="rect">
            <a:avLst/>
          </a:prstGeom>
          <a:noFill/>
        </p:spPr>
        <p:txBody>
          <a:bodyPr wrap="square" lIns="254" tIns="254" rIns="254" bIns="254" anchor="ctr">
            <a:normAutofit/>
          </a:bodyPr>
          <a:lstStyle/>
          <a:p>
            <a:pPr marL="0" indent="0">
              <a:buNone/>
            </a:pPr>
            <a:r>
              <a:rPr sz="2000">
                <a:solidFill>
                  <a:srgbClr val="1F2937"/>
                </a:solidFill>
              </a:rPr>
              <a:t>Write unverifiable_claims.md as a master flagged-claims list.</a:t>
            </a:r>
          </a:p>
        </p:txBody>
      </p:sp>
      <p:sp>
        <p:nvSpPr>
          <p:cNvPr id="18" name="Text 16">
            <a:extLst>
              <a:ext uri="{FF2B5EF4-FFF2-40B4-BE49-F238E27FC236}">
                <a16:creationId xmlns:a16="http://schemas.microsoft.com/office/drawing/2014/main" xmlns="" id="{22EA3B9D-EB4C-4338-915B-B540DC611515}"/>
              </a:ext>
            </a:extLst>
          </p:cNvPr>
          <p:cNvSpPr>
            <a:spLocks noGrp="1"/>
          </p:cNvSpPr>
          <p:nvPr/>
        </p:nvSpPr>
        <p:spPr>
          <a:xfrm>
            <a:off x="1097280" y="498348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100" b="1">
                <a:solidFill>
                  <a:srgbClr val="1F2937"/>
                </a:solidFill>
              </a:rPr>
              <a:t>Phase 5 is the “editorial assembly” step.</a:t>
            </a:r>
          </a:p>
        </p:txBody>
      </p:sp>
    </p:spTree>
    <p:extLst>
      <p:ext uri="{BB962C8B-B14F-4D97-AF65-F5344CB8AC3E}">
        <p14:creationId xmlns:p14="http://schemas.microsoft.com/office/powerpoint/2010/main" val="16022892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31D3EEE1-C49B-4623-9CB1-B9FA5AD4AC42}"/>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75C8D9F-7C65-4088-9185-A3A19BAC2CD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3 · Pipeline</a:t>
            </a:r>
          </a:p>
        </p:txBody>
      </p:sp>
      <p:sp>
        <p:nvSpPr>
          <p:cNvPr id="4" name="Shape 2">
            <a:extLst>
              <a:ext uri="{FF2B5EF4-FFF2-40B4-BE49-F238E27FC236}">
                <a16:creationId xmlns:a16="http://schemas.microsoft.com/office/drawing/2014/main" xmlns="" id="{C4280112-1B7B-4726-ACE6-13B8F7AD42F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FEB00D4E-71D4-4293-B903-F568B312853B}"/>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466D16C-F589-4BF8-923B-46B7F3F8FA0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Why checkpoints matter</a:t>
            </a:r>
          </a:p>
        </p:txBody>
      </p:sp>
      <p:sp>
        <p:nvSpPr>
          <p:cNvPr id="7" name="Text 5">
            <a:extLst>
              <a:ext uri="{FF2B5EF4-FFF2-40B4-BE49-F238E27FC236}">
                <a16:creationId xmlns:a16="http://schemas.microsoft.com/office/drawing/2014/main" xmlns="" id="{B7906C62-6801-41E1-B8A5-9D910710DCDD}"/>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Checkpoints make a long job resumable and inspectable.</a:t>
            </a:r>
          </a:p>
        </p:txBody>
      </p:sp>
      <p:sp>
        <p:nvSpPr>
          <p:cNvPr id="8" name="Text 6">
            <a:extLst>
              <a:ext uri="{FF2B5EF4-FFF2-40B4-BE49-F238E27FC236}">
                <a16:creationId xmlns:a16="http://schemas.microsoft.com/office/drawing/2014/main" xmlns="" id="{E73021B5-E458-4F2D-8C10-EEBC922A1993}"/>
              </a:ext>
            </a:extLst>
          </p:cNvPr>
          <p:cNvSpPr>
            <a:spLocks noGrp="1"/>
          </p:cNvSpPr>
          <p:nvPr/>
        </p:nvSpPr>
        <p:spPr>
          <a:xfrm>
            <a:off x="868680" y="168249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D37FCD56-B9FE-4FB5-B108-E1DECC7A5F22}"/>
              </a:ext>
            </a:extLst>
          </p:cNvPr>
          <p:cNvSpPr>
            <a:spLocks noGrp="1"/>
          </p:cNvSpPr>
          <p:nvPr/>
        </p:nvSpPr>
        <p:spPr>
          <a:xfrm>
            <a:off x="1197864" y="1645920"/>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A long run may fail halfway through.</a:t>
            </a:r>
          </a:p>
        </p:txBody>
      </p:sp>
      <p:sp>
        <p:nvSpPr>
          <p:cNvPr id="10" name="Text 8">
            <a:extLst>
              <a:ext uri="{FF2B5EF4-FFF2-40B4-BE49-F238E27FC236}">
                <a16:creationId xmlns:a16="http://schemas.microsoft.com/office/drawing/2014/main" xmlns="" id="{5A457383-B8FF-486F-9F3E-B27EAED24E80}"/>
              </a:ext>
            </a:extLst>
          </p:cNvPr>
          <p:cNvSpPr>
            <a:spLocks noGrp="1"/>
          </p:cNvSpPr>
          <p:nvPr/>
        </p:nvSpPr>
        <p:spPr>
          <a:xfrm>
            <a:off x="868680" y="226771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7DF8AC3A-B36C-4A1B-9A36-DB29FC6B2245}"/>
              </a:ext>
            </a:extLst>
          </p:cNvPr>
          <p:cNvSpPr>
            <a:spLocks noGrp="1"/>
          </p:cNvSpPr>
          <p:nvPr/>
        </p:nvSpPr>
        <p:spPr>
          <a:xfrm>
            <a:off x="1197864" y="2231136"/>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A checkpoint saves progress so you do not start over from zero.</a:t>
            </a:r>
          </a:p>
        </p:txBody>
      </p:sp>
      <p:sp>
        <p:nvSpPr>
          <p:cNvPr id="12" name="Text 10">
            <a:extLst>
              <a:ext uri="{FF2B5EF4-FFF2-40B4-BE49-F238E27FC236}">
                <a16:creationId xmlns:a16="http://schemas.microsoft.com/office/drawing/2014/main" xmlns="" id="{FB483F0A-BF15-45D4-942B-A7997EDFB300}"/>
              </a:ext>
            </a:extLst>
          </p:cNvPr>
          <p:cNvSpPr>
            <a:spLocks noGrp="1"/>
          </p:cNvSpPr>
          <p:nvPr/>
        </p:nvSpPr>
        <p:spPr>
          <a:xfrm>
            <a:off x="868680" y="285292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35316B60-03A9-44E2-A493-35C745472F3F}"/>
              </a:ext>
            </a:extLst>
          </p:cNvPr>
          <p:cNvSpPr>
            <a:spLocks noGrp="1"/>
          </p:cNvSpPr>
          <p:nvPr/>
        </p:nvSpPr>
        <p:spPr>
          <a:xfrm>
            <a:off x="1197864" y="2816352"/>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Intermediate files help you understand what the program is doing.</a:t>
            </a:r>
          </a:p>
        </p:txBody>
      </p:sp>
      <p:sp>
        <p:nvSpPr>
          <p:cNvPr id="14" name="Text 12">
            <a:extLst>
              <a:ext uri="{FF2B5EF4-FFF2-40B4-BE49-F238E27FC236}">
                <a16:creationId xmlns:a16="http://schemas.microsoft.com/office/drawing/2014/main" xmlns="" id="{85423374-77FF-4BE2-8DB0-05611FBE40C0}"/>
              </a:ext>
            </a:extLst>
          </p:cNvPr>
          <p:cNvSpPr>
            <a:spLocks noGrp="1"/>
          </p:cNvSpPr>
          <p:nvPr/>
        </p:nvSpPr>
        <p:spPr>
          <a:xfrm>
            <a:off x="868680" y="343814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DEF9FF1C-B62C-479F-AB89-0B22EAAD81B9}"/>
              </a:ext>
            </a:extLst>
          </p:cNvPr>
          <p:cNvSpPr>
            <a:spLocks noGrp="1"/>
          </p:cNvSpPr>
          <p:nvPr/>
        </p:nvSpPr>
        <p:spPr>
          <a:xfrm>
            <a:off x="1197864" y="3401568"/>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Evaluation scripts can inspect checkpoints and find errors earlier.</a:t>
            </a:r>
          </a:p>
        </p:txBody>
      </p:sp>
      <p:sp>
        <p:nvSpPr>
          <p:cNvPr id="16" name="Text 14">
            <a:extLst>
              <a:ext uri="{FF2B5EF4-FFF2-40B4-BE49-F238E27FC236}">
                <a16:creationId xmlns:a16="http://schemas.microsoft.com/office/drawing/2014/main" xmlns="" id="{2FB64A68-EB6D-4B69-9966-B2C817731225}"/>
              </a:ext>
            </a:extLst>
          </p:cNvPr>
          <p:cNvSpPr>
            <a:spLocks noGrp="1"/>
          </p:cNvSpPr>
          <p:nvPr/>
        </p:nvSpPr>
        <p:spPr>
          <a:xfrm>
            <a:off x="1097280" y="5074920"/>
            <a:ext cx="9875520" cy="658368"/>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b="1">
                <a:solidFill>
                  <a:srgbClr val="1F2937"/>
                </a:solidFill>
              </a:rPr>
              <a:t>For a large corpus, checkpointing is not optional. It is how the project remains manageable.</a:t>
            </a:r>
          </a:p>
        </p:txBody>
      </p:sp>
    </p:spTree>
    <p:extLst>
      <p:ext uri="{BB962C8B-B14F-4D97-AF65-F5344CB8AC3E}">
        <p14:creationId xmlns:p14="http://schemas.microsoft.com/office/powerpoint/2010/main" val="13860036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D2ED7B23-41DB-498A-8373-DD70E69F42DA}"/>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425340B7-9842-463C-931D-EAC47674278F}"/>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1F0762A6-7B58-4F07-995B-853297339F02}"/>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324F538B-2E87-47CD-9B58-30BFF066CA36}"/>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575CBE8D-91A7-480B-8F37-AE05BFF56435}"/>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40319B"/>
                </a:solidFill>
              </a:rPr>
              <a:t>How to ask Claude to write the program</a:t>
            </a:r>
          </a:p>
        </p:txBody>
      </p:sp>
      <p:sp>
        <p:nvSpPr>
          <p:cNvPr id="7" name="Text 5">
            <a:extLst>
              <a:ext uri="{FF2B5EF4-FFF2-40B4-BE49-F238E27FC236}">
                <a16:creationId xmlns:a16="http://schemas.microsoft.com/office/drawing/2014/main" xmlns="" id="{60A1FBF1-85AC-42D9-A535-14E8A127FB80}"/>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The user knows the desired output, even if they do not know the exact pseudocode.</a:t>
            </a:r>
          </a:p>
        </p:txBody>
      </p:sp>
    </p:spTree>
    <p:extLst>
      <p:ext uri="{BB962C8B-B14F-4D97-AF65-F5344CB8AC3E}">
        <p14:creationId xmlns:p14="http://schemas.microsoft.com/office/powerpoint/2010/main" val="15632176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5BD9D66-AC1C-47E4-A28F-06EB0E44537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AFCCCAA0-05CB-4C92-B2D8-DFE95E9DF886}"/>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E21E9725-0332-4249-9353-0A4F74E1E134}"/>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FF79DB31-D1CD-445A-9245-83A6DC2F98A2}"/>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FE8AE8B-4AF7-4A34-B610-E3664DDE1BDF}"/>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key strategic advantage</a:t>
            </a:r>
          </a:p>
        </p:txBody>
      </p:sp>
      <p:sp>
        <p:nvSpPr>
          <p:cNvPr id="7" name="Text 5">
            <a:extLst>
              <a:ext uri="{FF2B5EF4-FFF2-40B4-BE49-F238E27FC236}">
                <a16:creationId xmlns:a16="http://schemas.microsoft.com/office/drawing/2014/main" xmlns="" id="{B9C68620-406D-4DFD-AB37-11B76FE01580}"/>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You may not know the exact code, but you can describe the desired result very precisely.</a:t>
            </a:r>
          </a:p>
        </p:txBody>
      </p:sp>
      <p:sp>
        <p:nvSpPr>
          <p:cNvPr id="8" name="Text 6">
            <a:extLst>
              <a:ext uri="{FF2B5EF4-FFF2-40B4-BE49-F238E27FC236}">
                <a16:creationId xmlns:a16="http://schemas.microsoft.com/office/drawing/2014/main" xmlns="" id="{66DCBB83-64BA-46A4-87F0-82FB7BF3F2F6}"/>
              </a:ext>
            </a:extLst>
          </p:cNvPr>
          <p:cNvSpPr>
            <a:spLocks noGrp="1"/>
          </p:cNvSpPr>
          <p:nvPr/>
        </p:nvSpPr>
        <p:spPr>
          <a:xfrm>
            <a:off x="914400" y="1874520"/>
            <a:ext cx="4023360" cy="96012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2000" b="1">
                <a:solidFill>
                  <a:srgbClr val="1F2937"/>
                </a:solidFill>
              </a:rPr>
              <a:t>What you may not know</a:t>
            </a:r>
          </a:p>
          <a:p>
            <a:pPr marL="0" indent="0" algn="ctr">
              <a:buNone/>
            </a:pPr>
            <a:r>
              <a:rPr sz="2000" b="1">
                <a:solidFill>
                  <a:srgbClr val="1F2937"/>
                </a:solidFill>
              </a:rPr>
              <a:t>The exact pseudocode</a:t>
            </a:r>
          </a:p>
        </p:txBody>
      </p:sp>
      <p:sp>
        <p:nvSpPr>
          <p:cNvPr id="9" name="Text 7">
            <a:extLst>
              <a:ext uri="{FF2B5EF4-FFF2-40B4-BE49-F238E27FC236}">
                <a16:creationId xmlns:a16="http://schemas.microsoft.com/office/drawing/2014/main" xmlns="" id="{CAC347AE-B5F0-432E-AC14-30FAF7DC7864}"/>
              </a:ext>
            </a:extLst>
          </p:cNvPr>
          <p:cNvSpPr>
            <a:spLocks noGrp="1"/>
          </p:cNvSpPr>
          <p:nvPr/>
        </p:nvSpPr>
        <p:spPr>
          <a:xfrm>
            <a:off x="6446520" y="1874520"/>
            <a:ext cx="4526280" cy="96012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What you do know</a:t>
            </a:r>
          </a:p>
          <a:p>
            <a:pPr marL="0" indent="0" algn="ctr">
              <a:buNone/>
            </a:pPr>
            <a:r>
              <a:rPr sz="2000" b="1">
                <a:solidFill>
                  <a:srgbClr val="1F2937"/>
                </a:solidFill>
              </a:rPr>
              <a:t>Inputs, outputs, rules, examples, metrics</a:t>
            </a:r>
          </a:p>
        </p:txBody>
      </p:sp>
      <p:sp>
        <p:nvSpPr>
          <p:cNvPr id="10" name="Text 8">
            <a:extLst>
              <a:ext uri="{FF2B5EF4-FFF2-40B4-BE49-F238E27FC236}">
                <a16:creationId xmlns:a16="http://schemas.microsoft.com/office/drawing/2014/main" xmlns="" id="{367B7C86-2C07-4A3A-9E91-8137A946A762}"/>
              </a:ext>
            </a:extLst>
          </p:cNvPr>
          <p:cNvSpPr>
            <a:spLocks noGrp="1"/>
          </p:cNvSpPr>
          <p:nvPr/>
        </p:nvSpPr>
        <p:spPr>
          <a:xfrm>
            <a:off x="1143000" y="4114800"/>
            <a:ext cx="9875520" cy="731520"/>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b="1">
                <a:solidFill>
                  <a:srgbClr val="1F2937"/>
                </a:solidFill>
              </a:rPr>
              <a:t>Therefore: write a declarative prompt that states the target clearly, then ask Claude to produce the Python program.</a:t>
            </a:r>
          </a:p>
        </p:txBody>
      </p:sp>
    </p:spTree>
    <p:extLst>
      <p:ext uri="{BB962C8B-B14F-4D97-AF65-F5344CB8AC3E}">
        <p14:creationId xmlns:p14="http://schemas.microsoft.com/office/powerpoint/2010/main" val="15736530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D01938E4-132C-420A-A6EF-E409EDC7AE94}"/>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1E30F6B-3E0A-4363-B9B6-464029CA798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DAA2960D-8858-4BEF-8EC2-7A4A56153107}"/>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2129D26D-BE27-4CFE-814D-1A7A5BF9BC7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A5794819-880D-46E6-806B-4E2806086D67}"/>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Imperative vs declarative instructions</a:t>
            </a:r>
          </a:p>
        </p:txBody>
      </p:sp>
      <p:sp>
        <p:nvSpPr>
          <p:cNvPr id="7" name="Text 5">
            <a:extLst>
              <a:ext uri="{FF2B5EF4-FFF2-40B4-BE49-F238E27FC236}">
                <a16:creationId xmlns:a16="http://schemas.microsoft.com/office/drawing/2014/main" xmlns="" id="{1C2AF4FE-D813-422A-B34A-D8A272E649AB}"/>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Two styles of instruction correspond to two ways of thinking about programming.</a:t>
            </a:r>
          </a:p>
        </p:txBody>
      </p:sp>
      <p:sp>
        <p:nvSpPr>
          <p:cNvPr id="8" name="Text 6">
            <a:extLst>
              <a:ext uri="{FF2B5EF4-FFF2-40B4-BE49-F238E27FC236}">
                <a16:creationId xmlns:a16="http://schemas.microsoft.com/office/drawing/2014/main" xmlns="" id="{823CE48B-D322-4D11-B9DD-81448C1DE026}"/>
              </a:ext>
            </a:extLst>
          </p:cNvPr>
          <p:cNvSpPr>
            <a:spLocks noGrp="1"/>
          </p:cNvSpPr>
          <p:nvPr/>
        </p:nvSpPr>
        <p:spPr>
          <a:xfrm>
            <a:off x="731520" y="1783080"/>
            <a:ext cx="2011680" cy="589788"/>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770" b="1">
                <a:solidFill>
                  <a:srgbClr val="1F2937"/>
                </a:solidFill>
              </a:rPr>
              <a:t>Style</a:t>
            </a:r>
          </a:p>
        </p:txBody>
      </p:sp>
      <p:sp>
        <p:nvSpPr>
          <p:cNvPr id="9" name="Text 7">
            <a:extLst>
              <a:ext uri="{FF2B5EF4-FFF2-40B4-BE49-F238E27FC236}">
                <a16:creationId xmlns:a16="http://schemas.microsoft.com/office/drawing/2014/main" xmlns="" id="{E09CAA4E-E7BF-4C34-BE39-5DDEBDC4152B}"/>
              </a:ext>
            </a:extLst>
          </p:cNvPr>
          <p:cNvSpPr>
            <a:spLocks noGrp="1"/>
          </p:cNvSpPr>
          <p:nvPr/>
        </p:nvSpPr>
        <p:spPr>
          <a:xfrm>
            <a:off x="2743200" y="1783080"/>
            <a:ext cx="3886200" cy="589788"/>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770" b="1">
                <a:solidFill>
                  <a:srgbClr val="1F2937"/>
                </a:solidFill>
              </a:rPr>
              <a:t>Focus</a:t>
            </a:r>
          </a:p>
        </p:txBody>
      </p:sp>
      <p:sp>
        <p:nvSpPr>
          <p:cNvPr id="10" name="Text 8">
            <a:extLst>
              <a:ext uri="{FF2B5EF4-FFF2-40B4-BE49-F238E27FC236}">
                <a16:creationId xmlns:a16="http://schemas.microsoft.com/office/drawing/2014/main" xmlns="" id="{0CCE2222-5B87-41F6-8412-C2396142FEBC}"/>
              </a:ext>
            </a:extLst>
          </p:cNvPr>
          <p:cNvSpPr>
            <a:spLocks noGrp="1"/>
          </p:cNvSpPr>
          <p:nvPr/>
        </p:nvSpPr>
        <p:spPr>
          <a:xfrm>
            <a:off x="6629400" y="1783080"/>
            <a:ext cx="4846320" cy="589788"/>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770" b="1">
                <a:solidFill>
                  <a:srgbClr val="1F2937"/>
                </a:solidFill>
              </a:rPr>
              <a:t>Everyday analogy</a:t>
            </a:r>
          </a:p>
        </p:txBody>
      </p:sp>
      <p:sp>
        <p:nvSpPr>
          <p:cNvPr id="11" name="Text 9">
            <a:extLst>
              <a:ext uri="{FF2B5EF4-FFF2-40B4-BE49-F238E27FC236}">
                <a16:creationId xmlns:a16="http://schemas.microsoft.com/office/drawing/2014/main" xmlns="" id="{11F6A580-E59F-4F2A-9C8D-5A5B351E61A3}"/>
              </a:ext>
            </a:extLst>
          </p:cNvPr>
          <p:cNvSpPr>
            <a:spLocks noGrp="1"/>
          </p:cNvSpPr>
          <p:nvPr/>
        </p:nvSpPr>
        <p:spPr>
          <a:xfrm>
            <a:off x="731520" y="2386584"/>
            <a:ext cx="201168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Imperative</a:t>
            </a:r>
          </a:p>
        </p:txBody>
      </p:sp>
      <p:sp>
        <p:nvSpPr>
          <p:cNvPr id="12" name="Text 10">
            <a:extLst>
              <a:ext uri="{FF2B5EF4-FFF2-40B4-BE49-F238E27FC236}">
                <a16:creationId xmlns:a16="http://schemas.microsoft.com/office/drawing/2014/main" xmlns="" id="{EBB5728C-5646-4C62-B330-8AC8C14D517B}"/>
              </a:ext>
            </a:extLst>
          </p:cNvPr>
          <p:cNvSpPr>
            <a:spLocks noGrp="1"/>
          </p:cNvSpPr>
          <p:nvPr/>
        </p:nvSpPr>
        <p:spPr>
          <a:xfrm>
            <a:off x="2743200" y="2386584"/>
            <a:ext cx="388620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How to do it step by step</a:t>
            </a:r>
          </a:p>
        </p:txBody>
      </p:sp>
      <p:sp>
        <p:nvSpPr>
          <p:cNvPr id="13" name="Text 11">
            <a:extLst>
              <a:ext uri="{FF2B5EF4-FFF2-40B4-BE49-F238E27FC236}">
                <a16:creationId xmlns:a16="http://schemas.microsoft.com/office/drawing/2014/main" xmlns="" id="{7BD51616-FA40-4B37-9562-4C18E9A49B2F}"/>
              </a:ext>
            </a:extLst>
          </p:cNvPr>
          <p:cNvSpPr>
            <a:spLocks noGrp="1"/>
          </p:cNvSpPr>
          <p:nvPr/>
        </p:nvSpPr>
        <p:spPr>
          <a:xfrm>
            <a:off x="6629400" y="2386584"/>
            <a:ext cx="484632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“Turn left, walk 20 meters, then turn right.”</a:t>
            </a:r>
          </a:p>
        </p:txBody>
      </p:sp>
      <p:sp>
        <p:nvSpPr>
          <p:cNvPr id="14" name="Text 12">
            <a:extLst>
              <a:ext uri="{FF2B5EF4-FFF2-40B4-BE49-F238E27FC236}">
                <a16:creationId xmlns:a16="http://schemas.microsoft.com/office/drawing/2014/main" xmlns="" id="{6FAD7D90-DBB6-4E64-ACF1-42982DADABC6}"/>
              </a:ext>
            </a:extLst>
          </p:cNvPr>
          <p:cNvSpPr>
            <a:spLocks noGrp="1"/>
          </p:cNvSpPr>
          <p:nvPr/>
        </p:nvSpPr>
        <p:spPr>
          <a:xfrm>
            <a:off x="731520" y="2990088"/>
            <a:ext cx="201168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Declarative</a:t>
            </a:r>
          </a:p>
        </p:txBody>
      </p:sp>
      <p:sp>
        <p:nvSpPr>
          <p:cNvPr id="15" name="Text 13">
            <a:extLst>
              <a:ext uri="{FF2B5EF4-FFF2-40B4-BE49-F238E27FC236}">
                <a16:creationId xmlns:a16="http://schemas.microsoft.com/office/drawing/2014/main" xmlns="" id="{9BA384CB-6CC6-4B08-84A8-B4803E08FB3F}"/>
              </a:ext>
            </a:extLst>
          </p:cNvPr>
          <p:cNvSpPr>
            <a:spLocks noGrp="1"/>
          </p:cNvSpPr>
          <p:nvPr/>
        </p:nvSpPr>
        <p:spPr>
          <a:xfrm>
            <a:off x="2743200" y="2990088"/>
            <a:ext cx="388620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What result must be true</a:t>
            </a:r>
          </a:p>
        </p:txBody>
      </p:sp>
      <p:sp>
        <p:nvSpPr>
          <p:cNvPr id="16" name="Text 14">
            <a:extLst>
              <a:ext uri="{FF2B5EF4-FFF2-40B4-BE49-F238E27FC236}">
                <a16:creationId xmlns:a16="http://schemas.microsoft.com/office/drawing/2014/main" xmlns="" id="{BC93C97E-12D9-46E5-A67D-44B79CE03B9B}"/>
              </a:ext>
            </a:extLst>
          </p:cNvPr>
          <p:cNvSpPr>
            <a:spLocks noGrp="1"/>
          </p:cNvSpPr>
          <p:nvPr/>
        </p:nvSpPr>
        <p:spPr>
          <a:xfrm>
            <a:off x="6629400" y="2990088"/>
            <a:ext cx="4846320" cy="589788"/>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700">
                <a:solidFill>
                  <a:srgbClr val="1F2937"/>
                </a:solidFill>
              </a:rPr>
              <a:t>“Find me a route to the library that avoids highways.”</a:t>
            </a:r>
          </a:p>
        </p:txBody>
      </p:sp>
      <p:sp>
        <p:nvSpPr>
          <p:cNvPr id="17" name="Text 15">
            <a:extLst>
              <a:ext uri="{FF2B5EF4-FFF2-40B4-BE49-F238E27FC236}">
                <a16:creationId xmlns:a16="http://schemas.microsoft.com/office/drawing/2014/main" xmlns="" id="{4C732338-990F-4EE9-885B-FFF12D4914D4}"/>
              </a:ext>
            </a:extLst>
          </p:cNvPr>
          <p:cNvSpPr>
            <a:spLocks noGrp="1"/>
          </p:cNvSpPr>
          <p:nvPr/>
        </p:nvSpPr>
        <p:spPr>
          <a:xfrm>
            <a:off x="914400" y="43799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8" name="Text 16">
            <a:extLst>
              <a:ext uri="{FF2B5EF4-FFF2-40B4-BE49-F238E27FC236}">
                <a16:creationId xmlns:a16="http://schemas.microsoft.com/office/drawing/2014/main" xmlns="" id="{41B20554-86A8-485C-95DB-C9B8AFC96FAF}"/>
              </a:ext>
            </a:extLst>
          </p:cNvPr>
          <p:cNvSpPr>
            <a:spLocks noGrp="1"/>
          </p:cNvSpPr>
          <p:nvPr/>
        </p:nvSpPr>
        <p:spPr>
          <a:xfrm>
            <a:off x="1243584" y="434340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Traditional Python code is mostly imperative: it states steps.</a:t>
            </a:r>
          </a:p>
        </p:txBody>
      </p:sp>
      <p:sp>
        <p:nvSpPr>
          <p:cNvPr id="19" name="Text 17">
            <a:extLst>
              <a:ext uri="{FF2B5EF4-FFF2-40B4-BE49-F238E27FC236}">
                <a16:creationId xmlns:a16="http://schemas.microsoft.com/office/drawing/2014/main" xmlns="" id="{F62C10C8-CA7F-44BC-AC2E-8151D68100FF}"/>
              </a:ext>
            </a:extLst>
          </p:cNvPr>
          <p:cNvSpPr>
            <a:spLocks noGrp="1"/>
          </p:cNvSpPr>
          <p:nvPr/>
        </p:nvSpPr>
        <p:spPr>
          <a:xfrm>
            <a:off x="914400" y="49194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20" name="Text 18">
            <a:extLst>
              <a:ext uri="{FF2B5EF4-FFF2-40B4-BE49-F238E27FC236}">
                <a16:creationId xmlns:a16="http://schemas.microsoft.com/office/drawing/2014/main" xmlns="" id="{13431CD4-9629-41E4-AB4D-6EC92D041B9E}"/>
              </a:ext>
            </a:extLst>
          </p:cNvPr>
          <p:cNvSpPr>
            <a:spLocks noGrp="1"/>
          </p:cNvSpPr>
          <p:nvPr/>
        </p:nvSpPr>
        <p:spPr>
          <a:xfrm>
            <a:off x="1243584" y="488289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A strong LLM prompt can be declarative: it states facts, rules, and desired outputs.</a:t>
            </a:r>
          </a:p>
        </p:txBody>
      </p:sp>
      <p:sp>
        <p:nvSpPr>
          <p:cNvPr id="21" name="Text 19">
            <a:extLst>
              <a:ext uri="{FF2B5EF4-FFF2-40B4-BE49-F238E27FC236}">
                <a16:creationId xmlns:a16="http://schemas.microsoft.com/office/drawing/2014/main" xmlns="" id="{2E208C01-FA1E-45A6-AB29-B146FA40BFD2}"/>
              </a:ext>
            </a:extLst>
          </p:cNvPr>
          <p:cNvSpPr>
            <a:spLocks noGrp="1"/>
          </p:cNvSpPr>
          <p:nvPr/>
        </p:nvSpPr>
        <p:spPr>
          <a:xfrm>
            <a:off x="914400" y="545896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22" name="Text 20">
            <a:extLst>
              <a:ext uri="{FF2B5EF4-FFF2-40B4-BE49-F238E27FC236}">
                <a16:creationId xmlns:a16="http://schemas.microsoft.com/office/drawing/2014/main" xmlns="" id="{D44ED718-D90D-4DC8-89FC-9A20E6FCB82A}"/>
              </a:ext>
            </a:extLst>
          </p:cNvPr>
          <p:cNvSpPr>
            <a:spLocks noGrp="1"/>
          </p:cNvSpPr>
          <p:nvPr/>
        </p:nvSpPr>
        <p:spPr>
          <a:xfrm>
            <a:off x="1243584" y="5422392"/>
            <a:ext cx="9729216" cy="411480"/>
          </a:xfrm>
          <a:prstGeom prst="rect">
            <a:avLst/>
          </a:prstGeom>
          <a:noFill/>
        </p:spPr>
        <p:txBody>
          <a:bodyPr wrap="square" lIns="254" tIns="254" rIns="254" bIns="254" anchor="ctr">
            <a:normAutofit/>
          </a:bodyPr>
          <a:lstStyle/>
          <a:p>
            <a:pPr marL="0" indent="0">
              <a:buNone/>
            </a:pPr>
            <a:r>
              <a:rPr sz="2000">
                <a:solidFill>
                  <a:srgbClr val="1F2937"/>
                </a:solidFill>
              </a:rPr>
              <a:t>Claude then fills in many implementation details.</a:t>
            </a:r>
          </a:p>
        </p:txBody>
      </p:sp>
    </p:spTree>
    <p:extLst>
      <p:ext uri="{BB962C8B-B14F-4D97-AF65-F5344CB8AC3E}">
        <p14:creationId xmlns:p14="http://schemas.microsoft.com/office/powerpoint/2010/main" val="11586354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E4B6604-E91E-4E40-B12D-F40F356116A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AA157FB1-4BE9-4602-9759-9F3B6CC67AEA}"/>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1FC278A4-A413-4201-92EA-036C54B6E2B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4FFEAE9-7CA8-4D81-AB30-B3475461D6C4}"/>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D86F662-115C-4186-B7A7-B07023E257E5}"/>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Why Prolog is a useful analogy</a:t>
            </a:r>
          </a:p>
        </p:txBody>
      </p:sp>
      <p:sp>
        <p:nvSpPr>
          <p:cNvPr id="7" name="Text 5">
            <a:extLst>
              <a:ext uri="{FF2B5EF4-FFF2-40B4-BE49-F238E27FC236}">
                <a16:creationId xmlns:a16="http://schemas.microsoft.com/office/drawing/2014/main" xmlns="" id="{F174612E-A195-46A3-9372-9E52259D08A1}"/>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Prolog is a logic programming language built around facts, rules, and questions.</a:t>
            </a:r>
          </a:p>
        </p:txBody>
      </p:sp>
      <p:sp>
        <p:nvSpPr>
          <p:cNvPr id="8" name="Text 6">
            <a:extLst>
              <a:ext uri="{FF2B5EF4-FFF2-40B4-BE49-F238E27FC236}">
                <a16:creationId xmlns:a16="http://schemas.microsoft.com/office/drawing/2014/main" xmlns="" id="{4453374F-8EBA-4F04-9A7F-C44EC632EC91}"/>
              </a:ext>
            </a:extLst>
          </p:cNvPr>
          <p:cNvSpPr>
            <a:spLocks noGrp="1"/>
          </p:cNvSpPr>
          <p:nvPr/>
        </p:nvSpPr>
        <p:spPr>
          <a:xfrm>
            <a:off x="914400" y="1920240"/>
            <a:ext cx="2743200" cy="82296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2000" b="1">
                <a:solidFill>
                  <a:srgbClr val="1F2937"/>
                </a:solidFill>
              </a:rPr>
              <a:t>Facts</a:t>
            </a:r>
          </a:p>
          <a:p>
            <a:pPr marL="0" indent="0" algn="ctr">
              <a:buNone/>
            </a:pPr>
            <a:r>
              <a:rPr sz="2000" b="1">
                <a:solidFill>
                  <a:srgbClr val="1F2937"/>
                </a:solidFill>
              </a:rPr>
              <a:t>Known information</a:t>
            </a:r>
          </a:p>
        </p:txBody>
      </p:sp>
      <p:sp>
        <p:nvSpPr>
          <p:cNvPr id="9" name="Shape 7">
            <a:extLst>
              <a:ext uri="{FF2B5EF4-FFF2-40B4-BE49-F238E27FC236}">
                <a16:creationId xmlns:a16="http://schemas.microsoft.com/office/drawing/2014/main" xmlns="" id="{8AE980D7-686C-45F4-BCD7-5285CD6E3B55}"/>
              </a:ext>
            </a:extLst>
          </p:cNvPr>
          <p:cNvSpPr>
            <a:spLocks noGrp="1"/>
          </p:cNvSpPr>
          <p:nvPr/>
        </p:nvSpPr>
        <p:spPr>
          <a:xfrm>
            <a:off x="3840480" y="2331720"/>
            <a:ext cx="73152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19EC3FE5-DA5E-4E15-B3AD-70FBBEA1A5F0}"/>
              </a:ext>
            </a:extLst>
          </p:cNvPr>
          <p:cNvSpPr>
            <a:spLocks noGrp="1"/>
          </p:cNvSpPr>
          <p:nvPr/>
        </p:nvSpPr>
        <p:spPr>
          <a:xfrm>
            <a:off x="4754880" y="1920240"/>
            <a:ext cx="2743200" cy="82296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2000" b="1">
                <a:solidFill>
                  <a:srgbClr val="1F2937"/>
                </a:solidFill>
              </a:rPr>
              <a:t>Rules</a:t>
            </a:r>
          </a:p>
          <a:p>
            <a:pPr marL="0" indent="0" algn="ctr">
              <a:buNone/>
            </a:pPr>
            <a:r>
              <a:rPr sz="2000" b="1">
                <a:solidFill>
                  <a:srgbClr val="1F2937"/>
                </a:solidFill>
              </a:rPr>
              <a:t>How facts connect</a:t>
            </a:r>
          </a:p>
        </p:txBody>
      </p:sp>
      <p:sp>
        <p:nvSpPr>
          <p:cNvPr id="11" name="Shape 9">
            <a:extLst>
              <a:ext uri="{FF2B5EF4-FFF2-40B4-BE49-F238E27FC236}">
                <a16:creationId xmlns:a16="http://schemas.microsoft.com/office/drawing/2014/main" xmlns="" id="{1D6B4FEF-7DAC-4705-B224-5B210713E2A9}"/>
              </a:ext>
            </a:extLst>
          </p:cNvPr>
          <p:cNvSpPr>
            <a:spLocks noGrp="1"/>
          </p:cNvSpPr>
          <p:nvPr/>
        </p:nvSpPr>
        <p:spPr>
          <a:xfrm>
            <a:off x="7680960" y="2331720"/>
            <a:ext cx="73152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17604D73-ABA1-40EC-BB5E-69BC49C8CC60}"/>
              </a:ext>
            </a:extLst>
          </p:cNvPr>
          <p:cNvSpPr>
            <a:spLocks noGrp="1"/>
          </p:cNvSpPr>
          <p:nvPr/>
        </p:nvSpPr>
        <p:spPr>
          <a:xfrm>
            <a:off x="8595360" y="1920240"/>
            <a:ext cx="2743200" cy="82296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Query</a:t>
            </a:r>
          </a:p>
          <a:p>
            <a:pPr marL="0" indent="0" algn="ctr">
              <a:buNone/>
            </a:pPr>
            <a:r>
              <a:rPr sz="2000" b="1">
                <a:solidFill>
                  <a:srgbClr val="1F2937"/>
                </a:solidFill>
              </a:rPr>
              <a:t>The question asked</a:t>
            </a:r>
          </a:p>
        </p:txBody>
      </p:sp>
      <p:sp>
        <p:nvSpPr>
          <p:cNvPr id="13" name="Text 11">
            <a:extLst>
              <a:ext uri="{FF2B5EF4-FFF2-40B4-BE49-F238E27FC236}">
                <a16:creationId xmlns:a16="http://schemas.microsoft.com/office/drawing/2014/main" xmlns="" id="{1A177C4D-BC12-40B1-87A0-1FF941A2FCD5}"/>
              </a:ext>
            </a:extLst>
          </p:cNvPr>
          <p:cNvSpPr>
            <a:spLocks noGrp="1"/>
          </p:cNvSpPr>
          <p:nvPr/>
        </p:nvSpPr>
        <p:spPr>
          <a:xfrm>
            <a:off x="1188720" y="4069080"/>
            <a:ext cx="9829800" cy="68580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100" b="1" dirty="0">
                <a:solidFill>
                  <a:srgbClr val="1F2937"/>
                </a:solidFill>
              </a:rPr>
              <a:t>A good prompt can use the same pattern: context, instructions, and objective.</a:t>
            </a:r>
          </a:p>
        </p:txBody>
      </p:sp>
    </p:spTree>
    <p:extLst>
      <p:ext uri="{BB962C8B-B14F-4D97-AF65-F5344CB8AC3E}">
        <p14:creationId xmlns:p14="http://schemas.microsoft.com/office/powerpoint/2010/main" val="4181854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61016765-62C6-4100-998C-E3F7E65D25F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4B656E3-EE25-45DA-A0C3-E4BE3A9D0FC7}"/>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222535EC-9307-4B75-9F7F-3D482145D72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84B8AB3F-0C87-4DBF-A6B9-88F59650CFAD}"/>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D97F9980-7E33-4F9F-8304-C3A931A1F90D}"/>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Facts ↔ context</a:t>
            </a:r>
          </a:p>
        </p:txBody>
      </p:sp>
      <p:sp>
        <p:nvSpPr>
          <p:cNvPr id="7" name="Text 5">
            <a:extLst>
              <a:ext uri="{FF2B5EF4-FFF2-40B4-BE49-F238E27FC236}">
                <a16:creationId xmlns:a16="http://schemas.microsoft.com/office/drawing/2014/main" xmlns="" id="{FBC9BF3A-45F7-4B18-A47B-BD68216E286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In a prompt, context tells Claude what information it must treat as given.</a:t>
            </a:r>
          </a:p>
        </p:txBody>
      </p:sp>
      <p:sp>
        <p:nvSpPr>
          <p:cNvPr id="8" name="Text 6">
            <a:extLst>
              <a:ext uri="{FF2B5EF4-FFF2-40B4-BE49-F238E27FC236}">
                <a16:creationId xmlns:a16="http://schemas.microsoft.com/office/drawing/2014/main" xmlns="" id="{3AE0143F-2ECC-4B71-AD73-C9BA17B9602B}"/>
              </a:ext>
            </a:extLst>
          </p:cNvPr>
          <p:cNvSpPr>
            <a:spLocks noGrp="1"/>
          </p:cNvSpPr>
          <p:nvPr/>
        </p:nvSpPr>
        <p:spPr>
          <a:xfrm>
            <a:off x="822960" y="1691640"/>
            <a:ext cx="4572000" cy="1280160"/>
          </a:xfrm>
          <a:prstGeom prst="rect">
            <a:avLst/>
          </a:prstGeom>
          <a:solidFill>
            <a:srgbClr val="FFFFFF"/>
          </a:solidFill>
          <a:ln>
            <a:solidFill>
              <a:srgbClr val="D6D0C5"/>
            </a:solidFill>
          </a:ln>
        </p:spPr>
        <p:txBody>
          <a:bodyPr wrap="square" lIns="1778" tIns="1778" rIns="1778" bIns="1778" anchor="ctr"/>
          <a:lstStyle/>
          <a:p>
            <a:pPr marL="0" indent="0">
              <a:buNone/>
            </a:pPr>
            <a:r>
              <a:rPr sz="1800">
                <a:solidFill>
                  <a:srgbClr val="1F2937"/>
                </a:solidFill>
                <a:latin typeface="Courier New"/>
                <a:ea typeface="Courier New"/>
                <a:cs typeface="Courier New"/>
              </a:rPr>
              <a:t>Prolog facts</a:t>
            </a:r>
          </a:p>
          <a:p>
            <a:pPr marL="0" indent="0">
              <a:buNone/>
            </a:pPr>
            <a:r>
              <a:rPr sz="1800">
                <a:solidFill>
                  <a:srgbClr val="1F2937"/>
                </a:solidFill>
                <a:latin typeface="Courier New"/>
                <a:ea typeface="Courier New"/>
                <a:cs typeface="Courier New"/>
              </a:rPr>
              <a:t>parent(tom, bob).</a:t>
            </a:r>
          </a:p>
          <a:p>
            <a:pPr marL="0" indent="0">
              <a:buNone/>
            </a:pPr>
            <a:r>
              <a:rPr sz="1800">
                <a:solidFill>
                  <a:srgbClr val="1F2937"/>
                </a:solidFill>
                <a:latin typeface="Courier New"/>
                <a:ea typeface="Courier New"/>
                <a:cs typeface="Courier New"/>
              </a:rPr>
              <a:t>parent(bob, ann).</a:t>
            </a:r>
          </a:p>
        </p:txBody>
      </p:sp>
      <p:sp>
        <p:nvSpPr>
          <p:cNvPr id="9" name="Text 7">
            <a:extLst>
              <a:ext uri="{FF2B5EF4-FFF2-40B4-BE49-F238E27FC236}">
                <a16:creationId xmlns:a16="http://schemas.microsoft.com/office/drawing/2014/main" xmlns="" id="{3999674F-32EE-4CAC-8F1E-F060C621147B}"/>
              </a:ext>
            </a:extLst>
          </p:cNvPr>
          <p:cNvSpPr>
            <a:spLocks noGrp="1"/>
          </p:cNvSpPr>
          <p:nvPr/>
        </p:nvSpPr>
        <p:spPr>
          <a:xfrm>
            <a:off x="6492240" y="1691640"/>
            <a:ext cx="4572000" cy="1280160"/>
          </a:xfrm>
          <a:prstGeom prst="rect">
            <a:avLst/>
          </a:prstGeom>
          <a:solidFill>
            <a:srgbClr val="FFFFFF"/>
          </a:solidFill>
          <a:ln>
            <a:solidFill>
              <a:srgbClr val="D6D0C5"/>
            </a:solidFill>
          </a:ln>
        </p:spPr>
        <p:txBody>
          <a:bodyPr wrap="square" lIns="1778" tIns="1778" rIns="1778" bIns="1778" anchor="ctr"/>
          <a:lstStyle/>
          <a:p>
            <a:pPr marL="0" indent="0">
              <a:buNone/>
            </a:pPr>
            <a:r>
              <a:rPr sz="1900">
                <a:solidFill>
                  <a:srgbClr val="1F2937"/>
                </a:solidFill>
              </a:rPr>
              <a:t>Prompt context</a:t>
            </a:r>
          </a:p>
          <a:p>
            <a:pPr marL="0" indent="0">
              <a:buNone/>
            </a:pPr>
            <a:r>
              <a:rPr sz="1900">
                <a:solidFill>
                  <a:srgbClr val="1F2937"/>
                </a:solidFill>
              </a:rPr>
              <a:t>Tom is Bob's parent.</a:t>
            </a:r>
          </a:p>
          <a:p>
            <a:pPr marL="0" indent="0">
              <a:buNone/>
            </a:pPr>
            <a:r>
              <a:rPr sz="1900">
                <a:solidFill>
                  <a:srgbClr val="1F2937"/>
                </a:solidFill>
              </a:rPr>
              <a:t>Bob is Ann's parent.</a:t>
            </a:r>
          </a:p>
        </p:txBody>
      </p:sp>
      <p:sp>
        <p:nvSpPr>
          <p:cNvPr id="10" name="Shape 8">
            <a:extLst>
              <a:ext uri="{FF2B5EF4-FFF2-40B4-BE49-F238E27FC236}">
                <a16:creationId xmlns:a16="http://schemas.microsoft.com/office/drawing/2014/main" xmlns="" id="{53FF2F02-4A20-46A7-9BD2-3354AB7133BE}"/>
              </a:ext>
            </a:extLst>
          </p:cNvPr>
          <p:cNvSpPr>
            <a:spLocks noGrp="1"/>
          </p:cNvSpPr>
          <p:nvPr/>
        </p:nvSpPr>
        <p:spPr>
          <a:xfrm>
            <a:off x="5577840" y="2331720"/>
            <a:ext cx="777240" cy="0"/>
          </a:xfrm>
          <a:prstGeom prst="line">
            <a:avLst/>
          </a:prstGeom>
          <a:noFill/>
          <a:ln w="16510">
            <a:solidFill>
              <a:srgbClr val="596273"/>
            </a:solidFill>
            <a:prstDash val="solid"/>
          </a:ln>
        </p:spPr>
      </p:sp>
      <p:sp>
        <p:nvSpPr>
          <p:cNvPr id="11" name="Text 9">
            <a:extLst>
              <a:ext uri="{FF2B5EF4-FFF2-40B4-BE49-F238E27FC236}">
                <a16:creationId xmlns:a16="http://schemas.microsoft.com/office/drawing/2014/main" xmlns="" id="{6E9918C5-F059-498D-AB94-4EAF4389780C}"/>
              </a:ext>
            </a:extLst>
          </p:cNvPr>
          <p:cNvSpPr>
            <a:spLocks noGrp="1"/>
          </p:cNvSpPr>
          <p:nvPr/>
        </p:nvSpPr>
        <p:spPr>
          <a:xfrm>
            <a:off x="1005840" y="4206240"/>
            <a:ext cx="10149840" cy="713232"/>
          </a:xfrm>
          <a:prstGeom prst="rect">
            <a:avLst/>
          </a:prstGeom>
          <a:solidFill>
            <a:srgbClr val="FDECEC"/>
          </a:solidFill>
          <a:ln w="15240">
            <a:solidFill>
              <a:srgbClr val="9B1C1C"/>
            </a:solidFill>
          </a:ln>
        </p:spPr>
        <p:txBody>
          <a:bodyPr wrap="square" lIns="1778" tIns="1778" rIns="1778" bIns="1778" anchor="ctr">
            <a:normAutofit/>
          </a:bodyPr>
          <a:lstStyle/>
          <a:p>
            <a:pPr marL="0" indent="0">
              <a:buNone/>
            </a:pPr>
            <a:r>
              <a:rPr sz="2000" b="1">
                <a:solidFill>
                  <a:srgbClr val="1F2937"/>
                </a:solidFill>
              </a:rPr>
              <a:t>Important prompt rule: say “Use only the supplied facts” when you do not want Claude to fill gaps from memory.</a:t>
            </a:r>
          </a:p>
        </p:txBody>
      </p:sp>
    </p:spTree>
    <p:extLst>
      <p:ext uri="{BB962C8B-B14F-4D97-AF65-F5344CB8AC3E}">
        <p14:creationId xmlns:p14="http://schemas.microsoft.com/office/powerpoint/2010/main" val="7069895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432A684-E556-4DB7-9A85-D00F5C7CF201}"/>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EC329054-BD5B-402F-BA9D-E0EF29A1A76F}"/>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9D6225E0-A5CC-4E4D-A490-11B90BA8A909}"/>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7FC2EE74-57F2-4362-9AC0-67E08246F1ED}"/>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7F53E49D-C50F-4831-8D11-54121C5F9908}"/>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Rules ↔ instructions</a:t>
            </a:r>
          </a:p>
        </p:txBody>
      </p:sp>
      <p:sp>
        <p:nvSpPr>
          <p:cNvPr id="7" name="Text 5">
            <a:extLst>
              <a:ext uri="{FF2B5EF4-FFF2-40B4-BE49-F238E27FC236}">
                <a16:creationId xmlns:a16="http://schemas.microsoft.com/office/drawing/2014/main" xmlns="" id="{BDE294D9-5F88-43E8-98D3-23070B70CB51}"/>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Instructions tell Claude how to treat the context and what conditions the answer must satisfy.</a:t>
            </a:r>
          </a:p>
        </p:txBody>
      </p:sp>
      <p:sp>
        <p:nvSpPr>
          <p:cNvPr id="8" name="Text 6">
            <a:extLst>
              <a:ext uri="{FF2B5EF4-FFF2-40B4-BE49-F238E27FC236}">
                <a16:creationId xmlns:a16="http://schemas.microsoft.com/office/drawing/2014/main" xmlns="" id="{CB9B7FE9-DF22-475A-BC92-D9427D795983}"/>
              </a:ext>
            </a:extLst>
          </p:cNvPr>
          <p:cNvSpPr>
            <a:spLocks noGrp="1"/>
          </p:cNvSpPr>
          <p:nvPr/>
        </p:nvSpPr>
        <p:spPr>
          <a:xfrm>
            <a:off x="777240" y="1600200"/>
            <a:ext cx="5120640" cy="1417320"/>
          </a:xfrm>
          <a:prstGeom prst="rect">
            <a:avLst/>
          </a:prstGeom>
          <a:solidFill>
            <a:srgbClr val="FFFFFF"/>
          </a:solidFill>
          <a:ln>
            <a:solidFill>
              <a:srgbClr val="D6D0C5"/>
            </a:solidFill>
          </a:ln>
        </p:spPr>
        <p:txBody>
          <a:bodyPr wrap="square" lIns="1651" tIns="1651" rIns="1651" bIns="1651" anchor="ctr">
            <a:normAutofit/>
          </a:bodyPr>
          <a:lstStyle/>
          <a:p>
            <a:pPr marL="0" indent="0">
              <a:buNone/>
            </a:pPr>
            <a:r>
              <a:rPr sz="1500" dirty="0">
                <a:solidFill>
                  <a:srgbClr val="1F2937"/>
                </a:solidFill>
                <a:latin typeface="Courier New"/>
                <a:ea typeface="Courier New"/>
                <a:cs typeface="Courier New"/>
              </a:rPr>
              <a:t>Prolog rule</a:t>
            </a:r>
          </a:p>
          <a:p>
            <a:pPr marL="0" indent="0">
              <a:buNone/>
            </a:pPr>
            <a:r>
              <a:rPr sz="1500" dirty="0">
                <a:solidFill>
                  <a:srgbClr val="1F2937"/>
                </a:solidFill>
                <a:latin typeface="Courier New"/>
                <a:ea typeface="Courier New"/>
                <a:cs typeface="Courier New"/>
              </a:rPr>
              <a:t>ancestor(X,Y) :- parent(X,Y).</a:t>
            </a:r>
          </a:p>
          <a:p>
            <a:pPr marL="0" indent="0">
              <a:buNone/>
            </a:pPr>
            <a:r>
              <a:rPr sz="1500" dirty="0">
                <a:solidFill>
                  <a:srgbClr val="1F2937"/>
                </a:solidFill>
                <a:latin typeface="Courier New"/>
                <a:ea typeface="Courier New"/>
                <a:cs typeface="Courier New"/>
              </a:rPr>
              <a:t>ancestor(X,Y) :- parent(X,Z), ancestor(Z,Y).</a:t>
            </a:r>
          </a:p>
        </p:txBody>
      </p:sp>
      <p:sp>
        <p:nvSpPr>
          <p:cNvPr id="9" name="Text 7">
            <a:extLst>
              <a:ext uri="{FF2B5EF4-FFF2-40B4-BE49-F238E27FC236}">
                <a16:creationId xmlns:a16="http://schemas.microsoft.com/office/drawing/2014/main" xmlns="" id="{DAC0C906-2A2E-430D-B386-17A520776533}"/>
              </a:ext>
            </a:extLst>
          </p:cNvPr>
          <p:cNvSpPr>
            <a:spLocks noGrp="1"/>
          </p:cNvSpPr>
          <p:nvPr/>
        </p:nvSpPr>
        <p:spPr>
          <a:xfrm>
            <a:off x="6446520" y="1600200"/>
            <a:ext cx="4800600" cy="1417320"/>
          </a:xfrm>
          <a:prstGeom prst="rect">
            <a:avLst/>
          </a:prstGeom>
          <a:solidFill>
            <a:srgbClr val="FFFFFF"/>
          </a:solidFill>
          <a:ln>
            <a:solidFill>
              <a:srgbClr val="D6D0C5"/>
            </a:solidFill>
          </a:ln>
        </p:spPr>
        <p:txBody>
          <a:bodyPr wrap="square" lIns="1778" tIns="1778" rIns="1778" bIns="1778" anchor="ctr">
            <a:normAutofit lnSpcReduction="10000"/>
          </a:bodyPr>
          <a:lstStyle/>
          <a:p>
            <a:pPr marL="0" indent="0">
              <a:buNone/>
            </a:pPr>
            <a:r>
              <a:rPr sz="1900" dirty="0">
                <a:solidFill>
                  <a:srgbClr val="1F2937"/>
                </a:solidFill>
              </a:rPr>
              <a:t>Prompt instruction</a:t>
            </a:r>
          </a:p>
          <a:p>
            <a:pPr marL="0" indent="0">
              <a:buNone/>
            </a:pPr>
            <a:r>
              <a:rPr sz="1900" dirty="0">
                <a:solidFill>
                  <a:srgbClr val="1F2937"/>
                </a:solidFill>
              </a:rPr>
              <a:t>To find an ancestor, trace parent relationships step by </a:t>
            </a:r>
            <a:r>
              <a:rPr sz="1900" dirty="0" smtClean="0">
                <a:solidFill>
                  <a:srgbClr val="1F2937"/>
                </a:solidFill>
              </a:rPr>
              <a:t>step.</a:t>
            </a:r>
            <a:endParaRPr lang="en-US" sz="1900" dirty="0" smtClean="0">
              <a:solidFill>
                <a:srgbClr val="1F2937"/>
              </a:solidFill>
            </a:endParaRPr>
          </a:p>
          <a:p>
            <a:pPr marL="0" indent="0">
              <a:buNone/>
            </a:pPr>
            <a:r>
              <a:rPr lang="en-US" sz="1900" b="1" dirty="0" smtClean="0">
                <a:solidFill>
                  <a:srgbClr val="1F2937"/>
                </a:solidFill>
              </a:rPr>
              <a:t>This is a well formedness condition on the output=ancestor</a:t>
            </a:r>
          </a:p>
        </p:txBody>
      </p:sp>
      <p:sp>
        <p:nvSpPr>
          <p:cNvPr id="10" name="Shape 8">
            <a:extLst>
              <a:ext uri="{FF2B5EF4-FFF2-40B4-BE49-F238E27FC236}">
                <a16:creationId xmlns:a16="http://schemas.microsoft.com/office/drawing/2014/main" xmlns="" id="{C5B8054B-C873-45FB-A699-B37934065D7E}"/>
              </a:ext>
            </a:extLst>
          </p:cNvPr>
          <p:cNvSpPr>
            <a:spLocks noGrp="1"/>
          </p:cNvSpPr>
          <p:nvPr/>
        </p:nvSpPr>
        <p:spPr>
          <a:xfrm>
            <a:off x="5989320" y="2267712"/>
            <a:ext cx="365760" cy="0"/>
          </a:xfrm>
          <a:prstGeom prst="line">
            <a:avLst/>
          </a:prstGeom>
          <a:noFill/>
          <a:ln w="16510">
            <a:solidFill>
              <a:srgbClr val="596273"/>
            </a:solidFill>
            <a:prstDash val="solid"/>
          </a:ln>
        </p:spPr>
      </p:sp>
      <p:sp>
        <p:nvSpPr>
          <p:cNvPr id="11" name="Text 9">
            <a:extLst>
              <a:ext uri="{FF2B5EF4-FFF2-40B4-BE49-F238E27FC236}">
                <a16:creationId xmlns:a16="http://schemas.microsoft.com/office/drawing/2014/main" xmlns="" id="{75EC719E-52D5-4FD2-A9E4-3C622E9CBEE6}"/>
              </a:ext>
            </a:extLst>
          </p:cNvPr>
          <p:cNvSpPr>
            <a:spLocks noGrp="1"/>
          </p:cNvSpPr>
          <p:nvPr/>
        </p:nvSpPr>
        <p:spPr>
          <a:xfrm>
            <a:off x="914400" y="40142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2" name="Text 10">
            <a:extLst>
              <a:ext uri="{FF2B5EF4-FFF2-40B4-BE49-F238E27FC236}">
                <a16:creationId xmlns:a16="http://schemas.microsoft.com/office/drawing/2014/main" xmlns="" id="{97437637-4312-4F20-A93D-C47CAFC2A680}"/>
              </a:ext>
            </a:extLst>
          </p:cNvPr>
          <p:cNvSpPr>
            <a:spLocks noGrp="1"/>
          </p:cNvSpPr>
          <p:nvPr/>
        </p:nvSpPr>
        <p:spPr>
          <a:xfrm>
            <a:off x="1243584" y="397764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Prolog rules are exact.</a:t>
            </a:r>
          </a:p>
        </p:txBody>
      </p:sp>
      <p:sp>
        <p:nvSpPr>
          <p:cNvPr id="13" name="Text 11">
            <a:extLst>
              <a:ext uri="{FF2B5EF4-FFF2-40B4-BE49-F238E27FC236}">
                <a16:creationId xmlns:a16="http://schemas.microsoft.com/office/drawing/2014/main" xmlns="" id="{11F2A063-5B14-4DD6-B9AF-85E1039F0B0C}"/>
              </a:ext>
            </a:extLst>
          </p:cNvPr>
          <p:cNvSpPr>
            <a:spLocks noGrp="1"/>
          </p:cNvSpPr>
          <p:nvPr/>
        </p:nvSpPr>
        <p:spPr>
          <a:xfrm>
            <a:off x="914400" y="455371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2FA6A5C5-3200-45E5-9401-CA405B9C8477}"/>
              </a:ext>
            </a:extLst>
          </p:cNvPr>
          <p:cNvSpPr>
            <a:spLocks noGrp="1"/>
          </p:cNvSpPr>
          <p:nvPr/>
        </p:nvSpPr>
        <p:spPr>
          <a:xfrm>
            <a:off x="1243584" y="451713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Prompt instructions are fuzzier, so you must state edge cases and conflicts clearly.</a:t>
            </a:r>
          </a:p>
        </p:txBody>
      </p:sp>
      <p:sp>
        <p:nvSpPr>
          <p:cNvPr id="15" name="Text 13">
            <a:extLst>
              <a:ext uri="{FF2B5EF4-FFF2-40B4-BE49-F238E27FC236}">
                <a16:creationId xmlns:a16="http://schemas.microsoft.com/office/drawing/2014/main" xmlns="" id="{1817EC5D-3DA4-408F-B858-05EA3FEEDF59}"/>
              </a:ext>
            </a:extLst>
          </p:cNvPr>
          <p:cNvSpPr>
            <a:spLocks noGrp="1"/>
          </p:cNvSpPr>
          <p:nvPr/>
        </p:nvSpPr>
        <p:spPr>
          <a:xfrm>
            <a:off x="914400" y="509320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6" name="Text 14">
            <a:extLst>
              <a:ext uri="{FF2B5EF4-FFF2-40B4-BE49-F238E27FC236}">
                <a16:creationId xmlns:a16="http://schemas.microsoft.com/office/drawing/2014/main" xmlns="" id="{4809A08E-1CF3-4D00-9B40-3F22E0C4A896}"/>
              </a:ext>
            </a:extLst>
          </p:cNvPr>
          <p:cNvSpPr>
            <a:spLocks noGrp="1"/>
          </p:cNvSpPr>
          <p:nvPr/>
        </p:nvSpPr>
        <p:spPr>
          <a:xfrm>
            <a:off x="1243584" y="5056632"/>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The more complete the rules, the more stable the output.</a:t>
            </a:r>
          </a:p>
        </p:txBody>
      </p:sp>
    </p:spTree>
    <p:extLst>
      <p:ext uri="{BB962C8B-B14F-4D97-AF65-F5344CB8AC3E}">
        <p14:creationId xmlns:p14="http://schemas.microsoft.com/office/powerpoint/2010/main" val="7936813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70CB1AA4-9E97-4E95-AA31-D506C4AFFD35}"/>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49AD978-6435-48B6-9680-ECE469D45B5F}"/>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47548AEA-5CAC-4582-BEB4-B476EC6AB578}"/>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59909885-4415-44A9-B42C-CA78638093F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C59BB0EF-3111-4C5A-936A-7D6D26F3E4C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Query ↔ objective</a:t>
            </a:r>
          </a:p>
        </p:txBody>
      </p:sp>
      <p:sp>
        <p:nvSpPr>
          <p:cNvPr id="7" name="Text 5">
            <a:extLst>
              <a:ext uri="{FF2B5EF4-FFF2-40B4-BE49-F238E27FC236}">
                <a16:creationId xmlns:a16="http://schemas.microsoft.com/office/drawing/2014/main" xmlns="" id="{4C41F122-BD80-4869-BF5C-8C89B46AA4C2}"/>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objective is the actual task you ask Claude to perform.</a:t>
            </a:r>
          </a:p>
        </p:txBody>
      </p:sp>
      <p:sp>
        <p:nvSpPr>
          <p:cNvPr id="8" name="Text 6">
            <a:extLst>
              <a:ext uri="{FF2B5EF4-FFF2-40B4-BE49-F238E27FC236}">
                <a16:creationId xmlns:a16="http://schemas.microsoft.com/office/drawing/2014/main" xmlns="" id="{6783B532-D201-4B8A-BE0F-8629B7E466CE}"/>
              </a:ext>
            </a:extLst>
          </p:cNvPr>
          <p:cNvSpPr>
            <a:spLocks noGrp="1"/>
          </p:cNvSpPr>
          <p:nvPr/>
        </p:nvSpPr>
        <p:spPr>
          <a:xfrm>
            <a:off x="822960" y="1828800"/>
            <a:ext cx="3017520" cy="82296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800" b="1">
                <a:solidFill>
                  <a:srgbClr val="1F2937"/>
                </a:solidFill>
              </a:rPr>
              <a:t>Context</a:t>
            </a:r>
          </a:p>
          <a:p>
            <a:pPr marL="0" indent="0" algn="ctr">
              <a:buNone/>
            </a:pPr>
            <a:r>
              <a:rPr sz="1800" b="1">
                <a:solidFill>
                  <a:srgbClr val="1F2937"/>
                </a:solidFill>
              </a:rPr>
              <a:t>Files, definitions, examples</a:t>
            </a:r>
          </a:p>
        </p:txBody>
      </p:sp>
      <p:sp>
        <p:nvSpPr>
          <p:cNvPr id="9" name="Shape 7">
            <a:extLst>
              <a:ext uri="{FF2B5EF4-FFF2-40B4-BE49-F238E27FC236}">
                <a16:creationId xmlns:a16="http://schemas.microsoft.com/office/drawing/2014/main" xmlns="" id="{0DF51CDC-1F7C-460A-8A2C-47D90B725501}"/>
              </a:ext>
            </a:extLst>
          </p:cNvPr>
          <p:cNvSpPr>
            <a:spLocks noGrp="1"/>
          </p:cNvSpPr>
          <p:nvPr/>
        </p:nvSpPr>
        <p:spPr>
          <a:xfrm>
            <a:off x="4023360" y="2240280"/>
            <a:ext cx="64008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EDD2FC29-5248-4154-95FF-C19E2AE3ECBE}"/>
              </a:ext>
            </a:extLst>
          </p:cNvPr>
          <p:cNvSpPr>
            <a:spLocks noGrp="1"/>
          </p:cNvSpPr>
          <p:nvPr/>
        </p:nvSpPr>
        <p:spPr>
          <a:xfrm>
            <a:off x="4846320" y="1828800"/>
            <a:ext cx="2743200" cy="82296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800" b="1">
                <a:solidFill>
                  <a:srgbClr val="1F2937"/>
                </a:solidFill>
              </a:rPr>
              <a:t>Instructions</a:t>
            </a:r>
          </a:p>
          <a:p>
            <a:pPr marL="0" indent="0" algn="ctr">
              <a:buNone/>
            </a:pPr>
            <a:r>
              <a:rPr sz="1800" b="1">
                <a:solidFill>
                  <a:srgbClr val="1F2937"/>
                </a:solidFill>
              </a:rPr>
              <a:t>Rules and constraints</a:t>
            </a:r>
          </a:p>
        </p:txBody>
      </p:sp>
      <p:sp>
        <p:nvSpPr>
          <p:cNvPr id="11" name="Shape 9">
            <a:extLst>
              <a:ext uri="{FF2B5EF4-FFF2-40B4-BE49-F238E27FC236}">
                <a16:creationId xmlns:a16="http://schemas.microsoft.com/office/drawing/2014/main" xmlns="" id="{2E77336D-B395-4BB9-B310-78D342D63EB4}"/>
              </a:ext>
            </a:extLst>
          </p:cNvPr>
          <p:cNvSpPr>
            <a:spLocks noGrp="1"/>
          </p:cNvSpPr>
          <p:nvPr/>
        </p:nvSpPr>
        <p:spPr>
          <a:xfrm>
            <a:off x="7772400" y="2240280"/>
            <a:ext cx="64008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C06F4F7C-B890-4176-BE65-641D0CB90DDD}"/>
              </a:ext>
            </a:extLst>
          </p:cNvPr>
          <p:cNvSpPr>
            <a:spLocks noGrp="1"/>
          </p:cNvSpPr>
          <p:nvPr/>
        </p:nvSpPr>
        <p:spPr>
          <a:xfrm>
            <a:off x="8595360" y="1828800"/>
            <a:ext cx="2743200" cy="82296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800" b="1">
                <a:solidFill>
                  <a:srgbClr val="1F2937"/>
                </a:solidFill>
              </a:rPr>
              <a:t>Objective</a:t>
            </a:r>
          </a:p>
          <a:p>
            <a:pPr marL="0" indent="0" algn="ctr">
              <a:buNone/>
            </a:pPr>
            <a:r>
              <a:rPr sz="1800" b="1">
                <a:solidFill>
                  <a:srgbClr val="1F2937"/>
                </a:solidFill>
              </a:rPr>
              <a:t>Write the program</a:t>
            </a:r>
          </a:p>
        </p:txBody>
      </p:sp>
      <p:sp>
        <p:nvSpPr>
          <p:cNvPr id="13" name="Text 11">
            <a:extLst>
              <a:ext uri="{FF2B5EF4-FFF2-40B4-BE49-F238E27FC236}">
                <a16:creationId xmlns:a16="http://schemas.microsoft.com/office/drawing/2014/main" xmlns="" id="{130DB045-6124-4358-A28E-B3DB5DCE5500}"/>
              </a:ext>
            </a:extLst>
          </p:cNvPr>
          <p:cNvSpPr>
            <a:spLocks noGrp="1"/>
          </p:cNvSpPr>
          <p:nvPr/>
        </p:nvSpPr>
        <p:spPr>
          <a:xfrm>
            <a:off x="1097280" y="4069080"/>
            <a:ext cx="9875520" cy="68580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100" b="1">
                <a:solidFill>
                  <a:srgbClr val="1F2937"/>
                </a:solidFill>
              </a:rPr>
              <a:t>The prompt is not just “write code.” It is “write code that obeys this entire specification.”</a:t>
            </a:r>
          </a:p>
        </p:txBody>
      </p:sp>
    </p:spTree>
    <p:extLst>
      <p:ext uri="{BB962C8B-B14F-4D97-AF65-F5344CB8AC3E}">
        <p14:creationId xmlns:p14="http://schemas.microsoft.com/office/powerpoint/2010/main" val="850248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Evolution of LLMs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56380971"/>
              </p:ext>
            </p:extLst>
          </p:nvPr>
        </p:nvGraphicFramePr>
        <p:xfrm>
          <a:off x="609600" y="1600201"/>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2"/>
          </p:nvPr>
        </p:nvSpPr>
        <p:spPr/>
        <p:txBody>
          <a:bodyPr/>
          <a:lstStyle/>
          <a:p>
            <a:fld id="{7C0EB9A0-BC10-4E22-9EDE-7247F36A1CAB}" type="slidenum">
              <a:rPr lang="en-US" smtClean="0"/>
              <a:t>42</a:t>
            </a:fld>
            <a:endParaRPr lang="en-US"/>
          </a:p>
        </p:txBody>
      </p:sp>
    </p:spTree>
    <p:extLst>
      <p:ext uri="{BB962C8B-B14F-4D97-AF65-F5344CB8AC3E}">
        <p14:creationId xmlns:p14="http://schemas.microsoft.com/office/powerpoint/2010/main" val="6249730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078D6D0-9E3D-4ABE-98DB-93835F4CAB40}"/>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50AD1588-3458-4F53-A0BD-D6C5BDF0A00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92CE3239-828F-467D-8713-A0DBFB056A2B}"/>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FC4778B7-21C1-45B9-93BD-20BBDE5B3EC6}"/>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13DE268-2336-45F0-81CB-E417F51FFF78}"/>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prompt structure for this project</a:t>
            </a:r>
          </a:p>
        </p:txBody>
      </p:sp>
      <p:sp>
        <p:nvSpPr>
          <p:cNvPr id="7" name="Text 5">
            <a:extLst>
              <a:ext uri="{FF2B5EF4-FFF2-40B4-BE49-F238E27FC236}">
                <a16:creationId xmlns:a16="http://schemas.microsoft.com/office/drawing/2014/main" xmlns="" id="{04EB51A4-4DC8-4900-B2B8-5D5EBC7F22C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strong prompt is built from several parts, not one vague request.</a:t>
            </a:r>
          </a:p>
        </p:txBody>
      </p:sp>
      <p:sp>
        <p:nvSpPr>
          <p:cNvPr id="8" name="Text 6">
            <a:extLst>
              <a:ext uri="{FF2B5EF4-FFF2-40B4-BE49-F238E27FC236}">
                <a16:creationId xmlns:a16="http://schemas.microsoft.com/office/drawing/2014/main" xmlns="" id="{B5DCD036-EB55-4AC8-994E-37789AB3C3C4}"/>
              </a:ext>
            </a:extLst>
          </p:cNvPr>
          <p:cNvSpPr>
            <a:spLocks noGrp="1"/>
          </p:cNvSpPr>
          <p:nvPr/>
        </p:nvSpPr>
        <p:spPr>
          <a:xfrm>
            <a:off x="777240" y="1728216"/>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9" name="Text 7">
            <a:extLst>
              <a:ext uri="{FF2B5EF4-FFF2-40B4-BE49-F238E27FC236}">
                <a16:creationId xmlns:a16="http://schemas.microsoft.com/office/drawing/2014/main" xmlns="" id="{9349FC5E-D725-47A1-8E37-3317EDDD6781}"/>
              </a:ext>
            </a:extLst>
          </p:cNvPr>
          <p:cNvSpPr>
            <a:spLocks noGrp="1"/>
          </p:cNvSpPr>
          <p:nvPr/>
        </p:nvSpPr>
        <p:spPr>
          <a:xfrm>
            <a:off x="1106424" y="1691640"/>
            <a:ext cx="10369296" cy="393192"/>
          </a:xfrm>
          <a:prstGeom prst="rect">
            <a:avLst/>
          </a:prstGeom>
          <a:noFill/>
        </p:spPr>
        <p:txBody>
          <a:bodyPr wrap="square" lIns="254" tIns="254" rIns="254" bIns="254" anchor="ctr">
            <a:normAutofit/>
          </a:bodyPr>
          <a:lstStyle/>
          <a:p>
            <a:pPr marL="0" indent="0">
              <a:buNone/>
            </a:pPr>
            <a:r>
              <a:rPr sz="1900">
                <a:solidFill>
                  <a:srgbClr val="1F2937"/>
                </a:solidFill>
              </a:rPr>
              <a:t>Attached files: requirements, examples, output models, structure descriptions.</a:t>
            </a:r>
          </a:p>
        </p:txBody>
      </p:sp>
      <p:sp>
        <p:nvSpPr>
          <p:cNvPr id="10" name="Text 8">
            <a:extLst>
              <a:ext uri="{FF2B5EF4-FFF2-40B4-BE49-F238E27FC236}">
                <a16:creationId xmlns:a16="http://schemas.microsoft.com/office/drawing/2014/main" xmlns="" id="{E9BEE3B4-70F2-4877-BD48-014DB4C42D68}"/>
              </a:ext>
            </a:extLst>
          </p:cNvPr>
          <p:cNvSpPr>
            <a:spLocks noGrp="1"/>
          </p:cNvSpPr>
          <p:nvPr/>
        </p:nvSpPr>
        <p:spPr>
          <a:xfrm>
            <a:off x="777240" y="2249424"/>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1" name="Text 9">
            <a:extLst>
              <a:ext uri="{FF2B5EF4-FFF2-40B4-BE49-F238E27FC236}">
                <a16:creationId xmlns:a16="http://schemas.microsoft.com/office/drawing/2014/main" xmlns="" id="{43538A4B-1F4C-4A89-8596-AEC18F1C635D}"/>
              </a:ext>
            </a:extLst>
          </p:cNvPr>
          <p:cNvSpPr>
            <a:spLocks noGrp="1"/>
          </p:cNvSpPr>
          <p:nvPr/>
        </p:nvSpPr>
        <p:spPr>
          <a:xfrm>
            <a:off x="1106424" y="2212848"/>
            <a:ext cx="10369296" cy="393192"/>
          </a:xfrm>
          <a:prstGeom prst="rect">
            <a:avLst/>
          </a:prstGeom>
          <a:noFill/>
        </p:spPr>
        <p:txBody>
          <a:bodyPr wrap="square" lIns="254" tIns="254" rIns="254" bIns="254" anchor="ctr">
            <a:normAutofit/>
          </a:bodyPr>
          <a:lstStyle/>
          <a:p>
            <a:pPr marL="0" indent="0">
              <a:buNone/>
            </a:pPr>
            <a:r>
              <a:rPr sz="1900">
                <a:solidFill>
                  <a:srgbClr val="1F2937"/>
                </a:solidFill>
              </a:rPr>
              <a:t>Definitions: Central Claim, Theme, Argument, Evidence, canonical labels.</a:t>
            </a:r>
          </a:p>
        </p:txBody>
      </p:sp>
      <p:sp>
        <p:nvSpPr>
          <p:cNvPr id="12" name="Text 10">
            <a:extLst>
              <a:ext uri="{FF2B5EF4-FFF2-40B4-BE49-F238E27FC236}">
                <a16:creationId xmlns:a16="http://schemas.microsoft.com/office/drawing/2014/main" xmlns="" id="{2B590A13-A3CF-4E9C-AD72-616FA497C421}"/>
              </a:ext>
            </a:extLst>
          </p:cNvPr>
          <p:cNvSpPr>
            <a:spLocks noGrp="1"/>
          </p:cNvSpPr>
          <p:nvPr/>
        </p:nvSpPr>
        <p:spPr>
          <a:xfrm>
            <a:off x="777240" y="2770632"/>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3" name="Text 11">
            <a:extLst>
              <a:ext uri="{FF2B5EF4-FFF2-40B4-BE49-F238E27FC236}">
                <a16:creationId xmlns:a16="http://schemas.microsoft.com/office/drawing/2014/main" xmlns="" id="{65C118A6-8069-4EE2-9D06-0432A7DBB9D6}"/>
              </a:ext>
            </a:extLst>
          </p:cNvPr>
          <p:cNvSpPr>
            <a:spLocks noGrp="1"/>
          </p:cNvSpPr>
          <p:nvPr/>
        </p:nvSpPr>
        <p:spPr>
          <a:xfrm>
            <a:off x="1106424" y="2734056"/>
            <a:ext cx="10369296" cy="393192"/>
          </a:xfrm>
          <a:prstGeom prst="rect">
            <a:avLst/>
          </a:prstGeom>
          <a:noFill/>
        </p:spPr>
        <p:txBody>
          <a:bodyPr wrap="square" lIns="254" tIns="254" rIns="254" bIns="254" anchor="ctr">
            <a:normAutofit/>
          </a:bodyPr>
          <a:lstStyle/>
          <a:p>
            <a:pPr marL="0" indent="0">
              <a:buNone/>
            </a:pPr>
            <a:r>
              <a:rPr sz="1900">
                <a:solidFill>
                  <a:srgbClr val="1F2937"/>
                </a:solidFill>
              </a:rPr>
              <a:t>Objective: write a Python program for the five-phase pipeline.</a:t>
            </a:r>
          </a:p>
        </p:txBody>
      </p:sp>
      <p:sp>
        <p:nvSpPr>
          <p:cNvPr id="14" name="Text 12">
            <a:extLst>
              <a:ext uri="{FF2B5EF4-FFF2-40B4-BE49-F238E27FC236}">
                <a16:creationId xmlns:a16="http://schemas.microsoft.com/office/drawing/2014/main" xmlns="" id="{2F8EC44D-7AE0-4637-9E1A-78AF0469AFD3}"/>
              </a:ext>
            </a:extLst>
          </p:cNvPr>
          <p:cNvSpPr>
            <a:spLocks noGrp="1"/>
          </p:cNvSpPr>
          <p:nvPr/>
        </p:nvSpPr>
        <p:spPr>
          <a:xfrm>
            <a:off x="777240" y="3291840"/>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5" name="Text 13">
            <a:extLst>
              <a:ext uri="{FF2B5EF4-FFF2-40B4-BE49-F238E27FC236}">
                <a16:creationId xmlns:a16="http://schemas.microsoft.com/office/drawing/2014/main" xmlns="" id="{A185ACF4-90BF-42F3-84FE-9B0EECD2BA87}"/>
              </a:ext>
            </a:extLst>
          </p:cNvPr>
          <p:cNvSpPr>
            <a:spLocks noGrp="1"/>
          </p:cNvSpPr>
          <p:nvPr/>
        </p:nvSpPr>
        <p:spPr>
          <a:xfrm>
            <a:off x="1106424" y="3255264"/>
            <a:ext cx="10369296" cy="393192"/>
          </a:xfrm>
          <a:prstGeom prst="rect">
            <a:avLst/>
          </a:prstGeom>
          <a:noFill/>
        </p:spPr>
        <p:txBody>
          <a:bodyPr wrap="square" lIns="254" tIns="254" rIns="254" bIns="254" anchor="ctr">
            <a:normAutofit fontScale="92500"/>
          </a:bodyPr>
          <a:lstStyle/>
          <a:p>
            <a:pPr marL="0" indent="0">
              <a:buNone/>
            </a:pPr>
            <a:r>
              <a:rPr sz="1900">
                <a:solidFill>
                  <a:srgbClr val="1F2937"/>
                </a:solidFill>
              </a:rPr>
              <a:t>Roles and tools: programmer, speech analyst, investment analyst, DeepSeek, cosine similarity, string matching.</a:t>
            </a:r>
          </a:p>
        </p:txBody>
      </p:sp>
      <p:sp>
        <p:nvSpPr>
          <p:cNvPr id="16" name="Text 14">
            <a:extLst>
              <a:ext uri="{FF2B5EF4-FFF2-40B4-BE49-F238E27FC236}">
                <a16:creationId xmlns:a16="http://schemas.microsoft.com/office/drawing/2014/main" xmlns="" id="{C7674A32-251A-469C-903F-0BC3FC39A320}"/>
              </a:ext>
            </a:extLst>
          </p:cNvPr>
          <p:cNvSpPr>
            <a:spLocks noGrp="1"/>
          </p:cNvSpPr>
          <p:nvPr/>
        </p:nvSpPr>
        <p:spPr>
          <a:xfrm>
            <a:off x="777240" y="3813048"/>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7" name="Text 15">
            <a:extLst>
              <a:ext uri="{FF2B5EF4-FFF2-40B4-BE49-F238E27FC236}">
                <a16:creationId xmlns:a16="http://schemas.microsoft.com/office/drawing/2014/main" xmlns="" id="{04B4559F-9154-4E74-8138-EFB4FA2CD468}"/>
              </a:ext>
            </a:extLst>
          </p:cNvPr>
          <p:cNvSpPr>
            <a:spLocks noGrp="1"/>
          </p:cNvSpPr>
          <p:nvPr/>
        </p:nvSpPr>
        <p:spPr>
          <a:xfrm>
            <a:off x="1106424" y="3776472"/>
            <a:ext cx="10369296" cy="393192"/>
          </a:xfrm>
          <a:prstGeom prst="rect">
            <a:avLst/>
          </a:prstGeom>
          <a:noFill/>
        </p:spPr>
        <p:txBody>
          <a:bodyPr wrap="square" lIns="254" tIns="254" rIns="254" bIns="254" anchor="ctr">
            <a:normAutofit/>
          </a:bodyPr>
          <a:lstStyle/>
          <a:p>
            <a:pPr marL="0" indent="0">
              <a:buNone/>
            </a:pPr>
            <a:r>
              <a:rPr sz="1900">
                <a:solidFill>
                  <a:srgbClr val="1F2937"/>
                </a:solidFill>
              </a:rPr>
              <a:t>Rules: targets, checkpoints, file names, compatibility, edge cases, no web search.</a:t>
            </a:r>
          </a:p>
        </p:txBody>
      </p:sp>
    </p:spTree>
    <p:extLst>
      <p:ext uri="{BB962C8B-B14F-4D97-AF65-F5344CB8AC3E}">
        <p14:creationId xmlns:p14="http://schemas.microsoft.com/office/powerpoint/2010/main" val="8441010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1561" y="111504"/>
            <a:ext cx="10363200" cy="1470025"/>
          </a:xfrm>
        </p:spPr>
        <p:txBody>
          <a:bodyPr/>
          <a:lstStyle/>
          <a:p>
            <a:r>
              <a:rPr lang="en-US" dirty="0" smtClean="0"/>
              <a:t>THE PROMPT</a:t>
            </a:r>
            <a:endParaRPr lang="en-US" dirty="0"/>
          </a:p>
        </p:txBody>
      </p:sp>
      <p:sp>
        <p:nvSpPr>
          <p:cNvPr id="3" name="Subtitle 2"/>
          <p:cNvSpPr>
            <a:spLocks noGrp="1"/>
          </p:cNvSpPr>
          <p:nvPr>
            <p:ph type="subTitle" idx="1"/>
          </p:nvPr>
        </p:nvSpPr>
        <p:spPr>
          <a:xfrm>
            <a:off x="1801639" y="2009868"/>
            <a:ext cx="8534400" cy="4237024"/>
          </a:xfrm>
        </p:spPr>
        <p:txBody>
          <a:bodyPr>
            <a:normAutofit fontScale="47500" lnSpcReduction="20000"/>
          </a:bodyPr>
          <a:lstStyle/>
          <a:p>
            <a:pPr algn="l"/>
            <a:r>
              <a:rPr lang="en-US" b="1" dirty="0" smtClean="0"/>
              <a:t>This prompt is a gift, a bonus, and perhaps the most important takeaway from this discussion, because:</a:t>
            </a:r>
          </a:p>
          <a:p>
            <a:pPr algn="l"/>
            <a:endParaRPr lang="en-US" dirty="0" smtClean="0"/>
          </a:p>
          <a:p>
            <a:pPr algn="l"/>
            <a:r>
              <a:rPr lang="en-US" dirty="0" smtClean="0"/>
              <a:t>When applied to an LLMA (Large Language Model Agent), this specific prompt can transform the content of virtually any financial channel into an organically structured information corpus capable of answering complex financial questions coherently and consistently.</a:t>
            </a:r>
          </a:p>
          <a:p>
            <a:pPr algn="l"/>
            <a:endParaRPr lang="en-US" dirty="0" smtClean="0"/>
          </a:p>
          <a:p>
            <a:pPr algn="l"/>
            <a:r>
              <a:rPr lang="en-US" dirty="0" smtClean="0"/>
              <a:t>--Caveat: could the birth of this kind of tool mark the beginning of the end of the role of the Human Financial Advisor, as we’ve known it so far?—</a:t>
            </a:r>
          </a:p>
          <a:p>
            <a:pPr algn="l"/>
            <a:endParaRPr lang="en-US" dirty="0" smtClean="0"/>
          </a:p>
          <a:p>
            <a:pPr algn="l"/>
            <a:r>
              <a:rPr lang="en-US" dirty="0" smtClean="0"/>
              <a:t>…………………………………………………………………………………………………………………………………………..</a:t>
            </a:r>
          </a:p>
          <a:p>
            <a:pPr algn="l"/>
            <a:endParaRPr lang="en-US" dirty="0" smtClean="0"/>
          </a:p>
          <a:p>
            <a:pPr algn="l"/>
            <a:r>
              <a:rPr lang="en-US" dirty="0" smtClean="0"/>
              <a:t>We will first present the prompt piece by piece. We will then analyze its structure and explain how it was designed, so that you can understand the principles behind it and learn how to create similarly effective prompts for other purposes.</a:t>
            </a:r>
          </a:p>
          <a:p>
            <a:pPr algn="l"/>
            <a:endParaRPr lang="en-US" dirty="0" smtClean="0"/>
          </a:p>
          <a:p>
            <a:pPr algn="l"/>
            <a:r>
              <a:rPr lang="en-US" dirty="0" smtClean="0"/>
              <a:t>…………………………………………………………………………………………………………………………………………….</a:t>
            </a:r>
          </a:p>
          <a:p>
            <a:pPr algn="l"/>
            <a:endParaRPr lang="en-US" dirty="0" smtClean="0"/>
          </a:p>
          <a:p>
            <a:pPr algn="l"/>
            <a:r>
              <a:rPr lang="en-US" dirty="0" smtClean="0"/>
              <a:t>There are, of course, some requisites before you use the prompt, meaning that you have to have a couple of things already installed in your computer. For a detailed list of those things, please check the VERY LAST SLIDE of this presentation.</a:t>
            </a:r>
          </a:p>
          <a:p>
            <a:pPr algn="l"/>
            <a:endParaRPr lang="en-US" dirty="0"/>
          </a:p>
        </p:txBody>
      </p:sp>
      <p:sp>
        <p:nvSpPr>
          <p:cNvPr id="4" name="Slide Number Placeholder 3"/>
          <p:cNvSpPr>
            <a:spLocks noGrp="1"/>
          </p:cNvSpPr>
          <p:nvPr>
            <p:ph type="sldNum" idx="12"/>
          </p:nvPr>
        </p:nvSpPr>
        <p:spPr/>
        <p:txBody>
          <a:bodyPr/>
          <a:lstStyle/>
          <a:p>
            <a:fld id="{33749B41-47CE-4FC4-9498-EEF687BF6FCF}" type="slidenum">
              <a:rPr lang="en-US" smtClean="0"/>
              <a:pPr/>
              <a:t>44</a:t>
            </a:fld>
            <a:endParaRPr lang="en-US"/>
          </a:p>
        </p:txBody>
      </p:sp>
    </p:spTree>
    <p:extLst>
      <p:ext uri="{BB962C8B-B14F-4D97-AF65-F5344CB8AC3E}">
        <p14:creationId xmlns:p14="http://schemas.microsoft.com/office/powerpoint/2010/main" val="136450467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1 OF THE PROMPT  (FACTS)</a:t>
            </a:r>
            <a:br>
              <a:rPr lang="en-US" dirty="0" smtClean="0"/>
            </a:b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ATTACHMENTS</a:t>
            </a:r>
          </a:p>
          <a:p>
            <a:pPr marL="0" indent="0">
              <a:buNone/>
            </a:pPr>
            <a:endParaRPr lang="en-US" b="1" dirty="0"/>
          </a:p>
          <a:p>
            <a:pPr marL="0" indent="0">
              <a:buNone/>
            </a:pPr>
            <a:r>
              <a:rPr lang="en-US" dirty="0" smtClean="0"/>
              <a:t>Requirements: conda_list.txt</a:t>
            </a:r>
            <a:endParaRPr lang="en-US" dirty="0"/>
          </a:p>
          <a:p>
            <a:pPr marL="0" indent="0">
              <a:buNone/>
            </a:pPr>
            <a:r>
              <a:rPr lang="en-US" dirty="0" smtClean="0"/>
              <a:t>Example </a:t>
            </a:r>
            <a:r>
              <a:rPr lang="en-US" dirty="0"/>
              <a:t>of a typical </a:t>
            </a:r>
            <a:r>
              <a:rPr lang="en-US" dirty="0" smtClean="0"/>
              <a:t>input: 20211111_The </a:t>
            </a:r>
            <a:r>
              <a:rPr lang="en-US" dirty="0"/>
              <a:t>Cost of Money.txt</a:t>
            </a:r>
          </a:p>
          <a:p>
            <a:pPr marL="0" indent="0">
              <a:buNone/>
            </a:pPr>
            <a:r>
              <a:rPr lang="en-US" dirty="0" smtClean="0"/>
              <a:t>Example </a:t>
            </a:r>
            <a:r>
              <a:rPr lang="en-US" dirty="0"/>
              <a:t>of the output or </a:t>
            </a:r>
            <a:r>
              <a:rPr lang="en-US" dirty="0" smtClean="0"/>
              <a:t>outputs: compendium_model.md </a:t>
            </a:r>
            <a:r>
              <a:rPr lang="en-US" dirty="0"/>
              <a:t>&amp; unverifiable_claims_model.md</a:t>
            </a:r>
          </a:p>
          <a:p>
            <a:pPr marL="0" indent="0">
              <a:buNone/>
            </a:pPr>
            <a:r>
              <a:rPr lang="en-US" dirty="0" smtClean="0"/>
              <a:t>Description </a:t>
            </a:r>
            <a:r>
              <a:rPr lang="en-US" dirty="0"/>
              <a:t>of the outputs: </a:t>
            </a:r>
            <a:r>
              <a:rPr lang="en-US" dirty="0" smtClean="0"/>
              <a:t>compendium_StructuralDescription.txt:  contains a description </a:t>
            </a:r>
            <a:r>
              <a:rPr lang="en-US" dirty="0"/>
              <a:t>of nested hierarchy of levels/entities, roles of the levels/entities, entity relationship cardinalities</a:t>
            </a:r>
          </a:p>
          <a:p>
            <a:pPr marL="0" indent="0">
              <a:buNone/>
            </a:pPr>
            <a:endParaRPr lang="en-US" dirty="0"/>
          </a:p>
          <a:p>
            <a:pPr marL="0" indent="0">
              <a:buNone/>
            </a:pPr>
            <a:endParaRPr lang="en-US" dirty="0" smtClean="0"/>
          </a:p>
        </p:txBody>
      </p:sp>
      <p:sp>
        <p:nvSpPr>
          <p:cNvPr id="4" name="Slide Number Placeholder 3"/>
          <p:cNvSpPr>
            <a:spLocks noGrp="1"/>
          </p:cNvSpPr>
          <p:nvPr>
            <p:ph type="sldNum" idx="12"/>
          </p:nvPr>
        </p:nvSpPr>
        <p:spPr/>
        <p:txBody>
          <a:bodyPr/>
          <a:lstStyle/>
          <a:p>
            <a:fld id="{33749B41-47CE-4FC4-9498-EEF687BF6FCF}" type="slidenum">
              <a:rPr lang="en-US" smtClean="0"/>
              <a:pPr/>
              <a:t>45</a:t>
            </a:fld>
            <a:endParaRPr lang="en-US"/>
          </a:p>
        </p:txBody>
      </p:sp>
    </p:spTree>
    <p:extLst>
      <p:ext uri="{BB962C8B-B14F-4D97-AF65-F5344CB8AC3E}">
        <p14:creationId xmlns:p14="http://schemas.microsoft.com/office/powerpoint/2010/main" val="112116121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2 OF THE PROMPT (FACTS)</a:t>
            </a:r>
            <a:br>
              <a:rPr lang="en-US" dirty="0" smtClean="0"/>
            </a:br>
            <a:r>
              <a:rPr lang="en-US" dirty="0" smtClean="0"/>
              <a:t> </a:t>
            </a: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fontScale="47500" lnSpcReduction="20000"/>
          </a:bodyPr>
          <a:lstStyle/>
          <a:p>
            <a:pPr marL="0" indent="0">
              <a:buNone/>
            </a:pPr>
            <a:r>
              <a:rPr lang="en-US" b="1" dirty="0" smtClean="0"/>
              <a:t>DEFINITIONS</a:t>
            </a:r>
          </a:p>
          <a:p>
            <a:pPr marL="0" indent="0">
              <a:buNone/>
            </a:pPr>
            <a:endParaRPr lang="en-US" b="1" dirty="0"/>
          </a:p>
          <a:p>
            <a:pPr marL="0" indent="0">
              <a:buNone/>
            </a:pPr>
            <a:r>
              <a:rPr lang="en-US" dirty="0"/>
              <a:t>Important terms used in the descriptions of the output.</a:t>
            </a:r>
          </a:p>
          <a:p>
            <a:pPr marL="0" indent="0">
              <a:buNone/>
            </a:pPr>
            <a:r>
              <a:rPr lang="en-US" dirty="0"/>
              <a:t>Canonical means </a:t>
            </a:r>
            <a:r>
              <a:rPr lang="en-US" dirty="0" err="1"/>
              <a:t>normalised</a:t>
            </a:r>
            <a:r>
              <a:rPr lang="en-US" dirty="0"/>
              <a:t> and </a:t>
            </a:r>
            <a:r>
              <a:rPr lang="en-US" dirty="0" err="1"/>
              <a:t>deduplicated</a:t>
            </a:r>
            <a:r>
              <a:rPr lang="en-US" dirty="0"/>
              <a:t> across the corpus. </a:t>
            </a:r>
          </a:p>
          <a:p>
            <a:pPr marL="0" indent="0">
              <a:buNone/>
            </a:pPr>
            <a:r>
              <a:rPr lang="en-US" dirty="0"/>
              <a:t>Abbreviations</a:t>
            </a:r>
          </a:p>
          <a:p>
            <a:pPr marL="0" indent="0">
              <a:buNone/>
            </a:pPr>
            <a:r>
              <a:rPr lang="en-US" dirty="0"/>
              <a:t>CC=canonical central claim, T=canonical theme, cc=central claim, t=theme.</a:t>
            </a:r>
          </a:p>
          <a:p>
            <a:pPr marL="0" indent="0">
              <a:buNone/>
            </a:pPr>
            <a:r>
              <a:rPr lang="en-US" dirty="0"/>
              <a:t>Central Claim</a:t>
            </a:r>
          </a:p>
          <a:p>
            <a:pPr marL="0" indent="0">
              <a:buNone/>
            </a:pPr>
            <a:r>
              <a:rPr lang="en-US" dirty="0"/>
              <a:t>A full proposition, with a verb, asserting the speaker’s overarching thesis for a speech or for a canonical cluster of speeches. A good Central Claim is specific enough that some speeches in the corpus clearly do not belong to it.</a:t>
            </a:r>
          </a:p>
          <a:p>
            <a:pPr marL="0" indent="0">
              <a:buNone/>
            </a:pPr>
            <a:r>
              <a:rPr lang="en-US" dirty="0"/>
              <a:t>Theme</a:t>
            </a:r>
          </a:p>
          <a:p>
            <a:pPr marL="0" indent="0">
              <a:buNone/>
            </a:pPr>
            <a:r>
              <a:rPr lang="en-US" dirty="0"/>
              <a:t>A noun phrase, with no verb, naming a SPECIFIC topical sub-domain. Themes are shared across Central Claims and function as a corpus-wide cross-index. Themes must be narrow enough that only 2–5 Central Claims naturally belong to them.</a:t>
            </a:r>
          </a:p>
          <a:p>
            <a:pPr marL="0" indent="0">
              <a:buNone/>
            </a:pPr>
            <a:r>
              <a:rPr lang="en-US" dirty="0"/>
              <a:t>Themes are not subordinate merely to one Central Claim. The same canonical Theme may appear under multiple Central Claims.</a:t>
            </a:r>
          </a:p>
          <a:p>
            <a:pPr marL="0" indent="0">
              <a:buNone/>
            </a:pPr>
            <a:r>
              <a:rPr lang="en-US" dirty="0"/>
              <a:t>Argument</a:t>
            </a:r>
          </a:p>
          <a:p>
            <a:pPr marL="0" indent="0">
              <a:buNone/>
            </a:pPr>
            <a:r>
              <a:rPr lang="en-US" dirty="0"/>
              <a:t>A structured logical unit belonging to one Theme. At the speech level, an argument contains one or more premise clauses and one conclusion clause. At the corpus level, argument conclusions are canonical — </a:t>
            </a:r>
            <a:r>
              <a:rPr lang="en-US" dirty="0" err="1"/>
              <a:t>deduplicated</a:t>
            </a:r>
            <a:r>
              <a:rPr lang="en-US" dirty="0"/>
              <a:t> across speeches.</a:t>
            </a:r>
          </a:p>
          <a:p>
            <a:pPr marL="0" indent="0">
              <a:buNone/>
            </a:pPr>
            <a:r>
              <a:rPr lang="en-US" dirty="0"/>
              <a:t>The meaningful canonical unit is: Canonical Theme × Canonical Central Claim → canonical argument conclusion(s)</a:t>
            </a:r>
          </a:p>
          <a:p>
            <a:pPr marL="0" indent="0">
              <a:buNone/>
            </a:pPr>
            <a:r>
              <a:rPr lang="en-US" dirty="0"/>
              <a:t>Evidence</a:t>
            </a:r>
          </a:p>
          <a:p>
            <a:pPr marL="0" indent="0">
              <a:buNone/>
            </a:pPr>
            <a:r>
              <a:rPr lang="en-US" dirty="0"/>
              <a:t>Empirical or illustrative grounding for the premises: facts, statistics, anecdotes, quoted claims, examples, historical precedents, or cited data.</a:t>
            </a:r>
          </a:p>
          <a:p>
            <a:pPr marL="0" indent="0">
              <a:buNone/>
            </a:pPr>
            <a:r>
              <a:rPr lang="en-US" dirty="0"/>
              <a:t>Notable Analogies &amp; Rhetorical Devices</a:t>
            </a:r>
          </a:p>
          <a:p>
            <a:pPr marL="0" indent="0">
              <a:buNone/>
            </a:pPr>
            <a:r>
              <a:rPr lang="en-US" dirty="0"/>
              <a:t>Significant analogies, metaphors, thought experiments, extended illustrative narratives, slogans, or rhetorical frames used to support or communicate an argument.</a:t>
            </a:r>
          </a:p>
          <a:p>
            <a:endParaRPr lang="en-US" dirty="0"/>
          </a:p>
        </p:txBody>
      </p:sp>
      <p:sp>
        <p:nvSpPr>
          <p:cNvPr id="4" name="Slide Number Placeholder 3"/>
          <p:cNvSpPr>
            <a:spLocks noGrp="1"/>
          </p:cNvSpPr>
          <p:nvPr>
            <p:ph type="sldNum" idx="12"/>
          </p:nvPr>
        </p:nvSpPr>
        <p:spPr/>
        <p:txBody>
          <a:bodyPr/>
          <a:lstStyle/>
          <a:p>
            <a:fld id="{33749B41-47CE-4FC4-9498-EEF687BF6FCF}" type="slidenum">
              <a:rPr lang="en-US" smtClean="0"/>
              <a:pPr/>
              <a:t>46</a:t>
            </a:fld>
            <a:endParaRPr lang="en-US"/>
          </a:p>
        </p:txBody>
      </p:sp>
    </p:spTree>
    <p:extLst>
      <p:ext uri="{BB962C8B-B14F-4D97-AF65-F5344CB8AC3E}">
        <p14:creationId xmlns:p14="http://schemas.microsoft.com/office/powerpoint/2010/main" val="7736727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3 OF THE PROMPT (QUERY)</a:t>
            </a:r>
            <a:br>
              <a:rPr lang="en-US" dirty="0" smtClean="0"/>
            </a:b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OBJECTIVE OF </a:t>
            </a:r>
            <a:r>
              <a:rPr lang="en-US" b="1" dirty="0" smtClean="0"/>
              <a:t>USER</a:t>
            </a:r>
          </a:p>
          <a:p>
            <a:pPr marL="0" indent="0">
              <a:buNone/>
            </a:pPr>
            <a:endParaRPr lang="en-US" b="1" dirty="0"/>
          </a:p>
          <a:p>
            <a:pPr marL="0" indent="0">
              <a:buNone/>
            </a:pPr>
            <a:r>
              <a:rPr lang="en-US" dirty="0"/>
              <a:t>Write a Python program using the </a:t>
            </a:r>
            <a:r>
              <a:rPr lang="en-US" dirty="0" err="1"/>
              <a:t>libaries</a:t>
            </a:r>
            <a:r>
              <a:rPr lang="en-US" dirty="0"/>
              <a:t> available in conda_list.txt that </a:t>
            </a:r>
          </a:p>
          <a:p>
            <a:pPr marL="0" indent="0">
              <a:buNone/>
            </a:pPr>
            <a:r>
              <a:rPr lang="en-US" dirty="0"/>
              <a:t>processes a folder of single-speaker finance, economics, and investment transcripts into a structured compendium and</a:t>
            </a:r>
          </a:p>
          <a:p>
            <a:pPr marL="0" indent="0">
              <a:buNone/>
            </a:pPr>
            <a:r>
              <a:rPr lang="en-US" dirty="0"/>
              <a:t>a structured list of unverifiable claims.</a:t>
            </a:r>
          </a:p>
          <a:p>
            <a:pPr marL="0" indent="0">
              <a:buNone/>
            </a:pPr>
            <a:r>
              <a:rPr lang="en-US" dirty="0"/>
              <a:t>The program should use a Large Language Model as a financial speech-analysis assistant in a five-phase "map-reduce-</a:t>
            </a:r>
            <a:r>
              <a:rPr lang="en-US" dirty="0" err="1"/>
              <a:t>summarisation</a:t>
            </a:r>
            <a:r>
              <a:rPr lang="en-US" dirty="0"/>
              <a:t>" pipeline. </a:t>
            </a:r>
          </a:p>
          <a:p>
            <a:pPr marL="0" indent="0">
              <a:buNone/>
            </a:pPr>
            <a:r>
              <a:rPr lang="en-US" dirty="0"/>
              <a:t>The 5 phases should be: summarize, inventory, consolidate, remap and assemble.</a:t>
            </a:r>
          </a:p>
          <a:p>
            <a:pPr marL="0" indent="0">
              <a:buNone/>
            </a:pPr>
            <a:r>
              <a:rPr lang="en-US" dirty="0"/>
              <a:t>The output should be rich enough to preserve the intellectual structure, evidence, analogies, rhetorical devices, recurring claims, and temporal evolution of a large transcript corpus. The program must not collapse the corpus into a shallow or overly generic summary.</a:t>
            </a:r>
          </a:p>
          <a:p>
            <a:pPr marL="0" indent="0">
              <a:buNone/>
            </a:pPr>
            <a:r>
              <a:rPr lang="en-US" dirty="0"/>
              <a:t>The pipeline itself performs no web search. </a:t>
            </a:r>
          </a:p>
          <a:p>
            <a:pPr marL="0" indent="0">
              <a:buNone/>
            </a:pPr>
            <a:r>
              <a:rPr lang="en-US" dirty="0"/>
              <a:t>Any Verified, Unverifiable, or Disputed labels are produced as part of the transcript-analysis workflow and are not the result of external web verification by the program.</a:t>
            </a:r>
          </a:p>
          <a:p>
            <a:endParaRPr lang="en-US" dirty="0"/>
          </a:p>
        </p:txBody>
      </p:sp>
      <p:sp>
        <p:nvSpPr>
          <p:cNvPr id="4" name="Slide Number Placeholder 3"/>
          <p:cNvSpPr>
            <a:spLocks noGrp="1"/>
          </p:cNvSpPr>
          <p:nvPr>
            <p:ph type="sldNum" idx="12"/>
          </p:nvPr>
        </p:nvSpPr>
        <p:spPr/>
        <p:txBody>
          <a:bodyPr/>
          <a:lstStyle/>
          <a:p>
            <a:fld id="{33749B41-47CE-4FC4-9498-EEF687BF6FCF}" type="slidenum">
              <a:rPr lang="en-US" smtClean="0"/>
              <a:pPr/>
              <a:t>47</a:t>
            </a:fld>
            <a:endParaRPr lang="en-US"/>
          </a:p>
        </p:txBody>
      </p:sp>
    </p:spTree>
    <p:extLst>
      <p:ext uri="{BB962C8B-B14F-4D97-AF65-F5344CB8AC3E}">
        <p14:creationId xmlns:p14="http://schemas.microsoft.com/office/powerpoint/2010/main" val="331397544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4 OF THE PROMPT (DIRECTIVES)</a:t>
            </a:r>
            <a:br>
              <a:rPr lang="en-US" dirty="0" smtClean="0"/>
            </a:b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ROLES</a:t>
            </a:r>
          </a:p>
          <a:p>
            <a:pPr marL="0" indent="0">
              <a:buNone/>
            </a:pPr>
            <a:endParaRPr lang="en-US" b="1" dirty="0"/>
          </a:p>
          <a:p>
            <a:pPr marL="0" indent="0">
              <a:buNone/>
            </a:pPr>
            <a:r>
              <a:rPr lang="en-US" dirty="0" smtClean="0"/>
              <a:t>The roles define the field </a:t>
            </a:r>
            <a:r>
              <a:rPr lang="en-US" dirty="0"/>
              <a:t>of knowledge and associated tools the LLM should </a:t>
            </a:r>
            <a:r>
              <a:rPr lang="en-US" dirty="0" smtClean="0"/>
              <a:t>load.</a:t>
            </a:r>
            <a:endParaRPr lang="en-US" dirty="0"/>
          </a:p>
          <a:p>
            <a:pPr marL="0" indent="0">
              <a:buNone/>
            </a:pPr>
            <a:r>
              <a:rPr lang="en-US" dirty="0" smtClean="0"/>
              <a:t>Expert </a:t>
            </a:r>
            <a:r>
              <a:rPr lang="en-US" dirty="0"/>
              <a:t>AI Python programmer</a:t>
            </a:r>
          </a:p>
          <a:p>
            <a:pPr marL="0" indent="0">
              <a:buNone/>
            </a:pPr>
            <a:r>
              <a:rPr lang="en-US" dirty="0" smtClean="0"/>
              <a:t>Expert </a:t>
            </a:r>
            <a:r>
              <a:rPr lang="en-US" dirty="0"/>
              <a:t>analyst of speeches</a:t>
            </a:r>
          </a:p>
          <a:p>
            <a:pPr marL="0" indent="0">
              <a:buNone/>
            </a:pPr>
            <a:r>
              <a:rPr lang="en-US" dirty="0" smtClean="0"/>
              <a:t>Expert </a:t>
            </a:r>
            <a:r>
              <a:rPr lang="en-US" dirty="0"/>
              <a:t>in investment theory</a:t>
            </a:r>
          </a:p>
          <a:p>
            <a:pPr marL="0" indent="0">
              <a:buNone/>
            </a:pPr>
            <a:endParaRPr lang="en-US" dirty="0"/>
          </a:p>
          <a:p>
            <a:pPr marL="0" indent="0">
              <a:buNone/>
            </a:pPr>
            <a:r>
              <a:rPr lang="en-US" b="1" dirty="0" smtClean="0"/>
              <a:t>TOOLS</a:t>
            </a:r>
          </a:p>
          <a:p>
            <a:pPr marL="0" indent="0">
              <a:buNone/>
            </a:pPr>
            <a:endParaRPr lang="en-US" b="1" dirty="0" smtClean="0"/>
          </a:p>
          <a:p>
            <a:pPr marL="0" indent="0">
              <a:buNone/>
            </a:pPr>
            <a:r>
              <a:rPr lang="en-US" dirty="0" smtClean="0"/>
              <a:t>The tools define the tools the LLM  can include in the program.</a:t>
            </a:r>
            <a:endParaRPr lang="en-US" dirty="0"/>
          </a:p>
          <a:p>
            <a:pPr marL="0" indent="0">
              <a:buNone/>
            </a:pPr>
            <a:r>
              <a:rPr lang="en-US" dirty="0"/>
              <a:t>Do's: LLM semantic reasoning: by </a:t>
            </a:r>
            <a:r>
              <a:rPr lang="en-US" dirty="0" err="1"/>
              <a:t>DeepSeek</a:t>
            </a:r>
            <a:r>
              <a:rPr lang="en-US" dirty="0"/>
              <a:t> V4 Flash, Cosine similarity, String Matching</a:t>
            </a:r>
          </a:p>
          <a:p>
            <a:pPr marL="0" indent="0">
              <a:buNone/>
            </a:pPr>
            <a:r>
              <a:rPr lang="en-US" dirty="0"/>
              <a:t>Don'ts: web search</a:t>
            </a:r>
          </a:p>
          <a:p>
            <a:pPr marL="0" indent="0">
              <a:buNone/>
            </a:pPr>
            <a:endParaRPr lang="en-US" dirty="0"/>
          </a:p>
        </p:txBody>
      </p:sp>
      <p:sp>
        <p:nvSpPr>
          <p:cNvPr id="4" name="TextBox 3"/>
          <p:cNvSpPr txBox="1"/>
          <p:nvPr/>
        </p:nvSpPr>
        <p:spPr>
          <a:xfrm>
            <a:off x="7498080" y="5455920"/>
            <a:ext cx="3891065" cy="369332"/>
          </a:xfrm>
          <a:prstGeom prst="rect">
            <a:avLst/>
          </a:prstGeom>
          <a:noFill/>
        </p:spPr>
        <p:txBody>
          <a:bodyPr wrap="none" rtlCol="0">
            <a:spAutoFit/>
          </a:bodyPr>
          <a:lstStyle/>
          <a:p>
            <a:r>
              <a:rPr lang="en-US" dirty="0" smtClean="0"/>
              <a:t>We cover Prolog Directives next session</a:t>
            </a:r>
            <a:endParaRPr lang="en-US" dirty="0"/>
          </a:p>
        </p:txBody>
      </p:sp>
      <p:sp>
        <p:nvSpPr>
          <p:cNvPr id="5" name="Slide Number Placeholder 4"/>
          <p:cNvSpPr>
            <a:spLocks noGrp="1"/>
          </p:cNvSpPr>
          <p:nvPr>
            <p:ph type="sldNum" idx="12"/>
          </p:nvPr>
        </p:nvSpPr>
        <p:spPr/>
        <p:txBody>
          <a:bodyPr/>
          <a:lstStyle/>
          <a:p>
            <a:fld id="{33749B41-47CE-4FC4-9498-EEF687BF6FCF}" type="slidenum">
              <a:rPr lang="en-US" smtClean="0"/>
              <a:pPr/>
              <a:t>48</a:t>
            </a:fld>
            <a:endParaRPr lang="en-US"/>
          </a:p>
        </p:txBody>
      </p:sp>
    </p:spTree>
    <p:extLst>
      <p:ext uri="{BB962C8B-B14F-4D97-AF65-F5344CB8AC3E}">
        <p14:creationId xmlns:p14="http://schemas.microsoft.com/office/powerpoint/2010/main" val="42003711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5 OF THE PROMPT (FACTS)</a:t>
            </a:r>
            <a:br>
              <a:rPr lang="en-US" dirty="0" smtClean="0"/>
            </a:br>
            <a:r>
              <a:rPr lang="en-US" dirty="0" smtClean="0"/>
              <a:t> </a:t>
            </a: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smtClean="0"/>
              <a:t>INPUTS</a:t>
            </a:r>
          </a:p>
          <a:p>
            <a:pPr marL="0" indent="0">
              <a:buNone/>
            </a:pPr>
            <a:endParaRPr lang="en-US" b="1" dirty="0"/>
          </a:p>
          <a:p>
            <a:pPr marL="0" indent="0">
              <a:buNone/>
            </a:pPr>
            <a:r>
              <a:rPr lang="en-US" dirty="0" smtClean="0"/>
              <a:t>Speech example: video transcript example: 20211111_The </a:t>
            </a:r>
            <a:r>
              <a:rPr lang="en-US" dirty="0"/>
              <a:t>Cost of Money.txt</a:t>
            </a:r>
          </a:p>
          <a:p>
            <a:pPr marL="0" indent="0">
              <a:buNone/>
            </a:pPr>
            <a:r>
              <a:rPr lang="en-US" dirty="0" smtClean="0"/>
              <a:t>Type of file: </a:t>
            </a:r>
            <a:r>
              <a:rPr lang="en-US" dirty="0"/>
              <a:t>txt</a:t>
            </a:r>
          </a:p>
          <a:p>
            <a:pPr marL="0" indent="0">
              <a:buNone/>
            </a:pPr>
            <a:r>
              <a:rPr lang="en-US" dirty="0" smtClean="0"/>
              <a:t>Location of file: </a:t>
            </a:r>
            <a:r>
              <a:rPr lang="en-US" dirty="0"/>
              <a:t>transcripts folder</a:t>
            </a:r>
          </a:p>
          <a:p>
            <a:pPr marL="0" indent="0">
              <a:buNone/>
            </a:pPr>
            <a:r>
              <a:rPr lang="en-US" dirty="0" smtClean="0"/>
              <a:t>Title structure of file: </a:t>
            </a:r>
            <a:r>
              <a:rPr lang="en-US" dirty="0"/>
              <a:t>YYYYMMDD_Title.txt</a:t>
            </a:r>
          </a:p>
          <a:p>
            <a:pPr marL="0" indent="0">
              <a:buNone/>
            </a:pPr>
            <a:r>
              <a:rPr lang="en-US" dirty="0"/>
              <a:t>w</a:t>
            </a:r>
            <a:r>
              <a:rPr lang="en-US" dirty="0" smtClean="0"/>
              <a:t>here: YYYYMMDD </a:t>
            </a:r>
            <a:r>
              <a:rPr lang="en-US" dirty="0"/>
              <a:t>= date of speech</a:t>
            </a:r>
          </a:p>
          <a:p>
            <a:pPr marL="0" indent="0">
              <a:buNone/>
            </a:pPr>
            <a:r>
              <a:rPr lang="en-US" dirty="0"/>
              <a:t>w</a:t>
            </a:r>
            <a:r>
              <a:rPr lang="en-US" dirty="0" smtClean="0"/>
              <a:t>here: Title </a:t>
            </a:r>
            <a:r>
              <a:rPr lang="en-US" dirty="0"/>
              <a:t>= title of speech</a:t>
            </a:r>
          </a:p>
          <a:p>
            <a:pPr marL="0" indent="0">
              <a:buNone/>
            </a:pPr>
            <a:r>
              <a:rPr lang="en-US" dirty="0" smtClean="0"/>
              <a:t>Size of file: </a:t>
            </a:r>
            <a:r>
              <a:rPr lang="en-US" dirty="0"/>
              <a:t>112KB max, 1KB min, 20KB average (relevant to token costs)</a:t>
            </a:r>
          </a:p>
          <a:p>
            <a:pPr marL="0" indent="0">
              <a:buNone/>
            </a:pPr>
            <a:r>
              <a:rPr lang="en-US" dirty="0" smtClean="0"/>
              <a:t>Contents structure of file: </a:t>
            </a:r>
            <a:r>
              <a:rPr lang="en-US" dirty="0"/>
              <a:t>unstructured text</a:t>
            </a:r>
          </a:p>
          <a:p>
            <a:pPr marL="0" indent="0">
              <a:buNone/>
            </a:pPr>
            <a:r>
              <a:rPr lang="en-US" dirty="0"/>
              <a:t>N</a:t>
            </a:r>
            <a:r>
              <a:rPr lang="en-US" dirty="0" smtClean="0"/>
              <a:t>umber of files: </a:t>
            </a:r>
            <a:r>
              <a:rPr lang="en-US" dirty="0"/>
              <a:t>900 (relevant to </a:t>
            </a:r>
            <a:r>
              <a:rPr lang="en-US" dirty="0" err="1"/>
              <a:t>max_tokens</a:t>
            </a:r>
            <a:r>
              <a:rPr lang="en-US" dirty="0"/>
              <a:t>)</a:t>
            </a:r>
          </a:p>
        </p:txBody>
      </p:sp>
      <p:sp>
        <p:nvSpPr>
          <p:cNvPr id="4" name="Slide Number Placeholder 3"/>
          <p:cNvSpPr>
            <a:spLocks noGrp="1"/>
          </p:cNvSpPr>
          <p:nvPr>
            <p:ph type="sldNum" idx="12"/>
          </p:nvPr>
        </p:nvSpPr>
        <p:spPr/>
        <p:txBody>
          <a:bodyPr/>
          <a:lstStyle/>
          <a:p>
            <a:fld id="{33749B41-47CE-4FC4-9498-EEF687BF6FCF}" type="slidenum">
              <a:rPr lang="en-US" smtClean="0"/>
              <a:pPr/>
              <a:t>49</a:t>
            </a:fld>
            <a:endParaRPr lang="en-US"/>
          </a:p>
        </p:txBody>
      </p:sp>
    </p:spTree>
    <p:extLst>
      <p:ext uri="{BB962C8B-B14F-4D97-AF65-F5344CB8AC3E}">
        <p14:creationId xmlns:p14="http://schemas.microsoft.com/office/powerpoint/2010/main" val="29801679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6 OF THE PROMPT (QUERY)</a:t>
            </a:r>
            <a:br>
              <a:rPr lang="en-US" dirty="0" smtClean="0"/>
            </a:br>
            <a:r>
              <a:rPr lang="en-US" dirty="0" smtClean="0"/>
              <a:t> </a:t>
            </a: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FINAL </a:t>
            </a:r>
            <a:r>
              <a:rPr lang="en-US" b="1" dirty="0" smtClean="0"/>
              <a:t>OUTPUTS</a:t>
            </a:r>
          </a:p>
          <a:p>
            <a:pPr marL="0" indent="0">
              <a:buNone/>
            </a:pPr>
            <a:endParaRPr lang="en-US" b="1" dirty="0"/>
          </a:p>
          <a:p>
            <a:pPr marL="0" indent="0">
              <a:buNone/>
            </a:pPr>
            <a:r>
              <a:rPr lang="en-US" dirty="0" smtClean="0"/>
              <a:t>Two final outputs: compendium.md </a:t>
            </a:r>
            <a:r>
              <a:rPr lang="en-US" dirty="0"/>
              <a:t>&amp; unverifiable_claims.md</a:t>
            </a:r>
          </a:p>
          <a:p>
            <a:pPr marL="0" indent="0">
              <a:buNone/>
            </a:pPr>
            <a:r>
              <a:rPr lang="en-US" dirty="0" smtClean="0"/>
              <a:t>Type of file of the outputs: </a:t>
            </a:r>
            <a:r>
              <a:rPr lang="en-US" dirty="0"/>
              <a:t>mark down files</a:t>
            </a:r>
          </a:p>
          <a:p>
            <a:pPr marL="0" indent="0">
              <a:buNone/>
            </a:pPr>
            <a:r>
              <a:rPr lang="en-US" dirty="0" smtClean="0"/>
              <a:t>Location of the outputs: </a:t>
            </a:r>
            <a:r>
              <a:rPr lang="en-US" dirty="0"/>
              <a:t>output folder</a:t>
            </a:r>
          </a:p>
          <a:p>
            <a:pPr marL="0" indent="0">
              <a:buNone/>
            </a:pPr>
            <a:r>
              <a:rPr lang="en-US" dirty="0" smtClean="0"/>
              <a:t>Structure of the outputs: </a:t>
            </a:r>
            <a:endParaRPr lang="en-US" dirty="0"/>
          </a:p>
          <a:p>
            <a:pPr marL="0" indent="0">
              <a:buNone/>
            </a:pPr>
            <a:r>
              <a:rPr lang="en-US" dirty="0"/>
              <a:t>compendium.md should follow the structure of compendium_model.md.</a:t>
            </a:r>
          </a:p>
          <a:p>
            <a:pPr marL="0" indent="0">
              <a:buNone/>
            </a:pPr>
            <a:r>
              <a:rPr lang="en-US" dirty="0"/>
              <a:t>compendium_StructuralDescription.txt describes the ER-diagram of compendium_model.md: </a:t>
            </a:r>
          </a:p>
          <a:p>
            <a:pPr marL="0" indent="0">
              <a:buNone/>
            </a:pPr>
            <a:r>
              <a:rPr lang="en-US" dirty="0"/>
              <a:t>It includes the nested hierarchy of levels/entities, the roles of the levels/entities &amp; the entity relationship cardinalities.</a:t>
            </a:r>
          </a:p>
          <a:p>
            <a:pPr marL="0" indent="0">
              <a:buNone/>
            </a:pPr>
            <a:r>
              <a:rPr lang="en-US" dirty="0"/>
              <a:t>unverifiable_claims.md should follow the structure of unverifable_claims_model.md, where each unverifiable claim includes - SPEECH_REF: {filename} | CLAIM: {claim} | REASON: {reason} | MEMORY: {</a:t>
            </a:r>
            <a:r>
              <a:rPr lang="en-US" dirty="0" err="1"/>
              <a:t>memory_check</a:t>
            </a:r>
            <a:r>
              <a:rPr lang="en-US" dirty="0"/>
              <a:t>: corroborated/contradicted/</a:t>
            </a:r>
            <a:r>
              <a:rPr lang="en-US" dirty="0" err="1"/>
              <a:t>NoInternalBasis</a:t>
            </a:r>
            <a:r>
              <a:rPr lang="en-US" dirty="0" smtClean="0"/>
              <a:t>}</a:t>
            </a:r>
            <a:endParaRPr lang="en-US" dirty="0"/>
          </a:p>
        </p:txBody>
      </p:sp>
      <p:sp>
        <p:nvSpPr>
          <p:cNvPr id="4" name="Slide Number Placeholder 3"/>
          <p:cNvSpPr>
            <a:spLocks noGrp="1"/>
          </p:cNvSpPr>
          <p:nvPr>
            <p:ph type="sldNum" idx="12"/>
          </p:nvPr>
        </p:nvSpPr>
        <p:spPr/>
        <p:txBody>
          <a:bodyPr/>
          <a:lstStyle/>
          <a:p>
            <a:fld id="{33749B41-47CE-4FC4-9498-EEF687BF6FCF}" type="slidenum">
              <a:rPr lang="en-US" smtClean="0"/>
              <a:pPr/>
              <a:t>50</a:t>
            </a:fld>
            <a:endParaRPr lang="en-US"/>
          </a:p>
        </p:txBody>
      </p:sp>
    </p:spTree>
    <p:extLst>
      <p:ext uri="{BB962C8B-B14F-4D97-AF65-F5344CB8AC3E}">
        <p14:creationId xmlns:p14="http://schemas.microsoft.com/office/powerpoint/2010/main" val="311180417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7 OF THE PROMPT (RULES/FACTS)</a:t>
            </a:r>
            <a:br>
              <a:rPr lang="en-US" dirty="0" smtClean="0"/>
            </a:br>
            <a:r>
              <a:rPr lang="en-US" dirty="0" smtClean="0"/>
              <a:t> </a:t>
            </a:r>
            <a:r>
              <a:rPr lang="en-US" sz="3600" dirty="0" smtClean="0"/>
              <a:t>(Transcribe into the LLMA window exactly as it is written below)</a:t>
            </a:r>
            <a:endParaRPr lang="en-US" sz="3600" dirty="0"/>
          </a:p>
        </p:txBody>
      </p:sp>
      <p:sp>
        <p:nvSpPr>
          <p:cNvPr id="3" name="Content Placeholder 2"/>
          <p:cNvSpPr>
            <a:spLocks noGrp="1"/>
          </p:cNvSpPr>
          <p:nvPr>
            <p:ph idx="1"/>
          </p:nvPr>
        </p:nvSpPr>
        <p:spPr>
          <a:xfrm>
            <a:off x="609600" y="1600201"/>
            <a:ext cx="10972800" cy="4927348"/>
          </a:xfrm>
        </p:spPr>
        <p:txBody>
          <a:bodyPr>
            <a:normAutofit fontScale="40000" lnSpcReduction="20000"/>
          </a:bodyPr>
          <a:lstStyle/>
          <a:p>
            <a:pPr marL="0" indent="0">
              <a:buNone/>
            </a:pPr>
            <a:r>
              <a:rPr lang="en-US" b="1" dirty="0"/>
              <a:t>OVERARCHING RULES</a:t>
            </a:r>
          </a:p>
          <a:p>
            <a:pPr marL="0" indent="0">
              <a:buNone/>
            </a:pPr>
            <a:endParaRPr lang="en-US" dirty="0"/>
          </a:p>
          <a:p>
            <a:pPr marL="0" indent="0">
              <a:buNone/>
            </a:pPr>
            <a:r>
              <a:rPr lang="en-US" dirty="0"/>
              <a:t>Target:</a:t>
            </a:r>
          </a:p>
          <a:p>
            <a:pPr marL="0" indent="0">
              <a:buNone/>
            </a:pPr>
            <a:r>
              <a:rPr lang="en-US" dirty="0"/>
              <a:t>•	Canonical CC count should fall within 6%-8% of total corpus size</a:t>
            </a:r>
          </a:p>
          <a:p>
            <a:pPr marL="0" indent="0">
              <a:buNone/>
            </a:pPr>
            <a:r>
              <a:rPr lang="en-US" dirty="0"/>
              <a:t>•	Canonical Themes count should fall within 12%-16% of total corpus </a:t>
            </a:r>
            <a:r>
              <a:rPr lang="en-US" dirty="0" smtClean="0"/>
              <a:t>size</a:t>
            </a:r>
          </a:p>
          <a:p>
            <a:pPr marL="0" indent="0">
              <a:buNone/>
            </a:pPr>
            <a:r>
              <a:rPr lang="en-US" dirty="0"/>
              <a:t>Examples:</a:t>
            </a:r>
          </a:p>
          <a:p>
            <a:pPr marL="0" indent="0">
              <a:buNone/>
            </a:pPr>
            <a:r>
              <a:rPr lang="en-US" dirty="0"/>
              <a:t>If the corpus size is 100, canonical CC should fall within 6-8 and canonical Themes should fall within 12-16.</a:t>
            </a:r>
          </a:p>
          <a:p>
            <a:pPr marL="0" indent="0">
              <a:buNone/>
            </a:pPr>
            <a:r>
              <a:rPr lang="en-US" dirty="0"/>
              <a:t>If the corpus size is 50, canonical CC should fall within 3-4 and canonical Themes should fall within 6-8.</a:t>
            </a:r>
          </a:p>
          <a:p>
            <a:pPr marL="0" indent="0">
              <a:buNone/>
            </a:pPr>
            <a:endParaRPr lang="en-US" dirty="0"/>
          </a:p>
          <a:p>
            <a:pPr marL="0" indent="0">
              <a:buNone/>
            </a:pPr>
            <a:r>
              <a:rPr lang="en-US" dirty="0" smtClean="0"/>
              <a:t>The </a:t>
            </a:r>
            <a:r>
              <a:rPr lang="en-US" dirty="0"/>
              <a:t>title the each input txt file (=YYYYMMDD_Title.txt) contains the speech title (=Title) that is a strong hint of (but not a literal statement of) the central claim of the speech.</a:t>
            </a:r>
          </a:p>
          <a:p>
            <a:pPr marL="0" indent="0">
              <a:buNone/>
            </a:pPr>
            <a:r>
              <a:rPr lang="en-US" dirty="0"/>
              <a:t>The title the each input txt file (=YYYYMMDD_Title.txt) contains the speech date (=YYMMDD) that you can use as date when populating the Evolution Over Time section of compendium.md.</a:t>
            </a:r>
          </a:p>
          <a:p>
            <a:pPr marL="0" indent="0">
              <a:buNone/>
            </a:pPr>
            <a:r>
              <a:rPr lang="en-US" dirty="0"/>
              <a:t>minimum </a:t>
            </a:r>
            <a:r>
              <a:rPr lang="en-US" dirty="0" err="1"/>
              <a:t>max_tokens</a:t>
            </a:r>
            <a:r>
              <a:rPr lang="en-US" dirty="0"/>
              <a:t> = 8000 for any LLM call.</a:t>
            </a:r>
          </a:p>
          <a:p>
            <a:pPr marL="0" indent="0">
              <a:buNone/>
            </a:pPr>
            <a:r>
              <a:rPr lang="en-US" dirty="0"/>
              <a:t>Each phase should be idempotent enough to resume from prior work, include checkpoints.</a:t>
            </a:r>
          </a:p>
          <a:p>
            <a:pPr marL="0" indent="0">
              <a:buNone/>
            </a:pPr>
            <a:r>
              <a:rPr lang="en-US" dirty="0"/>
              <a:t>Load the </a:t>
            </a:r>
            <a:r>
              <a:rPr lang="en-US" dirty="0" err="1"/>
              <a:t>DeepSeek</a:t>
            </a:r>
            <a:r>
              <a:rPr lang="en-US" dirty="0"/>
              <a:t> API key from a .</a:t>
            </a:r>
            <a:r>
              <a:rPr lang="en-US" dirty="0" err="1"/>
              <a:t>env</a:t>
            </a:r>
            <a:r>
              <a:rPr lang="en-US" dirty="0"/>
              <a:t> file.</a:t>
            </a:r>
          </a:p>
          <a:p>
            <a:pPr marL="0" indent="0">
              <a:buNone/>
            </a:pPr>
            <a:r>
              <a:rPr lang="en-US" dirty="0"/>
              <a:t>Obey the compatibility with Python </a:t>
            </a:r>
            <a:r>
              <a:rPr lang="en-US" dirty="0" err="1"/>
              <a:t>Spyder</a:t>
            </a:r>
            <a:r>
              <a:rPr lang="en-US" dirty="0"/>
              <a:t> IDE.</a:t>
            </a:r>
          </a:p>
          <a:p>
            <a:pPr marL="0" indent="0">
              <a:buNone/>
            </a:pPr>
            <a:r>
              <a:rPr lang="en-US" dirty="0"/>
              <a:t>Obey the compatibility with the attachments:  </a:t>
            </a:r>
          </a:p>
          <a:p>
            <a:pPr marL="0" indent="0">
              <a:buNone/>
            </a:pPr>
            <a:r>
              <a:rPr lang="en-US" dirty="0"/>
              <a:t>Obey the nested hierarchy of the entities (CCs, themes, arguments, evidence) described in compendium_StructuralDescription.txt.</a:t>
            </a:r>
          </a:p>
          <a:p>
            <a:pPr marL="0" indent="0">
              <a:buNone/>
            </a:pPr>
            <a:r>
              <a:rPr lang="en-US" dirty="0"/>
              <a:t>Obey the cardinality relations between the entities described in compendium_StructuralDescription.txt.</a:t>
            </a:r>
          </a:p>
          <a:p>
            <a:pPr marL="0" indent="0">
              <a:buNone/>
            </a:pPr>
            <a:r>
              <a:rPr lang="en-US" dirty="0"/>
              <a:t>Obey the structure of claims in unverifiable_claims_model.md.</a:t>
            </a:r>
          </a:p>
          <a:p>
            <a:pPr marL="0" indent="0">
              <a:buNone/>
            </a:pPr>
            <a:r>
              <a:rPr lang="en-US" dirty="0"/>
              <a:t>Obey the compatibility with conda_list.txt.</a:t>
            </a:r>
          </a:p>
          <a:p>
            <a:pPr marL="0" indent="0">
              <a:buNone/>
            </a:pPr>
            <a:r>
              <a:rPr lang="en-US" dirty="0"/>
              <a:t>If the span of time between the oldest and most recent speech is larger than one year, you are strongly encouraged to populate the Evolution Over Time section of the compendium.md.</a:t>
            </a:r>
          </a:p>
          <a:p>
            <a:pPr marL="0" indent="0">
              <a:buNone/>
            </a:pPr>
            <a:endParaRPr lang="en-US" dirty="0"/>
          </a:p>
          <a:p>
            <a:pPr marL="0" indent="0">
              <a:buNone/>
            </a:pPr>
            <a:r>
              <a:rPr lang="en-US" dirty="0" smtClean="0"/>
              <a:t># </a:t>
            </a:r>
            <a:r>
              <a:rPr lang="en-US" dirty="0"/>
              <a:t>── Configuration ─────────────────────────────────────────────────────────────</a:t>
            </a:r>
          </a:p>
          <a:p>
            <a:pPr marL="0" indent="0">
              <a:buNone/>
            </a:pPr>
            <a:endParaRPr lang="en-US" dirty="0"/>
          </a:p>
          <a:p>
            <a:pPr marL="0" indent="0">
              <a:buNone/>
            </a:pPr>
            <a:r>
              <a:rPr lang="en-US" dirty="0"/>
              <a:t># </a:t>
            </a:r>
            <a:r>
              <a:rPr lang="en-US" dirty="0" err="1"/>
              <a:t>DeepSeek</a:t>
            </a:r>
            <a:r>
              <a:rPr lang="en-US" dirty="0"/>
              <a:t> V4 Flash — requires DEEPSEEK_API_KEY in your .</a:t>
            </a:r>
            <a:r>
              <a:rPr lang="en-US" dirty="0" err="1"/>
              <a:t>env</a:t>
            </a:r>
            <a:r>
              <a:rPr lang="en-US" dirty="0"/>
              <a:t> file.</a:t>
            </a:r>
          </a:p>
          <a:p>
            <a:pPr marL="0" indent="0">
              <a:buNone/>
            </a:pPr>
            <a:r>
              <a:rPr lang="en-US" dirty="0"/>
              <a:t>MODEL    = "deepseek-v4-flash"</a:t>
            </a:r>
          </a:p>
          <a:p>
            <a:pPr marL="0" indent="0">
              <a:buNone/>
            </a:pPr>
            <a:r>
              <a:rPr lang="en-US" dirty="0"/>
              <a:t>BASE_URL = "https://api.deepseek.com/v1"</a:t>
            </a:r>
          </a:p>
        </p:txBody>
      </p:sp>
      <p:sp>
        <p:nvSpPr>
          <p:cNvPr id="4" name="Slide Number Placeholder 3"/>
          <p:cNvSpPr>
            <a:spLocks noGrp="1"/>
          </p:cNvSpPr>
          <p:nvPr>
            <p:ph type="sldNum" idx="12"/>
          </p:nvPr>
        </p:nvSpPr>
        <p:spPr/>
        <p:txBody>
          <a:bodyPr/>
          <a:lstStyle/>
          <a:p>
            <a:fld id="{33749B41-47CE-4FC4-9498-EEF687BF6FCF}" type="slidenum">
              <a:rPr lang="en-US" smtClean="0"/>
              <a:pPr/>
              <a:t>51</a:t>
            </a:fld>
            <a:endParaRPr lang="en-US"/>
          </a:p>
        </p:txBody>
      </p:sp>
    </p:spTree>
    <p:extLst>
      <p:ext uri="{BB962C8B-B14F-4D97-AF65-F5344CB8AC3E}">
        <p14:creationId xmlns:p14="http://schemas.microsoft.com/office/powerpoint/2010/main" val="39379536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How to write a Prompt like this</a:t>
            </a:r>
            <a:br>
              <a:rPr lang="en-US" dirty="0" smtClean="0"/>
            </a:br>
            <a:endParaRPr lang="en-US" dirty="0"/>
          </a:p>
        </p:txBody>
      </p:sp>
      <p:sp>
        <p:nvSpPr>
          <p:cNvPr id="5" name="Subtitle 4"/>
          <p:cNvSpPr>
            <a:spLocks noGrp="1"/>
          </p:cNvSpPr>
          <p:nvPr>
            <p:ph type="subTitle" idx="1"/>
          </p:nvPr>
        </p:nvSpPr>
        <p:spPr/>
        <p:txBody>
          <a:bodyPr/>
          <a:lstStyle/>
          <a:p>
            <a:r>
              <a:rPr lang="en-US" dirty="0" smtClean="0"/>
              <a:t>(How was it written)</a:t>
            </a:r>
            <a:endParaRPr lang="en-US" dirty="0"/>
          </a:p>
        </p:txBody>
      </p:sp>
      <p:sp>
        <p:nvSpPr>
          <p:cNvPr id="2" name="Slide Number Placeholder 1"/>
          <p:cNvSpPr>
            <a:spLocks noGrp="1"/>
          </p:cNvSpPr>
          <p:nvPr>
            <p:ph type="sldNum" idx="12"/>
          </p:nvPr>
        </p:nvSpPr>
        <p:spPr/>
        <p:txBody>
          <a:bodyPr/>
          <a:lstStyle/>
          <a:p>
            <a:fld id="{33749B41-47CE-4FC4-9498-EEF687BF6FCF}" type="slidenum">
              <a:rPr lang="en-US" smtClean="0"/>
              <a:pPr/>
              <a:t>52</a:t>
            </a:fld>
            <a:endParaRPr lang="en-US"/>
          </a:p>
        </p:txBody>
      </p:sp>
    </p:spTree>
    <p:extLst>
      <p:ext uri="{BB962C8B-B14F-4D97-AF65-F5344CB8AC3E}">
        <p14:creationId xmlns:p14="http://schemas.microsoft.com/office/powerpoint/2010/main" val="12487797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497C134-AFED-42E0-A3F6-D6DE1224CE8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4B53864-04C2-4710-94FD-812C4A0271E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B3B5F83F-9633-43AC-BA68-6B0F0A765E17}"/>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0F125084-C7FF-4A36-8F40-CB031FDB6D13}"/>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7C4BCDD9-C36F-4E9E-A003-FAFF74D2488C}"/>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Describe the inputs clearly</a:t>
            </a:r>
          </a:p>
        </p:txBody>
      </p:sp>
      <p:sp>
        <p:nvSpPr>
          <p:cNvPr id="7" name="Text 5">
            <a:extLst>
              <a:ext uri="{FF2B5EF4-FFF2-40B4-BE49-F238E27FC236}">
                <a16:creationId xmlns:a16="http://schemas.microsoft.com/office/drawing/2014/main" xmlns="" id="{B58B91F5-D011-4A7F-BC4F-BBFE0B333EB0}"/>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program cannot process files correctly unless the input assumptions are explicit.</a:t>
            </a:r>
          </a:p>
        </p:txBody>
      </p:sp>
      <p:sp>
        <p:nvSpPr>
          <p:cNvPr id="8" name="Text 6">
            <a:extLst>
              <a:ext uri="{FF2B5EF4-FFF2-40B4-BE49-F238E27FC236}">
                <a16:creationId xmlns:a16="http://schemas.microsoft.com/office/drawing/2014/main" xmlns="" id="{248884CD-F971-49AE-B805-1C1B9E4A6FA5}"/>
              </a:ext>
            </a:extLst>
          </p:cNvPr>
          <p:cNvSpPr>
            <a:spLocks noGrp="1"/>
          </p:cNvSpPr>
          <p:nvPr/>
        </p:nvSpPr>
        <p:spPr>
          <a:xfrm>
            <a:off x="777240" y="1664208"/>
            <a:ext cx="2834640" cy="598932"/>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690" b="1">
                <a:solidFill>
                  <a:srgbClr val="1F2937"/>
                </a:solidFill>
              </a:rPr>
              <a:t>Input detail</a:t>
            </a:r>
          </a:p>
        </p:txBody>
      </p:sp>
      <p:sp>
        <p:nvSpPr>
          <p:cNvPr id="9" name="Text 7">
            <a:extLst>
              <a:ext uri="{FF2B5EF4-FFF2-40B4-BE49-F238E27FC236}">
                <a16:creationId xmlns:a16="http://schemas.microsoft.com/office/drawing/2014/main" xmlns="" id="{E94AE103-4333-4525-BFAA-BF1A4BE5E61E}"/>
              </a:ext>
            </a:extLst>
          </p:cNvPr>
          <p:cNvSpPr>
            <a:spLocks noGrp="1"/>
          </p:cNvSpPr>
          <p:nvPr/>
        </p:nvSpPr>
        <p:spPr>
          <a:xfrm>
            <a:off x="3611880" y="1664208"/>
            <a:ext cx="7863840" cy="598932"/>
          </a:xfrm>
          <a:prstGeom prst="rect">
            <a:avLst/>
          </a:prstGeom>
          <a:solidFill>
            <a:srgbClr val="EEEAFE"/>
          </a:solidFill>
          <a:ln w="10160">
            <a:solidFill>
              <a:srgbClr val="D6D0C5"/>
            </a:solidFill>
          </a:ln>
        </p:spPr>
        <p:txBody>
          <a:bodyPr wrap="square" lIns="889" tIns="889" rIns="889" bIns="889" anchor="ctr">
            <a:normAutofit/>
          </a:bodyPr>
          <a:lstStyle/>
          <a:p>
            <a:pPr marL="0" indent="0">
              <a:buNone/>
            </a:pPr>
            <a:r>
              <a:rPr sz="1690" b="1">
                <a:solidFill>
                  <a:srgbClr val="1F2937"/>
                </a:solidFill>
              </a:rPr>
              <a:t>Example used here</a:t>
            </a:r>
          </a:p>
        </p:txBody>
      </p:sp>
      <p:sp>
        <p:nvSpPr>
          <p:cNvPr id="10" name="Text 8">
            <a:extLst>
              <a:ext uri="{FF2B5EF4-FFF2-40B4-BE49-F238E27FC236}">
                <a16:creationId xmlns:a16="http://schemas.microsoft.com/office/drawing/2014/main" xmlns="" id="{857D3797-6186-441C-9768-5730D81C32C2}"/>
              </a:ext>
            </a:extLst>
          </p:cNvPr>
          <p:cNvSpPr>
            <a:spLocks noGrp="1"/>
          </p:cNvSpPr>
          <p:nvPr/>
        </p:nvSpPr>
        <p:spPr>
          <a:xfrm>
            <a:off x="777240" y="2276856"/>
            <a:ext cx="28346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File type</a:t>
            </a:r>
          </a:p>
        </p:txBody>
      </p:sp>
      <p:sp>
        <p:nvSpPr>
          <p:cNvPr id="11" name="Text 9">
            <a:extLst>
              <a:ext uri="{FF2B5EF4-FFF2-40B4-BE49-F238E27FC236}">
                <a16:creationId xmlns:a16="http://schemas.microsoft.com/office/drawing/2014/main" xmlns="" id="{2FC1C224-EE19-4351-B50A-369B779911B2}"/>
              </a:ext>
            </a:extLst>
          </p:cNvPr>
          <p:cNvSpPr>
            <a:spLocks noGrp="1"/>
          </p:cNvSpPr>
          <p:nvPr/>
        </p:nvSpPr>
        <p:spPr>
          <a:xfrm>
            <a:off x="3611880" y="2276856"/>
            <a:ext cx="78638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Text transcripts: .txt</a:t>
            </a:r>
          </a:p>
        </p:txBody>
      </p:sp>
      <p:sp>
        <p:nvSpPr>
          <p:cNvPr id="12" name="Text 10">
            <a:extLst>
              <a:ext uri="{FF2B5EF4-FFF2-40B4-BE49-F238E27FC236}">
                <a16:creationId xmlns:a16="http://schemas.microsoft.com/office/drawing/2014/main" xmlns="" id="{63D1D6F8-7B0D-41DC-95F9-81E5568D00E1}"/>
              </a:ext>
            </a:extLst>
          </p:cNvPr>
          <p:cNvSpPr>
            <a:spLocks noGrp="1"/>
          </p:cNvSpPr>
          <p:nvPr/>
        </p:nvSpPr>
        <p:spPr>
          <a:xfrm>
            <a:off x="777240" y="2889504"/>
            <a:ext cx="28346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Folder</a:t>
            </a:r>
          </a:p>
        </p:txBody>
      </p:sp>
      <p:sp>
        <p:nvSpPr>
          <p:cNvPr id="13" name="Text 11">
            <a:extLst>
              <a:ext uri="{FF2B5EF4-FFF2-40B4-BE49-F238E27FC236}">
                <a16:creationId xmlns:a16="http://schemas.microsoft.com/office/drawing/2014/main" xmlns="" id="{56B9E235-4A48-4078-B49C-2E5BF7012E02}"/>
              </a:ext>
            </a:extLst>
          </p:cNvPr>
          <p:cNvSpPr>
            <a:spLocks noGrp="1"/>
          </p:cNvSpPr>
          <p:nvPr/>
        </p:nvSpPr>
        <p:spPr>
          <a:xfrm>
            <a:off x="3611880" y="2889504"/>
            <a:ext cx="78638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transcripts/</a:t>
            </a:r>
          </a:p>
        </p:txBody>
      </p:sp>
      <p:sp>
        <p:nvSpPr>
          <p:cNvPr id="14" name="Text 12">
            <a:extLst>
              <a:ext uri="{FF2B5EF4-FFF2-40B4-BE49-F238E27FC236}">
                <a16:creationId xmlns:a16="http://schemas.microsoft.com/office/drawing/2014/main" xmlns="" id="{6344FDE7-2F6F-4186-896B-F2797BFE260B}"/>
              </a:ext>
            </a:extLst>
          </p:cNvPr>
          <p:cNvSpPr>
            <a:spLocks noGrp="1"/>
          </p:cNvSpPr>
          <p:nvPr/>
        </p:nvSpPr>
        <p:spPr>
          <a:xfrm>
            <a:off x="777240" y="3502152"/>
            <a:ext cx="28346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File name pattern</a:t>
            </a:r>
          </a:p>
        </p:txBody>
      </p:sp>
      <p:sp>
        <p:nvSpPr>
          <p:cNvPr id="15" name="Text 13">
            <a:extLst>
              <a:ext uri="{FF2B5EF4-FFF2-40B4-BE49-F238E27FC236}">
                <a16:creationId xmlns:a16="http://schemas.microsoft.com/office/drawing/2014/main" xmlns="" id="{DFF89659-F897-4941-A58E-2E5B9E75D3A3}"/>
              </a:ext>
            </a:extLst>
          </p:cNvPr>
          <p:cNvSpPr>
            <a:spLocks noGrp="1"/>
          </p:cNvSpPr>
          <p:nvPr/>
        </p:nvSpPr>
        <p:spPr>
          <a:xfrm>
            <a:off x="3611880" y="3502152"/>
            <a:ext cx="78638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YYYYMMDD_Title.txt</a:t>
            </a:r>
          </a:p>
        </p:txBody>
      </p:sp>
      <p:sp>
        <p:nvSpPr>
          <p:cNvPr id="16" name="Text 14">
            <a:extLst>
              <a:ext uri="{FF2B5EF4-FFF2-40B4-BE49-F238E27FC236}">
                <a16:creationId xmlns:a16="http://schemas.microsoft.com/office/drawing/2014/main" xmlns="" id="{0CE08E5A-32D9-4D01-A09D-D143D3FB9B68}"/>
              </a:ext>
            </a:extLst>
          </p:cNvPr>
          <p:cNvSpPr>
            <a:spLocks noGrp="1"/>
          </p:cNvSpPr>
          <p:nvPr/>
        </p:nvSpPr>
        <p:spPr>
          <a:xfrm>
            <a:off x="777240" y="4114800"/>
            <a:ext cx="28346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Date</a:t>
            </a:r>
          </a:p>
        </p:txBody>
      </p:sp>
      <p:sp>
        <p:nvSpPr>
          <p:cNvPr id="17" name="Text 15">
            <a:extLst>
              <a:ext uri="{FF2B5EF4-FFF2-40B4-BE49-F238E27FC236}">
                <a16:creationId xmlns:a16="http://schemas.microsoft.com/office/drawing/2014/main" xmlns="" id="{05A87482-57EB-4F22-98B4-FF6D94A8686E}"/>
              </a:ext>
            </a:extLst>
          </p:cNvPr>
          <p:cNvSpPr>
            <a:spLocks noGrp="1"/>
          </p:cNvSpPr>
          <p:nvPr/>
        </p:nvSpPr>
        <p:spPr>
          <a:xfrm>
            <a:off x="3611880" y="4114800"/>
            <a:ext cx="78638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The first 8 digits give the speech date</a:t>
            </a:r>
          </a:p>
        </p:txBody>
      </p:sp>
      <p:sp>
        <p:nvSpPr>
          <p:cNvPr id="18" name="Text 16">
            <a:extLst>
              <a:ext uri="{FF2B5EF4-FFF2-40B4-BE49-F238E27FC236}">
                <a16:creationId xmlns:a16="http://schemas.microsoft.com/office/drawing/2014/main" xmlns="" id="{98FE5827-AC76-4B67-BE11-A9BFBF4C25E9}"/>
              </a:ext>
            </a:extLst>
          </p:cNvPr>
          <p:cNvSpPr>
            <a:spLocks noGrp="1"/>
          </p:cNvSpPr>
          <p:nvPr/>
        </p:nvSpPr>
        <p:spPr>
          <a:xfrm>
            <a:off x="777240" y="4727448"/>
            <a:ext cx="28346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Title hint</a:t>
            </a:r>
          </a:p>
        </p:txBody>
      </p:sp>
      <p:sp>
        <p:nvSpPr>
          <p:cNvPr id="19" name="Text 17">
            <a:extLst>
              <a:ext uri="{FF2B5EF4-FFF2-40B4-BE49-F238E27FC236}">
                <a16:creationId xmlns:a16="http://schemas.microsoft.com/office/drawing/2014/main" xmlns="" id="{5C7FDBFC-D454-4843-86B0-1AECF170BBD5}"/>
              </a:ext>
            </a:extLst>
          </p:cNvPr>
          <p:cNvSpPr>
            <a:spLocks noGrp="1"/>
          </p:cNvSpPr>
          <p:nvPr/>
        </p:nvSpPr>
        <p:spPr>
          <a:xfrm>
            <a:off x="3611880" y="4727448"/>
            <a:ext cx="7863840" cy="598932"/>
          </a:xfrm>
          <a:prstGeom prst="rect">
            <a:avLst/>
          </a:prstGeom>
          <a:solidFill>
            <a:srgbClr val="FFFFFF"/>
          </a:solidFill>
          <a:ln w="10160">
            <a:solidFill>
              <a:srgbClr val="D6D0C5"/>
            </a:solidFill>
          </a:ln>
        </p:spPr>
        <p:txBody>
          <a:bodyPr wrap="square" lIns="889" tIns="889" rIns="889" bIns="889" anchor="ctr">
            <a:normAutofit/>
          </a:bodyPr>
          <a:lstStyle/>
          <a:p>
            <a:pPr marL="0" indent="0">
              <a:buNone/>
            </a:pPr>
            <a:r>
              <a:rPr sz="1620">
                <a:solidFill>
                  <a:srgbClr val="1F2937"/>
                </a:solidFill>
              </a:rPr>
              <a:t>The title hints at the central claim but may not state it exactly</a:t>
            </a:r>
          </a:p>
        </p:txBody>
      </p:sp>
    </p:spTree>
    <p:extLst>
      <p:ext uri="{BB962C8B-B14F-4D97-AF65-F5344CB8AC3E}">
        <p14:creationId xmlns:p14="http://schemas.microsoft.com/office/powerpoint/2010/main" val="55283887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BA01F323-FA18-48FF-9C1C-F6A3525FD63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FEA2EEAE-34C4-45F8-AC06-DA0487197272}"/>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EB6AE7BD-39D8-4B2D-8B52-578EDFC3B52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F1E21BF-E776-46CA-9638-341CB51A5365}"/>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1FC2DD02-BBAB-479A-96B2-FDAFD4F93FCA}"/>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CSV file is a title inventory example</a:t>
            </a:r>
          </a:p>
        </p:txBody>
      </p:sp>
      <p:sp>
        <p:nvSpPr>
          <p:cNvPr id="7" name="Text 5">
            <a:extLst>
              <a:ext uri="{FF2B5EF4-FFF2-40B4-BE49-F238E27FC236}">
                <a16:creationId xmlns:a16="http://schemas.microsoft.com/office/drawing/2014/main" xmlns="" id="{00C19AD3-DE79-47A4-A06F-858A68592DF2}"/>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uploaded CSV shows how a channel title list can guide the initial target themes.</a:t>
            </a:r>
          </a:p>
        </p:txBody>
      </p:sp>
      <p:sp>
        <p:nvSpPr>
          <p:cNvPr id="8" name="Text 6">
            <a:extLst>
              <a:ext uri="{FF2B5EF4-FFF2-40B4-BE49-F238E27FC236}">
                <a16:creationId xmlns:a16="http://schemas.microsoft.com/office/drawing/2014/main" xmlns="" id="{84E4B003-FCB0-4B6B-9A15-B20451521565}"/>
              </a:ext>
            </a:extLst>
          </p:cNvPr>
          <p:cNvSpPr>
            <a:spLocks noGrp="1"/>
          </p:cNvSpPr>
          <p:nvPr/>
        </p:nvSpPr>
        <p:spPr>
          <a:xfrm>
            <a:off x="914400" y="1554480"/>
            <a:ext cx="10149840" cy="685800"/>
          </a:xfrm>
          <a:prstGeom prst="rect">
            <a:avLst/>
          </a:prstGeom>
          <a:solidFill>
            <a:srgbClr val="FFFFFF"/>
          </a:solidFill>
          <a:ln>
            <a:solidFill>
              <a:srgbClr val="D6D0C5"/>
            </a:solidFill>
          </a:ln>
        </p:spPr>
        <p:txBody>
          <a:bodyPr wrap="square" lIns="1524" tIns="1524" rIns="1524" bIns="1524" anchor="ctr"/>
          <a:lstStyle/>
          <a:p>
            <a:pPr marL="0" indent="0">
              <a:buNone/>
            </a:pPr>
            <a:r>
              <a:rPr sz="1900">
                <a:solidFill>
                  <a:srgbClr val="1F2937"/>
                </a:solidFill>
                <a:latin typeface="Courier New"/>
                <a:ea typeface="Courier New"/>
                <a:cs typeface="Courier New"/>
              </a:rPr>
              <a:t>Columns in the example CSV:</a:t>
            </a:r>
          </a:p>
          <a:p>
            <a:pPr marL="0" indent="0">
              <a:buNone/>
            </a:pPr>
            <a:r>
              <a:rPr sz="1900">
                <a:solidFill>
                  <a:srgbClr val="1F2937"/>
                </a:solidFill>
                <a:latin typeface="Courier New"/>
                <a:ea typeface="Courier New"/>
                <a:cs typeface="Courier New"/>
              </a:rPr>
              <a:t>video_id | upload_date | video_title</a:t>
            </a:r>
          </a:p>
        </p:txBody>
      </p:sp>
      <p:sp>
        <p:nvSpPr>
          <p:cNvPr id="9" name="Text 7">
            <a:extLst>
              <a:ext uri="{FF2B5EF4-FFF2-40B4-BE49-F238E27FC236}">
                <a16:creationId xmlns:a16="http://schemas.microsoft.com/office/drawing/2014/main" xmlns="" id="{092E8D72-B8C9-4443-BE4C-4158094B6364}"/>
              </a:ext>
            </a:extLst>
          </p:cNvPr>
          <p:cNvSpPr>
            <a:spLocks noGrp="1"/>
          </p:cNvSpPr>
          <p:nvPr/>
        </p:nvSpPr>
        <p:spPr>
          <a:xfrm>
            <a:off x="914400" y="291693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0" name="Text 8">
            <a:extLst>
              <a:ext uri="{FF2B5EF4-FFF2-40B4-BE49-F238E27FC236}">
                <a16:creationId xmlns:a16="http://schemas.microsoft.com/office/drawing/2014/main" xmlns="" id="{47DED20B-B0C2-4437-AC99-FE09BBD39A40}"/>
              </a:ext>
            </a:extLst>
          </p:cNvPr>
          <p:cNvSpPr>
            <a:spLocks noGrp="1"/>
          </p:cNvSpPr>
          <p:nvPr/>
        </p:nvSpPr>
        <p:spPr>
          <a:xfrm>
            <a:off x="1243584" y="2880360"/>
            <a:ext cx="9729216" cy="438912"/>
          </a:xfrm>
          <a:prstGeom prst="rect">
            <a:avLst/>
          </a:prstGeom>
          <a:noFill/>
        </p:spPr>
        <p:txBody>
          <a:bodyPr wrap="square" lIns="254" tIns="254" rIns="254" bIns="254" anchor="ctr">
            <a:normAutofit/>
          </a:bodyPr>
          <a:lstStyle/>
          <a:p>
            <a:pPr marL="0" indent="0">
              <a:buNone/>
            </a:pPr>
            <a:r>
              <a:rPr sz="2000">
                <a:solidFill>
                  <a:srgbClr val="1F2937"/>
                </a:solidFill>
              </a:rPr>
              <a:t>The title list can be analyzed before processing all transcripts.</a:t>
            </a:r>
          </a:p>
        </p:txBody>
      </p:sp>
      <p:sp>
        <p:nvSpPr>
          <p:cNvPr id="11" name="Text 9">
            <a:extLst>
              <a:ext uri="{FF2B5EF4-FFF2-40B4-BE49-F238E27FC236}">
                <a16:creationId xmlns:a16="http://schemas.microsoft.com/office/drawing/2014/main" xmlns="" id="{E7117FD1-C3EB-41B3-AA01-E5136B9CA4AB}"/>
              </a:ext>
            </a:extLst>
          </p:cNvPr>
          <p:cNvSpPr>
            <a:spLocks noGrp="1"/>
          </p:cNvSpPr>
          <p:nvPr/>
        </p:nvSpPr>
        <p:spPr>
          <a:xfrm>
            <a:off x="914400" y="348386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2" name="Text 10">
            <a:extLst>
              <a:ext uri="{FF2B5EF4-FFF2-40B4-BE49-F238E27FC236}">
                <a16:creationId xmlns:a16="http://schemas.microsoft.com/office/drawing/2014/main" xmlns="" id="{A84DC1AC-DF63-4D5F-BA86-2C059DD43606}"/>
              </a:ext>
            </a:extLst>
          </p:cNvPr>
          <p:cNvSpPr>
            <a:spLocks noGrp="1"/>
          </p:cNvSpPr>
          <p:nvPr/>
        </p:nvSpPr>
        <p:spPr>
          <a:xfrm>
            <a:off x="1243584" y="3447288"/>
            <a:ext cx="9729216" cy="438912"/>
          </a:xfrm>
          <a:prstGeom prst="rect">
            <a:avLst/>
          </a:prstGeom>
          <a:noFill/>
        </p:spPr>
        <p:txBody>
          <a:bodyPr wrap="square" lIns="254" tIns="254" rIns="254" bIns="254" anchor="ctr">
            <a:normAutofit/>
          </a:bodyPr>
          <a:lstStyle/>
          <a:p>
            <a:pPr marL="0" indent="0">
              <a:buNone/>
            </a:pPr>
            <a:r>
              <a:rPr sz="2000">
                <a:solidFill>
                  <a:srgbClr val="1F2937"/>
                </a:solidFill>
              </a:rPr>
              <a:t>It helps estimate the broad topics likely to appear in the corpus.</a:t>
            </a:r>
          </a:p>
        </p:txBody>
      </p:sp>
      <p:sp>
        <p:nvSpPr>
          <p:cNvPr id="13" name="Text 11">
            <a:extLst>
              <a:ext uri="{FF2B5EF4-FFF2-40B4-BE49-F238E27FC236}">
                <a16:creationId xmlns:a16="http://schemas.microsoft.com/office/drawing/2014/main" xmlns="" id="{8D214E1D-D1E9-4E50-9A20-ADCF7C183570}"/>
              </a:ext>
            </a:extLst>
          </p:cNvPr>
          <p:cNvSpPr>
            <a:spLocks noGrp="1"/>
          </p:cNvSpPr>
          <p:nvPr/>
        </p:nvSpPr>
        <p:spPr>
          <a:xfrm>
            <a:off x="914400" y="405079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7653DA4E-9ED8-484F-B043-78D6A6EB99D9}"/>
              </a:ext>
            </a:extLst>
          </p:cNvPr>
          <p:cNvSpPr>
            <a:spLocks noGrp="1"/>
          </p:cNvSpPr>
          <p:nvPr/>
        </p:nvSpPr>
        <p:spPr>
          <a:xfrm>
            <a:off x="1243584" y="4014216"/>
            <a:ext cx="9729216" cy="438912"/>
          </a:xfrm>
          <a:prstGeom prst="rect">
            <a:avLst/>
          </a:prstGeom>
          <a:noFill/>
        </p:spPr>
        <p:txBody>
          <a:bodyPr wrap="square" lIns="254" tIns="254" rIns="254" bIns="254" anchor="ctr">
            <a:normAutofit/>
          </a:bodyPr>
          <a:lstStyle/>
          <a:p>
            <a:pPr marL="0" indent="0">
              <a:buNone/>
            </a:pPr>
            <a:r>
              <a:rPr sz="2000">
                <a:solidFill>
                  <a:srgbClr val="1F2937"/>
                </a:solidFill>
              </a:rPr>
              <a:t>It is not a substitute for transcripts, because a title is only a hint.</a:t>
            </a:r>
          </a:p>
        </p:txBody>
      </p:sp>
      <p:sp>
        <p:nvSpPr>
          <p:cNvPr id="15" name="Text 13">
            <a:extLst>
              <a:ext uri="{FF2B5EF4-FFF2-40B4-BE49-F238E27FC236}">
                <a16:creationId xmlns:a16="http://schemas.microsoft.com/office/drawing/2014/main" xmlns="" id="{FDBFF2DA-7D17-4BDF-A565-3EDD903CC7C4}"/>
              </a:ext>
            </a:extLst>
          </p:cNvPr>
          <p:cNvSpPr>
            <a:spLocks noGrp="1"/>
          </p:cNvSpPr>
          <p:nvPr/>
        </p:nvSpPr>
        <p:spPr>
          <a:xfrm>
            <a:off x="1143000" y="507492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000" b="1">
                <a:solidFill>
                  <a:srgbClr val="1F2937"/>
                </a:solidFill>
              </a:rPr>
              <a:t>Use titles to prepare the initial map of themes; use transcripts to build the actual compendium.</a:t>
            </a:r>
          </a:p>
        </p:txBody>
      </p:sp>
    </p:spTree>
    <p:extLst>
      <p:ext uri="{BB962C8B-B14F-4D97-AF65-F5344CB8AC3E}">
        <p14:creationId xmlns:p14="http://schemas.microsoft.com/office/powerpoint/2010/main" val="18431009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 Titles</a:t>
            </a:r>
            <a:endParaRPr lang="en-US"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692484"/>
            <a:ext cx="10972800" cy="43413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7C0EB9A0-BC10-4E22-9EDE-7247F36A1CAB}" type="slidenum">
              <a:rPr lang="en-US" smtClean="0"/>
              <a:t>55</a:t>
            </a:fld>
            <a:endParaRPr lang="en-US"/>
          </a:p>
        </p:txBody>
      </p:sp>
    </p:spTree>
    <p:extLst>
      <p:ext uri="{BB962C8B-B14F-4D97-AF65-F5344CB8AC3E}">
        <p14:creationId xmlns:p14="http://schemas.microsoft.com/office/powerpoint/2010/main" val="102233896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 Themes</a:t>
            </a:r>
            <a:endParaRPr lang="en-US" dirty="0"/>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5136" y="1600201"/>
            <a:ext cx="6801729"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7C0EB9A0-BC10-4E22-9EDE-7247F36A1CAB}" type="slidenum">
              <a:rPr lang="en-US" smtClean="0"/>
              <a:t>56</a:t>
            </a:fld>
            <a:endParaRPr lang="en-US"/>
          </a:p>
        </p:txBody>
      </p:sp>
    </p:spTree>
    <p:extLst>
      <p:ext uri="{BB962C8B-B14F-4D97-AF65-F5344CB8AC3E}">
        <p14:creationId xmlns:p14="http://schemas.microsoft.com/office/powerpoint/2010/main" val="24139932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98C3EEFB-9912-4CFC-ADAC-5B76233FFA3D}"/>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9F954878-0300-4BE8-AD55-0D318799B4A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0253A52B-EC7F-4298-BF48-1571A232A2D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A132BE2-2549-4542-BD0A-B228CE3C7138}"/>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A746B485-8CED-4AA3-BEA2-873529FF34E4}"/>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Describe the outputs clearly</a:t>
            </a:r>
          </a:p>
        </p:txBody>
      </p:sp>
      <p:sp>
        <p:nvSpPr>
          <p:cNvPr id="7" name="Text 5">
            <a:extLst>
              <a:ext uri="{FF2B5EF4-FFF2-40B4-BE49-F238E27FC236}">
                <a16:creationId xmlns:a16="http://schemas.microsoft.com/office/drawing/2014/main" xmlns="" id="{ABAFB237-7BE6-4885-BE61-E612128F387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best way to make the program reliable is to define the final file format in advance.</a:t>
            </a:r>
          </a:p>
        </p:txBody>
      </p:sp>
      <p:sp>
        <p:nvSpPr>
          <p:cNvPr id="8" name="Text 6">
            <a:extLst>
              <a:ext uri="{FF2B5EF4-FFF2-40B4-BE49-F238E27FC236}">
                <a16:creationId xmlns:a16="http://schemas.microsoft.com/office/drawing/2014/main" xmlns="" id="{16FE60B9-387C-46DF-88F8-28F8460B9B93}"/>
              </a:ext>
            </a:extLst>
          </p:cNvPr>
          <p:cNvSpPr>
            <a:spLocks noGrp="1"/>
          </p:cNvSpPr>
          <p:nvPr/>
        </p:nvSpPr>
        <p:spPr>
          <a:xfrm>
            <a:off x="868680" y="172821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6E0E3FC0-5021-4E32-9B71-B7451C29EDA9}"/>
              </a:ext>
            </a:extLst>
          </p:cNvPr>
          <p:cNvSpPr>
            <a:spLocks noGrp="1"/>
          </p:cNvSpPr>
          <p:nvPr/>
        </p:nvSpPr>
        <p:spPr>
          <a:xfrm>
            <a:off x="1197864" y="1691640"/>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compendium.md must follow the compendium model.</a:t>
            </a:r>
          </a:p>
        </p:txBody>
      </p:sp>
      <p:sp>
        <p:nvSpPr>
          <p:cNvPr id="10" name="Text 8">
            <a:extLst>
              <a:ext uri="{FF2B5EF4-FFF2-40B4-BE49-F238E27FC236}">
                <a16:creationId xmlns:a16="http://schemas.microsoft.com/office/drawing/2014/main" xmlns="" id="{DB153A35-5522-4506-B8E4-09F960738660}"/>
              </a:ext>
            </a:extLst>
          </p:cNvPr>
          <p:cNvSpPr>
            <a:spLocks noGrp="1"/>
          </p:cNvSpPr>
          <p:nvPr/>
        </p:nvSpPr>
        <p:spPr>
          <a:xfrm>
            <a:off x="868680" y="231343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D48D8572-B0F4-4F76-B1FD-58B17034E571}"/>
              </a:ext>
            </a:extLst>
          </p:cNvPr>
          <p:cNvSpPr>
            <a:spLocks noGrp="1"/>
          </p:cNvSpPr>
          <p:nvPr/>
        </p:nvSpPr>
        <p:spPr>
          <a:xfrm>
            <a:off x="1197864" y="2276856"/>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unverifiable_claims.md must follow the unverifiable claims model.</a:t>
            </a:r>
          </a:p>
        </p:txBody>
      </p:sp>
      <p:sp>
        <p:nvSpPr>
          <p:cNvPr id="12" name="Text 10">
            <a:extLst>
              <a:ext uri="{FF2B5EF4-FFF2-40B4-BE49-F238E27FC236}">
                <a16:creationId xmlns:a16="http://schemas.microsoft.com/office/drawing/2014/main" xmlns="" id="{E8C106C6-D7A7-41C2-BC00-A6D6D998D5EC}"/>
              </a:ext>
            </a:extLst>
          </p:cNvPr>
          <p:cNvSpPr>
            <a:spLocks noGrp="1"/>
          </p:cNvSpPr>
          <p:nvPr/>
        </p:nvSpPr>
        <p:spPr>
          <a:xfrm>
            <a:off x="868680" y="289864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939C4118-A02A-416F-9172-52533EA848F7}"/>
              </a:ext>
            </a:extLst>
          </p:cNvPr>
          <p:cNvSpPr>
            <a:spLocks noGrp="1"/>
          </p:cNvSpPr>
          <p:nvPr/>
        </p:nvSpPr>
        <p:spPr>
          <a:xfrm>
            <a:off x="1197864" y="2862072"/>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The structural description defines entity roles and relationships.</a:t>
            </a:r>
          </a:p>
        </p:txBody>
      </p:sp>
      <p:sp>
        <p:nvSpPr>
          <p:cNvPr id="14" name="Text 12">
            <a:extLst>
              <a:ext uri="{FF2B5EF4-FFF2-40B4-BE49-F238E27FC236}">
                <a16:creationId xmlns:a16="http://schemas.microsoft.com/office/drawing/2014/main" xmlns="" id="{B559CC59-79CD-4945-833B-46E33D60EF65}"/>
              </a:ext>
            </a:extLst>
          </p:cNvPr>
          <p:cNvSpPr>
            <a:spLocks noGrp="1"/>
          </p:cNvSpPr>
          <p:nvPr/>
        </p:nvSpPr>
        <p:spPr>
          <a:xfrm>
            <a:off x="868680" y="348386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E2C37445-508B-4C31-A7BB-B703A7D550BA}"/>
              </a:ext>
            </a:extLst>
          </p:cNvPr>
          <p:cNvSpPr>
            <a:spLocks noGrp="1"/>
          </p:cNvSpPr>
          <p:nvPr/>
        </p:nvSpPr>
        <p:spPr>
          <a:xfrm>
            <a:off x="1197864" y="3447288"/>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Examples show Claude what a correct output should look like.</a:t>
            </a:r>
          </a:p>
        </p:txBody>
      </p:sp>
      <p:sp>
        <p:nvSpPr>
          <p:cNvPr id="16" name="Text 14">
            <a:extLst>
              <a:ext uri="{FF2B5EF4-FFF2-40B4-BE49-F238E27FC236}">
                <a16:creationId xmlns:a16="http://schemas.microsoft.com/office/drawing/2014/main" xmlns="" id="{89129619-C543-42A3-A00B-DC55B8A53029}"/>
              </a:ext>
            </a:extLst>
          </p:cNvPr>
          <p:cNvSpPr>
            <a:spLocks noGrp="1"/>
          </p:cNvSpPr>
          <p:nvPr/>
        </p:nvSpPr>
        <p:spPr>
          <a:xfrm>
            <a:off x="1051560" y="4754880"/>
            <a:ext cx="10058400" cy="713232"/>
          </a:xfrm>
          <a:prstGeom prst="rect">
            <a:avLst/>
          </a:prstGeom>
          <a:solidFill>
            <a:srgbClr val="EEEAFE"/>
          </a:solidFill>
          <a:ln w="15240">
            <a:solidFill>
              <a:srgbClr val="40319B"/>
            </a:solidFill>
          </a:ln>
        </p:spPr>
        <p:txBody>
          <a:bodyPr wrap="square" lIns="1778" tIns="1778" rIns="1778" bIns="1778" anchor="ctr">
            <a:normAutofit/>
          </a:bodyPr>
          <a:lstStyle/>
          <a:p>
            <a:pPr marL="0" indent="0">
              <a:buNone/>
            </a:pPr>
            <a:r>
              <a:rPr sz="2100" b="1">
                <a:solidFill>
                  <a:srgbClr val="1F2937"/>
                </a:solidFill>
              </a:rPr>
              <a:t>Do not merely ask for “a summary.” Ask for a specific document with a specific structure.</a:t>
            </a:r>
          </a:p>
        </p:txBody>
      </p:sp>
    </p:spTree>
    <p:extLst>
      <p:ext uri="{BB962C8B-B14F-4D97-AF65-F5344CB8AC3E}">
        <p14:creationId xmlns:p14="http://schemas.microsoft.com/office/powerpoint/2010/main" val="7530477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BD53B3B-4E08-4A0D-954B-5E667F3AEA7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C88FA00A-5ACE-43F7-8FAB-E725DB663973}"/>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8FEE64C8-B01E-49C9-A1BA-9B08577F267B}"/>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BFA18B28-AA0D-43DF-BE21-F8772260CEF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ECC9EA1-DB10-4252-B434-84AA4BBB0EBF}"/>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Roles and tools</a:t>
            </a:r>
          </a:p>
        </p:txBody>
      </p:sp>
      <p:sp>
        <p:nvSpPr>
          <p:cNvPr id="7" name="Text 5">
            <a:extLst>
              <a:ext uri="{FF2B5EF4-FFF2-40B4-BE49-F238E27FC236}">
                <a16:creationId xmlns:a16="http://schemas.microsoft.com/office/drawing/2014/main" xmlns="" id="{E9D9ECA7-A7FD-47A9-881B-2D828895999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prompt tells Claude what expertise to simulate and what tools the program may use.</a:t>
            </a:r>
          </a:p>
        </p:txBody>
      </p:sp>
      <p:sp>
        <p:nvSpPr>
          <p:cNvPr id="8" name="Text 6">
            <a:extLst>
              <a:ext uri="{FF2B5EF4-FFF2-40B4-BE49-F238E27FC236}">
                <a16:creationId xmlns:a16="http://schemas.microsoft.com/office/drawing/2014/main" xmlns="" id="{7A5833DC-B613-40BE-8258-6611178B8D82}"/>
              </a:ext>
            </a:extLst>
          </p:cNvPr>
          <p:cNvSpPr>
            <a:spLocks noGrp="1"/>
          </p:cNvSpPr>
          <p:nvPr/>
        </p:nvSpPr>
        <p:spPr>
          <a:xfrm>
            <a:off x="914400" y="1828800"/>
            <a:ext cx="4389120" cy="132588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900" b="1">
                <a:solidFill>
                  <a:srgbClr val="1F2937"/>
                </a:solidFill>
              </a:rPr>
              <a:t>Roles</a:t>
            </a:r>
          </a:p>
          <a:p>
            <a:pPr marL="0" indent="0" algn="ctr">
              <a:buNone/>
            </a:pPr>
            <a:r>
              <a:rPr sz="1900" b="1">
                <a:solidFill>
                  <a:srgbClr val="1F2937"/>
                </a:solidFill>
              </a:rPr>
              <a:t>AI Python programmer</a:t>
            </a:r>
          </a:p>
          <a:p>
            <a:pPr marL="0" indent="0" algn="ctr">
              <a:buNone/>
            </a:pPr>
            <a:r>
              <a:rPr sz="1900" b="1">
                <a:solidFill>
                  <a:srgbClr val="1F2937"/>
                </a:solidFill>
              </a:rPr>
              <a:t>Speech analyst</a:t>
            </a:r>
          </a:p>
          <a:p>
            <a:pPr marL="0" indent="0" algn="ctr">
              <a:buNone/>
            </a:pPr>
            <a:r>
              <a:rPr sz="1900" b="1">
                <a:solidFill>
                  <a:srgbClr val="1F2937"/>
                </a:solidFill>
              </a:rPr>
              <a:t>Investment analyst</a:t>
            </a:r>
          </a:p>
        </p:txBody>
      </p:sp>
      <p:sp>
        <p:nvSpPr>
          <p:cNvPr id="9" name="Text 7">
            <a:extLst>
              <a:ext uri="{FF2B5EF4-FFF2-40B4-BE49-F238E27FC236}">
                <a16:creationId xmlns:a16="http://schemas.microsoft.com/office/drawing/2014/main" xmlns="" id="{03C9FA16-ED6E-4EBD-8064-7C1E7A3A4B98}"/>
              </a:ext>
            </a:extLst>
          </p:cNvPr>
          <p:cNvSpPr>
            <a:spLocks noGrp="1"/>
          </p:cNvSpPr>
          <p:nvPr/>
        </p:nvSpPr>
        <p:spPr>
          <a:xfrm>
            <a:off x="6400800" y="1828800"/>
            <a:ext cx="4389120" cy="132588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900" b="1">
                <a:solidFill>
                  <a:srgbClr val="1F2937"/>
                </a:solidFill>
              </a:rPr>
              <a:t>Tools</a:t>
            </a:r>
          </a:p>
          <a:p>
            <a:pPr marL="0" indent="0" algn="ctr">
              <a:buNone/>
            </a:pPr>
            <a:r>
              <a:rPr sz="1900" b="1">
                <a:solidFill>
                  <a:srgbClr val="1F2937"/>
                </a:solidFill>
              </a:rPr>
              <a:t>DeepSeek semantic reasoning</a:t>
            </a:r>
          </a:p>
          <a:p>
            <a:pPr marL="0" indent="0" algn="ctr">
              <a:buNone/>
            </a:pPr>
            <a:r>
              <a:rPr sz="1900" b="1">
                <a:solidFill>
                  <a:srgbClr val="1F2937"/>
                </a:solidFill>
              </a:rPr>
              <a:t>Cosine similarity</a:t>
            </a:r>
          </a:p>
          <a:p>
            <a:pPr marL="0" indent="0" algn="ctr">
              <a:buNone/>
            </a:pPr>
            <a:r>
              <a:rPr sz="1900" b="1">
                <a:solidFill>
                  <a:srgbClr val="1F2937"/>
                </a:solidFill>
              </a:rPr>
              <a:t>String matching</a:t>
            </a:r>
          </a:p>
        </p:txBody>
      </p:sp>
      <p:sp>
        <p:nvSpPr>
          <p:cNvPr id="10" name="Text 8">
            <a:extLst>
              <a:ext uri="{FF2B5EF4-FFF2-40B4-BE49-F238E27FC236}">
                <a16:creationId xmlns:a16="http://schemas.microsoft.com/office/drawing/2014/main" xmlns="" id="{01A4A646-5C8D-4DBD-94A6-EA82BD6EF4E0}"/>
              </a:ext>
            </a:extLst>
          </p:cNvPr>
          <p:cNvSpPr>
            <a:spLocks noGrp="1"/>
          </p:cNvSpPr>
          <p:nvPr/>
        </p:nvSpPr>
        <p:spPr>
          <a:xfrm>
            <a:off x="1143000" y="4572000"/>
            <a:ext cx="9875520" cy="685800"/>
          </a:xfrm>
          <a:prstGeom prst="rect">
            <a:avLst/>
          </a:prstGeom>
          <a:solidFill>
            <a:srgbClr val="FDECEC"/>
          </a:solidFill>
          <a:ln w="15240">
            <a:solidFill>
              <a:srgbClr val="9B1C1C"/>
            </a:solidFill>
          </a:ln>
        </p:spPr>
        <p:txBody>
          <a:bodyPr wrap="square" lIns="1778" tIns="1778" rIns="1778" bIns="1778" anchor="ctr">
            <a:normAutofit/>
          </a:bodyPr>
          <a:lstStyle/>
          <a:p>
            <a:pPr marL="0" indent="0">
              <a:buNone/>
            </a:pPr>
            <a:r>
              <a:rPr sz="2000" b="1">
                <a:solidFill>
                  <a:srgbClr val="1F2937"/>
                </a:solidFill>
              </a:rPr>
              <a:t>Also state what the program must not use: in this case, no web search inside the pipeline.</a:t>
            </a:r>
          </a:p>
        </p:txBody>
      </p:sp>
    </p:spTree>
    <p:extLst>
      <p:ext uri="{BB962C8B-B14F-4D97-AF65-F5344CB8AC3E}">
        <p14:creationId xmlns:p14="http://schemas.microsoft.com/office/powerpoint/2010/main" val="9992743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97BE3F7-57C6-4707-AAF9-38E45A733684}"/>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B5895D80-9531-43DE-9683-C06449511F14}"/>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6F86D2AB-A8BF-4D86-9F08-896D18075801}"/>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4B0B7EC-9CB0-468B-9D85-3BD5E4E51608}"/>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CD206CA0-4140-4D4A-93C3-DB19CA841961}"/>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Rules make the prompt more deterministic</a:t>
            </a:r>
          </a:p>
        </p:txBody>
      </p:sp>
      <p:sp>
        <p:nvSpPr>
          <p:cNvPr id="7" name="Text 5">
            <a:extLst>
              <a:ext uri="{FF2B5EF4-FFF2-40B4-BE49-F238E27FC236}">
                <a16:creationId xmlns:a16="http://schemas.microsoft.com/office/drawing/2014/main" xmlns="" id="{701C4FB7-5CBF-4826-8034-86EC78175290}"/>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LLMs are not perfectly deterministic, but rules reduce ambiguity.</a:t>
            </a:r>
          </a:p>
        </p:txBody>
      </p:sp>
      <p:sp>
        <p:nvSpPr>
          <p:cNvPr id="8" name="Text 6">
            <a:extLst>
              <a:ext uri="{FF2B5EF4-FFF2-40B4-BE49-F238E27FC236}">
                <a16:creationId xmlns:a16="http://schemas.microsoft.com/office/drawing/2014/main" xmlns="" id="{5516D59B-E8EE-423C-8FB6-9C471881BF38}"/>
              </a:ext>
            </a:extLst>
          </p:cNvPr>
          <p:cNvSpPr>
            <a:spLocks noGrp="1"/>
          </p:cNvSpPr>
          <p:nvPr/>
        </p:nvSpPr>
        <p:spPr>
          <a:xfrm>
            <a:off x="868680" y="17282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2B293103-2700-4640-9958-5D457011A98E}"/>
              </a:ext>
            </a:extLst>
          </p:cNvPr>
          <p:cNvSpPr>
            <a:spLocks noGrp="1"/>
          </p:cNvSpPr>
          <p:nvPr/>
        </p:nvSpPr>
        <p:spPr>
          <a:xfrm>
            <a:off x="1197864" y="169164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Set target counts for Central Claims and Themes.</a:t>
            </a:r>
          </a:p>
        </p:txBody>
      </p:sp>
      <p:sp>
        <p:nvSpPr>
          <p:cNvPr id="10" name="Text 8">
            <a:extLst>
              <a:ext uri="{FF2B5EF4-FFF2-40B4-BE49-F238E27FC236}">
                <a16:creationId xmlns:a16="http://schemas.microsoft.com/office/drawing/2014/main" xmlns="" id="{CD2DD232-7517-4378-A442-453C013AF0A0}"/>
              </a:ext>
            </a:extLst>
          </p:cNvPr>
          <p:cNvSpPr>
            <a:spLocks noGrp="1"/>
          </p:cNvSpPr>
          <p:nvPr/>
        </p:nvSpPr>
        <p:spPr>
          <a:xfrm>
            <a:off x="868680" y="229514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DF112E02-CFA3-4E11-A5BA-CEEF76F7B00F}"/>
              </a:ext>
            </a:extLst>
          </p:cNvPr>
          <p:cNvSpPr>
            <a:spLocks noGrp="1"/>
          </p:cNvSpPr>
          <p:nvPr/>
        </p:nvSpPr>
        <p:spPr>
          <a:xfrm>
            <a:off x="1197864" y="225856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Require checkpoints and resumability.</a:t>
            </a:r>
          </a:p>
        </p:txBody>
      </p:sp>
      <p:sp>
        <p:nvSpPr>
          <p:cNvPr id="12" name="Text 10">
            <a:extLst>
              <a:ext uri="{FF2B5EF4-FFF2-40B4-BE49-F238E27FC236}">
                <a16:creationId xmlns:a16="http://schemas.microsoft.com/office/drawing/2014/main" xmlns="" id="{0F5A0ECC-B4C6-45DE-BAFE-DFAC2B3E958A}"/>
              </a:ext>
            </a:extLst>
          </p:cNvPr>
          <p:cNvSpPr>
            <a:spLocks noGrp="1"/>
          </p:cNvSpPr>
          <p:nvPr/>
        </p:nvSpPr>
        <p:spPr>
          <a:xfrm>
            <a:off x="868680" y="28620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061EEDDE-E631-437E-9DF8-3530C5694A67}"/>
              </a:ext>
            </a:extLst>
          </p:cNvPr>
          <p:cNvSpPr>
            <a:spLocks noGrp="1"/>
          </p:cNvSpPr>
          <p:nvPr/>
        </p:nvSpPr>
        <p:spPr>
          <a:xfrm>
            <a:off x="1197864" y="282549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Require compatibility with the available Python environment.</a:t>
            </a:r>
          </a:p>
        </p:txBody>
      </p:sp>
      <p:sp>
        <p:nvSpPr>
          <p:cNvPr id="14" name="Text 12">
            <a:extLst>
              <a:ext uri="{FF2B5EF4-FFF2-40B4-BE49-F238E27FC236}">
                <a16:creationId xmlns:a16="http://schemas.microsoft.com/office/drawing/2014/main" xmlns="" id="{B1547CD5-031F-4014-A1F2-D79B9FC0B943}"/>
              </a:ext>
            </a:extLst>
          </p:cNvPr>
          <p:cNvSpPr>
            <a:spLocks noGrp="1"/>
          </p:cNvSpPr>
          <p:nvPr/>
        </p:nvSpPr>
        <p:spPr>
          <a:xfrm>
            <a:off x="868680" y="342900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1AEB6D69-FF4A-4A8C-8F3A-3E03292581A4}"/>
              </a:ext>
            </a:extLst>
          </p:cNvPr>
          <p:cNvSpPr>
            <a:spLocks noGrp="1"/>
          </p:cNvSpPr>
          <p:nvPr/>
        </p:nvSpPr>
        <p:spPr>
          <a:xfrm>
            <a:off x="1197864" y="339242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Require the DeepSeek API key to be loaded from a .env file.</a:t>
            </a:r>
          </a:p>
        </p:txBody>
      </p:sp>
      <p:sp>
        <p:nvSpPr>
          <p:cNvPr id="16" name="Text 14">
            <a:extLst>
              <a:ext uri="{FF2B5EF4-FFF2-40B4-BE49-F238E27FC236}">
                <a16:creationId xmlns:a16="http://schemas.microsoft.com/office/drawing/2014/main" xmlns="" id="{3F522471-F4A8-460F-8312-84BC68DF6F78}"/>
              </a:ext>
            </a:extLst>
          </p:cNvPr>
          <p:cNvSpPr>
            <a:spLocks noGrp="1"/>
          </p:cNvSpPr>
          <p:nvPr/>
        </p:nvSpPr>
        <p:spPr>
          <a:xfrm>
            <a:off x="868680" y="399592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7" name="Text 15">
            <a:extLst>
              <a:ext uri="{FF2B5EF4-FFF2-40B4-BE49-F238E27FC236}">
                <a16:creationId xmlns:a16="http://schemas.microsoft.com/office/drawing/2014/main" xmlns="" id="{EF1B9CB4-1DE6-4F60-A1E0-47000D6737D1}"/>
              </a:ext>
            </a:extLst>
          </p:cNvPr>
          <p:cNvSpPr>
            <a:spLocks noGrp="1"/>
          </p:cNvSpPr>
          <p:nvPr/>
        </p:nvSpPr>
        <p:spPr>
          <a:xfrm>
            <a:off x="1197864" y="3959352"/>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Define how to handle missing, ambiguous, or conflicting cases.</a:t>
            </a:r>
          </a:p>
        </p:txBody>
      </p:sp>
      <p:sp>
        <p:nvSpPr>
          <p:cNvPr id="18" name="Text 16">
            <a:extLst>
              <a:ext uri="{FF2B5EF4-FFF2-40B4-BE49-F238E27FC236}">
                <a16:creationId xmlns:a16="http://schemas.microsoft.com/office/drawing/2014/main" xmlns="" id="{86CA690B-7202-4619-836B-C95D8F1FDD5E}"/>
              </a:ext>
            </a:extLst>
          </p:cNvPr>
          <p:cNvSpPr>
            <a:spLocks noGrp="1"/>
          </p:cNvSpPr>
          <p:nvPr/>
        </p:nvSpPr>
        <p:spPr>
          <a:xfrm>
            <a:off x="1188720" y="4983480"/>
            <a:ext cx="978408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100" b="1">
                <a:solidFill>
                  <a:srgbClr val="1F2937"/>
                </a:solidFill>
              </a:rPr>
              <a:t>More explicit rules usually produce fewer surprise behaviors.</a:t>
            </a:r>
          </a:p>
        </p:txBody>
      </p:sp>
    </p:spTree>
    <p:extLst>
      <p:ext uri="{BB962C8B-B14F-4D97-AF65-F5344CB8AC3E}">
        <p14:creationId xmlns:p14="http://schemas.microsoft.com/office/powerpoint/2010/main" val="4199694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1B73EFBE-BAD3-4771-87A8-FF7597EFA918}"/>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7E55AF39-A4C6-492F-A6C2-08537D088897}"/>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4 · Declarative prompting</a:t>
            </a:r>
          </a:p>
        </p:txBody>
      </p:sp>
      <p:sp>
        <p:nvSpPr>
          <p:cNvPr id="4" name="Shape 2">
            <a:extLst>
              <a:ext uri="{FF2B5EF4-FFF2-40B4-BE49-F238E27FC236}">
                <a16:creationId xmlns:a16="http://schemas.microsoft.com/office/drawing/2014/main" xmlns="" id="{F39C1308-FB5F-427F-8173-4734E5AFA48C}"/>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41A37A58-F00A-461A-ADF3-FEDC3876F5A5}"/>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BBCD7D60-6FC2-4B71-AC93-AE858F50567B}"/>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Target counts: how many claims and themes?</a:t>
            </a:r>
          </a:p>
        </p:txBody>
      </p:sp>
      <p:sp>
        <p:nvSpPr>
          <p:cNvPr id="7" name="Text 5">
            <a:extLst>
              <a:ext uri="{FF2B5EF4-FFF2-40B4-BE49-F238E27FC236}">
                <a16:creationId xmlns:a16="http://schemas.microsoft.com/office/drawing/2014/main" xmlns="" id="{8FC838B1-C324-4811-8A24-88FA213DDFE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target affects whether the compendium is thin or rich.</a:t>
            </a:r>
          </a:p>
        </p:txBody>
      </p:sp>
      <p:sp>
        <p:nvSpPr>
          <p:cNvPr id="8" name="Text 6">
            <a:extLst>
              <a:ext uri="{FF2B5EF4-FFF2-40B4-BE49-F238E27FC236}">
                <a16:creationId xmlns:a16="http://schemas.microsoft.com/office/drawing/2014/main" xmlns="" id="{295293EC-7A98-4F9C-8206-F1180FFB4AE4}"/>
              </a:ext>
            </a:extLst>
          </p:cNvPr>
          <p:cNvSpPr>
            <a:spLocks noGrp="1"/>
          </p:cNvSpPr>
          <p:nvPr/>
        </p:nvSpPr>
        <p:spPr>
          <a:xfrm>
            <a:off x="914400" y="1691640"/>
            <a:ext cx="10332720" cy="868680"/>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b="1">
                <a:solidFill>
                  <a:srgbClr val="1F2937"/>
                </a:solidFill>
              </a:rPr>
              <a:t>Target rule in the new deck: canonical Central Claims should be about 6–8% of corpus size; canonical Themes about 12–16%.</a:t>
            </a:r>
          </a:p>
        </p:txBody>
      </p:sp>
      <p:sp>
        <p:nvSpPr>
          <p:cNvPr id="9" name="Text 7">
            <a:extLst>
              <a:ext uri="{FF2B5EF4-FFF2-40B4-BE49-F238E27FC236}">
                <a16:creationId xmlns:a16="http://schemas.microsoft.com/office/drawing/2014/main" xmlns="" id="{D7498FBC-533C-4513-8741-1C90C169FEF7}"/>
              </a:ext>
            </a:extLst>
          </p:cNvPr>
          <p:cNvSpPr>
            <a:spLocks noGrp="1"/>
          </p:cNvSpPr>
          <p:nvPr/>
        </p:nvSpPr>
        <p:spPr>
          <a:xfrm>
            <a:off x="914400" y="30998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0" name="Text 8">
            <a:extLst>
              <a:ext uri="{FF2B5EF4-FFF2-40B4-BE49-F238E27FC236}">
                <a16:creationId xmlns:a16="http://schemas.microsoft.com/office/drawing/2014/main" xmlns="" id="{0C50A943-BD05-4E88-8A63-D8CE256DC95B}"/>
              </a:ext>
            </a:extLst>
          </p:cNvPr>
          <p:cNvSpPr>
            <a:spLocks noGrp="1"/>
          </p:cNvSpPr>
          <p:nvPr/>
        </p:nvSpPr>
        <p:spPr>
          <a:xfrm>
            <a:off x="1243584" y="3063240"/>
            <a:ext cx="9912096" cy="420624"/>
          </a:xfrm>
          <a:prstGeom prst="rect">
            <a:avLst/>
          </a:prstGeom>
          <a:noFill/>
        </p:spPr>
        <p:txBody>
          <a:bodyPr wrap="square" lIns="254" tIns="254" rIns="254" bIns="254" anchor="ctr">
            <a:normAutofit/>
          </a:bodyPr>
          <a:lstStyle/>
          <a:p>
            <a:pPr marL="0" indent="0">
              <a:buNone/>
            </a:pPr>
            <a:r>
              <a:rPr sz="2000">
                <a:solidFill>
                  <a:srgbClr val="1F2937"/>
                </a:solidFill>
              </a:rPr>
              <a:t>Too few Central Claims: many different ideas get collapsed together.</a:t>
            </a:r>
          </a:p>
        </p:txBody>
      </p:sp>
      <p:sp>
        <p:nvSpPr>
          <p:cNvPr id="11" name="Text 9">
            <a:extLst>
              <a:ext uri="{FF2B5EF4-FFF2-40B4-BE49-F238E27FC236}">
                <a16:creationId xmlns:a16="http://schemas.microsoft.com/office/drawing/2014/main" xmlns="" id="{579E99E7-710B-4B5A-BE0E-94170CD96B5A}"/>
              </a:ext>
            </a:extLst>
          </p:cNvPr>
          <p:cNvSpPr>
            <a:spLocks noGrp="1"/>
          </p:cNvSpPr>
          <p:nvPr/>
        </p:nvSpPr>
        <p:spPr>
          <a:xfrm>
            <a:off x="914400" y="364845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2" name="Text 10">
            <a:extLst>
              <a:ext uri="{FF2B5EF4-FFF2-40B4-BE49-F238E27FC236}">
                <a16:creationId xmlns:a16="http://schemas.microsoft.com/office/drawing/2014/main" xmlns="" id="{235B2E7D-8585-4A9A-9E2B-19CC859BDD3C}"/>
              </a:ext>
            </a:extLst>
          </p:cNvPr>
          <p:cNvSpPr>
            <a:spLocks noGrp="1"/>
          </p:cNvSpPr>
          <p:nvPr/>
        </p:nvSpPr>
        <p:spPr>
          <a:xfrm>
            <a:off x="1243584" y="3611880"/>
            <a:ext cx="9912096" cy="420624"/>
          </a:xfrm>
          <a:prstGeom prst="rect">
            <a:avLst/>
          </a:prstGeom>
          <a:noFill/>
        </p:spPr>
        <p:txBody>
          <a:bodyPr wrap="square" lIns="254" tIns="254" rIns="254" bIns="254" anchor="ctr">
            <a:normAutofit/>
          </a:bodyPr>
          <a:lstStyle/>
          <a:p>
            <a:pPr marL="0" indent="0">
              <a:buNone/>
            </a:pPr>
            <a:r>
              <a:rPr sz="2000">
                <a:solidFill>
                  <a:srgbClr val="1F2937"/>
                </a:solidFill>
              </a:rPr>
              <a:t>Too many Central Claims: each chapter may be thin and poorly supported.</a:t>
            </a:r>
          </a:p>
        </p:txBody>
      </p:sp>
      <p:sp>
        <p:nvSpPr>
          <p:cNvPr id="13" name="Text 11">
            <a:extLst>
              <a:ext uri="{FF2B5EF4-FFF2-40B4-BE49-F238E27FC236}">
                <a16:creationId xmlns:a16="http://schemas.microsoft.com/office/drawing/2014/main" xmlns="" id="{3667ED83-CCE9-49E3-9D10-DC3BBFD9225D}"/>
              </a:ext>
            </a:extLst>
          </p:cNvPr>
          <p:cNvSpPr>
            <a:spLocks noGrp="1"/>
          </p:cNvSpPr>
          <p:nvPr/>
        </p:nvSpPr>
        <p:spPr>
          <a:xfrm>
            <a:off x="914400" y="419709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D24D0FD9-AA21-4A61-B3BB-8A01C3FB92E9}"/>
              </a:ext>
            </a:extLst>
          </p:cNvPr>
          <p:cNvSpPr>
            <a:spLocks noGrp="1"/>
          </p:cNvSpPr>
          <p:nvPr/>
        </p:nvSpPr>
        <p:spPr>
          <a:xfrm>
            <a:off x="1243584" y="4160520"/>
            <a:ext cx="9912096" cy="420624"/>
          </a:xfrm>
          <a:prstGeom prst="rect">
            <a:avLst/>
          </a:prstGeom>
          <a:noFill/>
        </p:spPr>
        <p:txBody>
          <a:bodyPr wrap="square" lIns="254" tIns="254" rIns="254" bIns="254" anchor="ctr">
            <a:normAutofit fontScale="85000" lnSpcReduction="20000"/>
          </a:bodyPr>
          <a:lstStyle/>
          <a:p>
            <a:pPr marL="0" indent="0">
              <a:buNone/>
            </a:pPr>
            <a:r>
              <a:rPr sz="2000">
                <a:solidFill>
                  <a:srgbClr val="1F2937"/>
                </a:solidFill>
              </a:rPr>
              <a:t>Themes are often more numerous than Central Claims because one claim may involve several noun-phrase topics.</a:t>
            </a:r>
          </a:p>
        </p:txBody>
      </p:sp>
      <p:sp>
        <p:nvSpPr>
          <p:cNvPr id="15" name="Text 13">
            <a:extLst>
              <a:ext uri="{FF2B5EF4-FFF2-40B4-BE49-F238E27FC236}">
                <a16:creationId xmlns:a16="http://schemas.microsoft.com/office/drawing/2014/main" xmlns="" id="{B2861A5D-A29D-4302-A5BF-D3D60C6BD1EF}"/>
              </a:ext>
            </a:extLst>
          </p:cNvPr>
          <p:cNvSpPr>
            <a:spLocks noGrp="1"/>
          </p:cNvSpPr>
          <p:nvPr/>
        </p:nvSpPr>
        <p:spPr>
          <a:xfrm>
            <a:off x="914400" y="474573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6" name="Text 14">
            <a:extLst>
              <a:ext uri="{FF2B5EF4-FFF2-40B4-BE49-F238E27FC236}">
                <a16:creationId xmlns:a16="http://schemas.microsoft.com/office/drawing/2014/main" xmlns="" id="{811982EC-179E-4CA3-A917-B0750D61B7C6}"/>
              </a:ext>
            </a:extLst>
          </p:cNvPr>
          <p:cNvSpPr>
            <a:spLocks noGrp="1"/>
          </p:cNvSpPr>
          <p:nvPr/>
        </p:nvSpPr>
        <p:spPr>
          <a:xfrm>
            <a:off x="1243584" y="4709160"/>
            <a:ext cx="9912096" cy="420624"/>
          </a:xfrm>
          <a:prstGeom prst="rect">
            <a:avLst/>
          </a:prstGeom>
          <a:noFill/>
        </p:spPr>
        <p:txBody>
          <a:bodyPr wrap="square" lIns="254" tIns="254" rIns="254" bIns="254" anchor="ctr">
            <a:normAutofit/>
          </a:bodyPr>
          <a:lstStyle/>
          <a:p>
            <a:pPr marL="0" indent="0">
              <a:buNone/>
            </a:pPr>
            <a:r>
              <a:rPr sz="2000">
                <a:solidFill>
                  <a:srgbClr val="1F2937"/>
                </a:solidFill>
              </a:rPr>
              <a:t>The exact target should be tested with evaluation metrics.</a:t>
            </a:r>
          </a:p>
        </p:txBody>
      </p:sp>
    </p:spTree>
    <p:extLst>
      <p:ext uri="{BB962C8B-B14F-4D97-AF65-F5344CB8AC3E}">
        <p14:creationId xmlns:p14="http://schemas.microsoft.com/office/powerpoint/2010/main" val="21115566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3200" y="2040746"/>
            <a:ext cx="11737473" cy="2800767"/>
          </a:xfrm>
          <a:prstGeom prst="rect">
            <a:avLst/>
          </a:prstGeom>
          <a:noFill/>
        </p:spPr>
        <p:txBody>
          <a:bodyPr wrap="square" rtlCol="0">
            <a:spAutoFit/>
          </a:bodyPr>
          <a:lstStyle/>
          <a:p>
            <a:r>
              <a:rPr lang="en-US" sz="1600" b="1" i="1" dirty="0"/>
              <a:t>"Learn Prolog Now!"</a:t>
            </a:r>
            <a:r>
              <a:rPr lang="en-US" sz="1600" b="1" dirty="0"/>
              <a:t> by Patrick Blackburn, Johan </a:t>
            </a:r>
            <a:r>
              <a:rPr lang="en-US" sz="1600" b="1" dirty="0" err="1"/>
              <a:t>Bos</a:t>
            </a:r>
            <a:r>
              <a:rPr lang="en-US" sz="1600" b="1" dirty="0"/>
              <a:t>, and Kristina </a:t>
            </a:r>
            <a:r>
              <a:rPr lang="en-US" sz="1600" b="1" dirty="0" err="1"/>
              <a:t>Striegnitz</a:t>
            </a:r>
            <a:r>
              <a:rPr lang="en-US" sz="1600" b="1" dirty="0"/>
              <a:t> is the standard recommendation for beginners. </a:t>
            </a:r>
            <a:endParaRPr lang="en-US" sz="1600" b="1" dirty="0" smtClean="0"/>
          </a:p>
          <a:p>
            <a:r>
              <a:rPr lang="en-US" sz="1600" dirty="0" smtClean="0"/>
              <a:t>It's </a:t>
            </a:r>
            <a:r>
              <a:rPr lang="en-US" sz="1600" dirty="0"/>
              <a:t>available free online at </a:t>
            </a:r>
            <a:r>
              <a:rPr lang="en-US" sz="1600" u="sng" dirty="0">
                <a:hlinkClick r:id="rId2"/>
              </a:rPr>
              <a:t>learnyouprolognow.com</a:t>
            </a:r>
            <a:r>
              <a:rPr lang="en-US" sz="1600" dirty="0"/>
              <a:t> and </a:t>
            </a:r>
            <a:endParaRPr lang="en-US" sz="1600" dirty="0" smtClean="0"/>
          </a:p>
          <a:p>
            <a:r>
              <a:rPr lang="en-US" sz="1600" dirty="0" smtClean="0"/>
              <a:t>walks </a:t>
            </a:r>
            <a:r>
              <a:rPr lang="en-US" sz="1600" dirty="0"/>
              <a:t>you through the logic carefully without assuming a logic programming background. </a:t>
            </a:r>
            <a:endParaRPr lang="en-US" sz="1600" dirty="0" smtClean="0"/>
          </a:p>
          <a:p>
            <a:endParaRPr lang="en-US" sz="1600" dirty="0"/>
          </a:p>
          <a:p>
            <a:r>
              <a:rPr lang="en-US" sz="1600" b="1" dirty="0"/>
              <a:t>"Programming in Prolog" by </a:t>
            </a:r>
            <a:r>
              <a:rPr lang="en-US" sz="1600" b="1" dirty="0" err="1"/>
              <a:t>Clocksin</a:t>
            </a:r>
            <a:r>
              <a:rPr lang="en-US" sz="1600" b="1" dirty="0"/>
              <a:t> and </a:t>
            </a:r>
            <a:r>
              <a:rPr lang="en-US" sz="1600" b="1" dirty="0" err="1"/>
              <a:t>Mellish</a:t>
            </a:r>
            <a:r>
              <a:rPr lang="en-US" sz="1600" b="1" dirty="0"/>
              <a:t> (the original 1981 textbook). </a:t>
            </a:r>
            <a:endParaRPr lang="en-US" sz="1600" b="1" dirty="0" smtClean="0"/>
          </a:p>
          <a:p>
            <a:r>
              <a:rPr lang="en-US" sz="1600" dirty="0" smtClean="0"/>
              <a:t>The </a:t>
            </a:r>
            <a:r>
              <a:rPr lang="en-US" sz="1600" dirty="0"/>
              <a:t>first two chapters — facts, rules, and queries — are extremely clean and short. </a:t>
            </a:r>
            <a:endParaRPr lang="en-US" sz="1600" dirty="0" smtClean="0"/>
          </a:p>
          <a:p>
            <a:r>
              <a:rPr lang="en-US" sz="1600" dirty="0" smtClean="0"/>
              <a:t>The </a:t>
            </a:r>
            <a:r>
              <a:rPr lang="en-US" sz="1600" dirty="0"/>
              <a:t>syntax is minimal, the examples are everyday (family trees, simple classifications), and the declarative logic is front and center before </a:t>
            </a:r>
            <a:endParaRPr lang="en-US" sz="1600" dirty="0" smtClean="0"/>
          </a:p>
          <a:p>
            <a:r>
              <a:rPr lang="en-US" sz="1600" dirty="0" smtClean="0"/>
              <a:t>any </a:t>
            </a:r>
            <a:r>
              <a:rPr lang="en-US" sz="1600" dirty="0"/>
              <a:t>procedural complications creep in. </a:t>
            </a:r>
            <a:endParaRPr lang="en-US" sz="1600" dirty="0" smtClean="0"/>
          </a:p>
          <a:p>
            <a:r>
              <a:rPr lang="en-US" sz="1600" dirty="0" smtClean="0"/>
              <a:t>It's </a:t>
            </a:r>
            <a:r>
              <a:rPr lang="en-US" sz="1600" dirty="0"/>
              <a:t>the most "pure" presentation of the paradigm before you hit cuts, assert/retract, and all the messy pragmatics</a:t>
            </a:r>
            <a:r>
              <a:rPr lang="en-US" sz="1600" dirty="0" smtClean="0"/>
              <a:t>.</a:t>
            </a:r>
          </a:p>
          <a:p>
            <a:endParaRPr lang="en-US" sz="1600" dirty="0"/>
          </a:p>
          <a:p>
            <a:r>
              <a:rPr lang="en-US" sz="1600" b="1" dirty="0"/>
              <a:t>LLM Prompt Engineering For Developers: The Art and Science of Unlocking LLMs' True Potential by </a:t>
            </a:r>
            <a:r>
              <a:rPr lang="en-US" sz="1600" b="1" dirty="0" err="1"/>
              <a:t>Aymen</a:t>
            </a:r>
            <a:r>
              <a:rPr lang="en-US" sz="1600" b="1" dirty="0"/>
              <a:t> El </a:t>
            </a:r>
            <a:r>
              <a:rPr lang="en-US" sz="1600" b="1" dirty="0" err="1"/>
              <a:t>Amri</a:t>
            </a:r>
            <a:r>
              <a:rPr lang="en-US" sz="1600" b="1" dirty="0"/>
              <a:t> (Author</a:t>
            </a:r>
            <a:r>
              <a:rPr lang="en-US" sz="1600" b="1" dirty="0" smtClean="0"/>
              <a:t>)</a:t>
            </a:r>
            <a:endParaRPr lang="en-US" sz="1600" b="1" dirty="0"/>
          </a:p>
        </p:txBody>
      </p:sp>
      <p:sp>
        <p:nvSpPr>
          <p:cNvPr id="2" name="Title 1"/>
          <p:cNvSpPr>
            <a:spLocks noGrp="1"/>
          </p:cNvSpPr>
          <p:nvPr>
            <p:ph type="title"/>
          </p:nvPr>
        </p:nvSpPr>
        <p:spPr/>
        <p:txBody>
          <a:bodyPr/>
          <a:lstStyle/>
          <a:p>
            <a:r>
              <a:rPr lang="en-US" dirty="0" smtClean="0"/>
              <a:t>Prolog &amp; Prompts</a:t>
            </a:r>
            <a:endParaRPr lang="en-US" dirty="0"/>
          </a:p>
        </p:txBody>
      </p:sp>
      <p:sp>
        <p:nvSpPr>
          <p:cNvPr id="3" name="Slide Number Placeholder 2"/>
          <p:cNvSpPr>
            <a:spLocks noGrp="1"/>
          </p:cNvSpPr>
          <p:nvPr>
            <p:ph type="sldNum" sz="quarter" idx="12"/>
          </p:nvPr>
        </p:nvSpPr>
        <p:spPr/>
        <p:txBody>
          <a:bodyPr/>
          <a:lstStyle/>
          <a:p>
            <a:fld id="{7C0EB9A0-BC10-4E22-9EDE-7247F36A1CAB}" type="slidenum">
              <a:rPr lang="en-US" smtClean="0"/>
              <a:t>61</a:t>
            </a:fld>
            <a:endParaRPr lang="en-US"/>
          </a:p>
        </p:txBody>
      </p:sp>
    </p:spTree>
    <p:extLst>
      <p:ext uri="{BB962C8B-B14F-4D97-AF65-F5344CB8AC3E}">
        <p14:creationId xmlns:p14="http://schemas.microsoft.com/office/powerpoint/2010/main" val="327413114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END OF PROMPT DISCUSSION</a:t>
            </a:r>
            <a:endParaRPr lang="en-US"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idx="12"/>
          </p:nvPr>
        </p:nvSpPr>
        <p:spPr/>
        <p:txBody>
          <a:bodyPr/>
          <a:lstStyle/>
          <a:p>
            <a:fld id="{33749B41-47CE-4FC4-9498-EEF687BF6FCF}" type="slidenum">
              <a:rPr lang="en-US" smtClean="0"/>
              <a:pPr/>
              <a:t>62</a:t>
            </a:fld>
            <a:endParaRPr lang="en-US"/>
          </a:p>
        </p:txBody>
      </p:sp>
    </p:spTree>
    <p:extLst>
      <p:ext uri="{BB962C8B-B14F-4D97-AF65-F5344CB8AC3E}">
        <p14:creationId xmlns:p14="http://schemas.microsoft.com/office/powerpoint/2010/main" val="6009712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44A70A3D-A6E6-44D1-86B2-4EE19333BA50}"/>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D4C4CB52-077C-4FA7-93DE-8ABBE64AC590}"/>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1882D4F7-B810-4998-91C4-6EA41FE3802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4F15AA9-DD9B-45FF-A45D-42307E16FB27}"/>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9906E6D-F29B-4FB1-BE89-552083922224}"/>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0E6B46"/>
                </a:solidFill>
              </a:rPr>
              <a:t>Evaluation and iteration</a:t>
            </a:r>
          </a:p>
        </p:txBody>
      </p:sp>
      <p:sp>
        <p:nvSpPr>
          <p:cNvPr id="7" name="Text 5">
            <a:extLst>
              <a:ext uri="{FF2B5EF4-FFF2-40B4-BE49-F238E27FC236}">
                <a16:creationId xmlns:a16="http://schemas.microsoft.com/office/drawing/2014/main" xmlns="" id="{AEB4B928-1469-454E-93BB-E67944D95FC9}"/>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A program written with Claude should be tested, measured, and improved.</a:t>
            </a:r>
          </a:p>
        </p:txBody>
      </p:sp>
    </p:spTree>
    <p:extLst>
      <p:ext uri="{BB962C8B-B14F-4D97-AF65-F5344CB8AC3E}">
        <p14:creationId xmlns:p14="http://schemas.microsoft.com/office/powerpoint/2010/main" val="7372335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CDEF82D6-2C0F-469B-A6F7-7438AF5329D9}"/>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D4408F8-A017-4F33-9014-8FBA9555079C}"/>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E090C488-B7A4-4A4F-96E5-2F15A3039636}"/>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52A8841D-178D-4D71-A12D-B1602DA79CAB}"/>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5AA56B7-35AA-42EE-BF18-EE76E90AE613}"/>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Why metrics are necessary</a:t>
            </a:r>
          </a:p>
        </p:txBody>
      </p:sp>
      <p:sp>
        <p:nvSpPr>
          <p:cNvPr id="7" name="Text 5">
            <a:extLst>
              <a:ext uri="{FF2B5EF4-FFF2-40B4-BE49-F238E27FC236}">
                <a16:creationId xmlns:a16="http://schemas.microsoft.com/office/drawing/2014/main" xmlns="" id="{4E742537-5BE3-4C43-9535-3D117D5A797F}"/>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Without metrics, you cannot tell whether version 2 is better than version 1.</a:t>
            </a:r>
          </a:p>
        </p:txBody>
      </p:sp>
      <p:sp>
        <p:nvSpPr>
          <p:cNvPr id="8" name="Text 6">
            <a:extLst>
              <a:ext uri="{FF2B5EF4-FFF2-40B4-BE49-F238E27FC236}">
                <a16:creationId xmlns:a16="http://schemas.microsoft.com/office/drawing/2014/main" xmlns="" id="{2D3EC58E-31D5-4655-BC5C-A4B177EC4DE5}"/>
              </a:ext>
            </a:extLst>
          </p:cNvPr>
          <p:cNvSpPr>
            <a:spLocks noGrp="1"/>
          </p:cNvSpPr>
          <p:nvPr/>
        </p:nvSpPr>
        <p:spPr>
          <a:xfrm>
            <a:off x="914400" y="1965960"/>
            <a:ext cx="2560320" cy="7315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900" b="1">
                <a:solidFill>
                  <a:srgbClr val="1F2937"/>
                </a:solidFill>
              </a:rPr>
              <a:t>Program version P1</a:t>
            </a:r>
          </a:p>
        </p:txBody>
      </p:sp>
      <p:sp>
        <p:nvSpPr>
          <p:cNvPr id="9" name="Shape 7">
            <a:extLst>
              <a:ext uri="{FF2B5EF4-FFF2-40B4-BE49-F238E27FC236}">
                <a16:creationId xmlns:a16="http://schemas.microsoft.com/office/drawing/2014/main" xmlns="" id="{EB430C61-030C-410D-BA83-F89CB7B421EC}"/>
              </a:ext>
            </a:extLst>
          </p:cNvPr>
          <p:cNvSpPr>
            <a:spLocks noGrp="1"/>
          </p:cNvSpPr>
          <p:nvPr/>
        </p:nvSpPr>
        <p:spPr>
          <a:xfrm>
            <a:off x="3657600" y="2331720"/>
            <a:ext cx="68580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7BCB687D-E0EF-4E09-8207-EBB62CC60EA3}"/>
              </a:ext>
            </a:extLst>
          </p:cNvPr>
          <p:cNvSpPr>
            <a:spLocks noGrp="1"/>
          </p:cNvSpPr>
          <p:nvPr/>
        </p:nvSpPr>
        <p:spPr>
          <a:xfrm>
            <a:off x="4526280" y="1965960"/>
            <a:ext cx="2743200" cy="73152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900" b="1">
                <a:solidFill>
                  <a:srgbClr val="1F2937"/>
                </a:solidFill>
              </a:rPr>
              <a:t>Evaluation script E</a:t>
            </a:r>
          </a:p>
        </p:txBody>
      </p:sp>
      <p:sp>
        <p:nvSpPr>
          <p:cNvPr id="11" name="Shape 9">
            <a:extLst>
              <a:ext uri="{FF2B5EF4-FFF2-40B4-BE49-F238E27FC236}">
                <a16:creationId xmlns:a16="http://schemas.microsoft.com/office/drawing/2014/main" xmlns="" id="{6BC89C77-15E2-4163-9B51-FAD2CA201671}"/>
              </a:ext>
            </a:extLst>
          </p:cNvPr>
          <p:cNvSpPr>
            <a:spLocks noGrp="1"/>
          </p:cNvSpPr>
          <p:nvPr/>
        </p:nvSpPr>
        <p:spPr>
          <a:xfrm>
            <a:off x="7452360" y="2331720"/>
            <a:ext cx="68580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FE671C73-030D-4D2C-BD2B-33EFF47A46C6}"/>
              </a:ext>
            </a:extLst>
          </p:cNvPr>
          <p:cNvSpPr>
            <a:spLocks noGrp="1"/>
          </p:cNvSpPr>
          <p:nvPr/>
        </p:nvSpPr>
        <p:spPr>
          <a:xfrm>
            <a:off x="8321040" y="1965960"/>
            <a:ext cx="2560320" cy="73152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900" b="1">
                <a:solidFill>
                  <a:srgbClr val="1F2937"/>
                </a:solidFill>
              </a:rPr>
              <a:t>Metric M1</a:t>
            </a:r>
          </a:p>
        </p:txBody>
      </p:sp>
      <p:sp>
        <p:nvSpPr>
          <p:cNvPr id="13" name="Text 11">
            <a:extLst>
              <a:ext uri="{FF2B5EF4-FFF2-40B4-BE49-F238E27FC236}">
                <a16:creationId xmlns:a16="http://schemas.microsoft.com/office/drawing/2014/main" xmlns="" id="{3F28DAB9-AC46-4EBC-B7A0-B713D68018AB}"/>
              </a:ext>
            </a:extLst>
          </p:cNvPr>
          <p:cNvSpPr>
            <a:spLocks noGrp="1"/>
          </p:cNvSpPr>
          <p:nvPr/>
        </p:nvSpPr>
        <p:spPr>
          <a:xfrm>
            <a:off x="1097280" y="4160520"/>
            <a:ext cx="9875520" cy="68580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100" b="1">
                <a:solidFill>
                  <a:srgbClr val="1F2937"/>
                </a:solidFill>
              </a:rPr>
              <a:t>Programming with an LLM is iterative: generate, measure, diagnose, revise.</a:t>
            </a:r>
          </a:p>
        </p:txBody>
      </p:sp>
    </p:spTree>
    <p:extLst>
      <p:ext uri="{BB962C8B-B14F-4D97-AF65-F5344CB8AC3E}">
        <p14:creationId xmlns:p14="http://schemas.microsoft.com/office/powerpoint/2010/main" val="113892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FC9BE4B-8EB7-4743-BACB-1857C82179AE}"/>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C95AB43-4044-44ED-901E-B4215BD6773A}"/>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BBFB4159-36BC-4FD3-9186-B40B36312E2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79930A3A-2BDA-4E99-A1BA-4204B682B970}"/>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53B985EE-DEC7-40A3-8947-3FACD2D3A5E6}"/>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Metric 1: theme distinctness</a:t>
            </a:r>
          </a:p>
        </p:txBody>
      </p:sp>
      <p:sp>
        <p:nvSpPr>
          <p:cNvPr id="7" name="Text 5">
            <a:extLst>
              <a:ext uri="{FF2B5EF4-FFF2-40B4-BE49-F238E27FC236}">
                <a16:creationId xmlns:a16="http://schemas.microsoft.com/office/drawing/2014/main" xmlns="" id="{6BA15384-2FC1-4591-BFD6-A6DC3D32F8C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Check whether theme labels are truly different from each other.</a:t>
            </a:r>
          </a:p>
        </p:txBody>
      </p:sp>
      <p:sp>
        <p:nvSpPr>
          <p:cNvPr id="8" name="Text 6">
            <a:extLst>
              <a:ext uri="{FF2B5EF4-FFF2-40B4-BE49-F238E27FC236}">
                <a16:creationId xmlns:a16="http://schemas.microsoft.com/office/drawing/2014/main" xmlns="" id="{5F230B64-23F6-4727-ACB9-713AC8E7E876}"/>
              </a:ext>
            </a:extLst>
          </p:cNvPr>
          <p:cNvSpPr>
            <a:spLocks noGrp="1"/>
          </p:cNvSpPr>
          <p:nvPr/>
        </p:nvSpPr>
        <p:spPr>
          <a:xfrm>
            <a:off x="914400" y="1965960"/>
            <a:ext cx="4480560" cy="100584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1900" b="1">
                <a:solidFill>
                  <a:srgbClr val="1F2937"/>
                </a:solidFill>
              </a:rPr>
              <a:t>Bad pair</a:t>
            </a:r>
          </a:p>
          <a:p>
            <a:pPr marL="0" indent="0" algn="ctr">
              <a:buNone/>
            </a:pPr>
            <a:r>
              <a:rPr sz="1900" b="1">
                <a:solidFill>
                  <a:srgbClr val="1F2937"/>
                </a:solidFill>
              </a:rPr>
              <a:t>“Monetary Policy”</a:t>
            </a:r>
          </a:p>
          <a:p>
            <a:pPr marL="0" indent="0" algn="ctr">
              <a:buNone/>
            </a:pPr>
            <a:r>
              <a:rPr sz="1900" b="1">
                <a:solidFill>
                  <a:srgbClr val="1F2937"/>
                </a:solidFill>
              </a:rPr>
              <a:t>“Federal Reserve Policy”</a:t>
            </a:r>
          </a:p>
        </p:txBody>
      </p:sp>
      <p:sp>
        <p:nvSpPr>
          <p:cNvPr id="9" name="Text 7">
            <a:extLst>
              <a:ext uri="{FF2B5EF4-FFF2-40B4-BE49-F238E27FC236}">
                <a16:creationId xmlns:a16="http://schemas.microsoft.com/office/drawing/2014/main" xmlns="" id="{DEC237B0-FFDC-45E2-9792-BAF90C721CC7}"/>
              </a:ext>
            </a:extLst>
          </p:cNvPr>
          <p:cNvSpPr>
            <a:spLocks noGrp="1"/>
          </p:cNvSpPr>
          <p:nvPr/>
        </p:nvSpPr>
        <p:spPr>
          <a:xfrm>
            <a:off x="6400800" y="1965960"/>
            <a:ext cx="4480560" cy="100584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800" b="1">
                <a:solidFill>
                  <a:srgbClr val="1F2937"/>
                </a:solidFill>
              </a:rPr>
              <a:t>Better pair</a:t>
            </a:r>
          </a:p>
          <a:p>
            <a:pPr marL="0" indent="0" algn="ctr">
              <a:buNone/>
            </a:pPr>
            <a:r>
              <a:rPr sz="1800" b="1">
                <a:solidFill>
                  <a:srgbClr val="1F2937"/>
                </a:solidFill>
              </a:rPr>
              <a:t>“Mortgage-backed securities taper”</a:t>
            </a:r>
          </a:p>
          <a:p>
            <a:pPr marL="0" indent="0" algn="ctr">
              <a:buNone/>
            </a:pPr>
            <a:r>
              <a:rPr sz="1800" b="1">
                <a:solidFill>
                  <a:srgbClr val="1F2937"/>
                </a:solidFill>
              </a:rPr>
              <a:t>“Dollar liquidity shortages”</a:t>
            </a:r>
          </a:p>
        </p:txBody>
      </p:sp>
      <p:sp>
        <p:nvSpPr>
          <p:cNvPr id="10" name="Text 8">
            <a:extLst>
              <a:ext uri="{FF2B5EF4-FFF2-40B4-BE49-F238E27FC236}">
                <a16:creationId xmlns:a16="http://schemas.microsoft.com/office/drawing/2014/main" xmlns="" id="{5F3AD712-2535-4768-91B8-98807AA7A121}"/>
              </a:ext>
            </a:extLst>
          </p:cNvPr>
          <p:cNvSpPr>
            <a:spLocks noGrp="1"/>
          </p:cNvSpPr>
          <p:nvPr/>
        </p:nvSpPr>
        <p:spPr>
          <a:xfrm>
            <a:off x="914400" y="419709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5EE72037-CECD-4793-AE65-48A1BF480CA3}"/>
              </a:ext>
            </a:extLst>
          </p:cNvPr>
          <p:cNvSpPr>
            <a:spLocks noGrp="1"/>
          </p:cNvSpPr>
          <p:nvPr/>
        </p:nvSpPr>
        <p:spPr>
          <a:xfrm>
            <a:off x="1243584" y="416052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Near-duplicate themes make the index confusing.</a:t>
            </a:r>
          </a:p>
        </p:txBody>
      </p:sp>
      <p:sp>
        <p:nvSpPr>
          <p:cNvPr id="12" name="Text 10">
            <a:extLst>
              <a:ext uri="{FF2B5EF4-FFF2-40B4-BE49-F238E27FC236}">
                <a16:creationId xmlns:a16="http://schemas.microsoft.com/office/drawing/2014/main" xmlns="" id="{AABFF8CF-37E4-43B8-BCEC-FFA0E2380393}"/>
              </a:ext>
            </a:extLst>
          </p:cNvPr>
          <p:cNvSpPr>
            <a:spLocks noGrp="1"/>
          </p:cNvSpPr>
          <p:nvPr/>
        </p:nvSpPr>
        <p:spPr>
          <a:xfrm>
            <a:off x="914400" y="473659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14FA85A8-187D-4AEC-A2AB-9F8BCE20D071}"/>
              </a:ext>
            </a:extLst>
          </p:cNvPr>
          <p:cNvSpPr>
            <a:spLocks noGrp="1"/>
          </p:cNvSpPr>
          <p:nvPr/>
        </p:nvSpPr>
        <p:spPr>
          <a:xfrm>
            <a:off x="1243584" y="470001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Distinct themes make the compendium easier to search and evaluate.</a:t>
            </a:r>
          </a:p>
        </p:txBody>
      </p:sp>
      <p:sp>
        <p:nvSpPr>
          <p:cNvPr id="14" name="Text 12">
            <a:extLst>
              <a:ext uri="{FF2B5EF4-FFF2-40B4-BE49-F238E27FC236}">
                <a16:creationId xmlns:a16="http://schemas.microsoft.com/office/drawing/2014/main" xmlns="" id="{A379AE9D-07F0-40E9-A83B-F9DEBAE49659}"/>
              </a:ext>
            </a:extLst>
          </p:cNvPr>
          <p:cNvSpPr>
            <a:spLocks noGrp="1"/>
          </p:cNvSpPr>
          <p:nvPr/>
        </p:nvSpPr>
        <p:spPr>
          <a:xfrm>
            <a:off x="914400" y="527608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3A7F2BE2-A430-4C31-AF4E-BB856F8C10AC}"/>
              </a:ext>
            </a:extLst>
          </p:cNvPr>
          <p:cNvSpPr>
            <a:spLocks noGrp="1"/>
          </p:cNvSpPr>
          <p:nvPr/>
        </p:nvSpPr>
        <p:spPr>
          <a:xfrm>
            <a:off x="1243584" y="5239512"/>
            <a:ext cx="9729216" cy="411480"/>
          </a:xfrm>
          <a:prstGeom prst="rect">
            <a:avLst/>
          </a:prstGeom>
          <a:noFill/>
        </p:spPr>
        <p:txBody>
          <a:bodyPr wrap="square" lIns="254" tIns="254" rIns="254" bIns="254" anchor="ctr">
            <a:normAutofit/>
          </a:bodyPr>
          <a:lstStyle/>
          <a:p>
            <a:pPr marL="0" indent="0">
              <a:buNone/>
            </a:pPr>
            <a:r>
              <a:rPr sz="2000">
                <a:solidFill>
                  <a:srgbClr val="1F2937"/>
                </a:solidFill>
              </a:rPr>
              <a:t>Semantic similarity can help detect near duplicates automatically.</a:t>
            </a:r>
          </a:p>
        </p:txBody>
      </p:sp>
    </p:spTree>
    <p:extLst>
      <p:ext uri="{BB962C8B-B14F-4D97-AF65-F5344CB8AC3E}">
        <p14:creationId xmlns:p14="http://schemas.microsoft.com/office/powerpoint/2010/main" val="2096722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7F6AB6AF-5351-41FB-A68F-F7603376A98D}"/>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3EC70AD-3381-46D0-98F9-DB919048BAA9}"/>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15A4D2B2-1DD7-4B55-95DA-A283CC97D592}"/>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E26D9DC6-B946-40B6-85FD-4085859D1FC4}"/>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F706D278-3D25-4142-8DF1-C4A347C268B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Metric 2: theme sharing and cross-index</a:t>
            </a:r>
          </a:p>
        </p:txBody>
      </p:sp>
      <p:sp>
        <p:nvSpPr>
          <p:cNvPr id="7" name="Text 5">
            <a:extLst>
              <a:ext uri="{FF2B5EF4-FFF2-40B4-BE49-F238E27FC236}">
                <a16:creationId xmlns:a16="http://schemas.microsoft.com/office/drawing/2014/main" xmlns="" id="{F6EDD27F-16AC-4316-BB02-3BBE4CB8EE3A}"/>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Good themes should connect more than one chapter when appropriate.</a:t>
            </a:r>
          </a:p>
        </p:txBody>
      </p:sp>
      <p:sp>
        <p:nvSpPr>
          <p:cNvPr id="8" name="Text 6">
            <a:extLst>
              <a:ext uri="{FF2B5EF4-FFF2-40B4-BE49-F238E27FC236}">
                <a16:creationId xmlns:a16="http://schemas.microsoft.com/office/drawing/2014/main" xmlns="" id="{FE1F942F-7315-495D-8DFE-A0B0D245BE7D}"/>
              </a:ext>
            </a:extLst>
          </p:cNvPr>
          <p:cNvSpPr>
            <a:spLocks noGrp="1"/>
          </p:cNvSpPr>
          <p:nvPr/>
        </p:nvSpPr>
        <p:spPr>
          <a:xfrm>
            <a:off x="868680" y="17282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913CD36D-78B0-4903-B554-6B89F411052C}"/>
              </a:ext>
            </a:extLst>
          </p:cNvPr>
          <p:cNvSpPr>
            <a:spLocks noGrp="1"/>
          </p:cNvSpPr>
          <p:nvPr/>
        </p:nvSpPr>
        <p:spPr>
          <a:xfrm>
            <a:off x="1197864" y="169164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n_themes = total number of canonical themes.</a:t>
            </a:r>
          </a:p>
        </p:txBody>
      </p:sp>
      <p:sp>
        <p:nvSpPr>
          <p:cNvPr id="10" name="Text 8">
            <a:extLst>
              <a:ext uri="{FF2B5EF4-FFF2-40B4-BE49-F238E27FC236}">
                <a16:creationId xmlns:a16="http://schemas.microsoft.com/office/drawing/2014/main" xmlns="" id="{82C5B56C-A349-492A-9313-554DF7D44502}"/>
              </a:ext>
            </a:extLst>
          </p:cNvPr>
          <p:cNvSpPr>
            <a:spLocks noGrp="1"/>
          </p:cNvSpPr>
          <p:nvPr/>
        </p:nvSpPr>
        <p:spPr>
          <a:xfrm>
            <a:off x="868680" y="229514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1F982E88-CC53-45C6-AD56-A65B61C78630}"/>
              </a:ext>
            </a:extLst>
          </p:cNvPr>
          <p:cNvSpPr>
            <a:spLocks noGrp="1"/>
          </p:cNvSpPr>
          <p:nvPr/>
        </p:nvSpPr>
        <p:spPr>
          <a:xfrm>
            <a:off x="1197864" y="225856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n_shared_themes = themes appearing under more than one Central Claim.</a:t>
            </a:r>
          </a:p>
        </p:txBody>
      </p:sp>
      <p:sp>
        <p:nvSpPr>
          <p:cNvPr id="12" name="Text 10">
            <a:extLst>
              <a:ext uri="{FF2B5EF4-FFF2-40B4-BE49-F238E27FC236}">
                <a16:creationId xmlns:a16="http://schemas.microsoft.com/office/drawing/2014/main" xmlns="" id="{807DF42A-72BF-4173-90C4-9D8F2E5C3388}"/>
              </a:ext>
            </a:extLst>
          </p:cNvPr>
          <p:cNvSpPr>
            <a:spLocks noGrp="1"/>
          </p:cNvSpPr>
          <p:nvPr/>
        </p:nvSpPr>
        <p:spPr>
          <a:xfrm>
            <a:off x="868680" y="28620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D440E833-5EC2-4154-81EC-44D4D67687B6}"/>
              </a:ext>
            </a:extLst>
          </p:cNvPr>
          <p:cNvSpPr>
            <a:spLocks noGrp="1"/>
          </p:cNvSpPr>
          <p:nvPr/>
        </p:nvSpPr>
        <p:spPr>
          <a:xfrm>
            <a:off x="1197864" y="282549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theme_sharing_rate tells whether themes actually cross-link the compendium.</a:t>
            </a:r>
          </a:p>
        </p:txBody>
      </p:sp>
      <p:sp>
        <p:nvSpPr>
          <p:cNvPr id="14" name="Text 12">
            <a:extLst>
              <a:ext uri="{FF2B5EF4-FFF2-40B4-BE49-F238E27FC236}">
                <a16:creationId xmlns:a16="http://schemas.microsoft.com/office/drawing/2014/main" xmlns="" id="{43970591-460B-4811-950A-98FD612B7712}"/>
              </a:ext>
            </a:extLst>
          </p:cNvPr>
          <p:cNvSpPr>
            <a:spLocks noGrp="1"/>
          </p:cNvSpPr>
          <p:nvPr/>
        </p:nvSpPr>
        <p:spPr>
          <a:xfrm>
            <a:off x="868680" y="342900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BB5FCACB-808B-4F91-865B-EA4A90871CB1}"/>
              </a:ext>
            </a:extLst>
          </p:cNvPr>
          <p:cNvSpPr>
            <a:spLocks noGrp="1"/>
          </p:cNvSpPr>
          <p:nvPr/>
        </p:nvSpPr>
        <p:spPr>
          <a:xfrm>
            <a:off x="1197864" y="339242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The Theme Cross-Index should point readers to multiple chapters.</a:t>
            </a:r>
          </a:p>
        </p:txBody>
      </p:sp>
      <p:sp>
        <p:nvSpPr>
          <p:cNvPr id="16" name="Text 14">
            <a:extLst>
              <a:ext uri="{FF2B5EF4-FFF2-40B4-BE49-F238E27FC236}">
                <a16:creationId xmlns:a16="http://schemas.microsoft.com/office/drawing/2014/main" xmlns="" id="{D9858216-DBF3-43DD-87A3-A1B8BF9870C3}"/>
              </a:ext>
            </a:extLst>
          </p:cNvPr>
          <p:cNvSpPr>
            <a:spLocks noGrp="1"/>
          </p:cNvSpPr>
          <p:nvPr/>
        </p:nvSpPr>
        <p:spPr>
          <a:xfrm>
            <a:off x="1234440" y="4892040"/>
            <a:ext cx="9601200" cy="658368"/>
          </a:xfrm>
          <a:prstGeom prst="rect">
            <a:avLst/>
          </a:prstGeom>
          <a:solidFill>
            <a:srgbClr val="EEEAFE"/>
          </a:solidFill>
          <a:ln w="15240">
            <a:solidFill>
              <a:srgbClr val="40319B"/>
            </a:solidFill>
          </a:ln>
        </p:spPr>
        <p:txBody>
          <a:bodyPr wrap="square" lIns="1778" tIns="1778" rIns="1778" bIns="1778" anchor="ctr">
            <a:normAutofit/>
          </a:bodyPr>
          <a:lstStyle/>
          <a:p>
            <a:pPr marL="0" indent="0">
              <a:buNone/>
            </a:pPr>
            <a:r>
              <a:rPr sz="2100" b="1">
                <a:solidFill>
                  <a:srgbClr val="1F2937"/>
                </a:solidFill>
              </a:rPr>
              <a:t>A cross-index with no cross-links is not doing its job.</a:t>
            </a:r>
          </a:p>
        </p:txBody>
      </p:sp>
    </p:spTree>
    <p:extLst>
      <p:ext uri="{BB962C8B-B14F-4D97-AF65-F5344CB8AC3E}">
        <p14:creationId xmlns:p14="http://schemas.microsoft.com/office/powerpoint/2010/main" val="5639255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EBE8F20-B7B6-4A85-9CE4-6C98BE7D03F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CF39C39F-39CD-4C55-B5D1-B1376D0B0CD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A51CBD1F-B372-48E8-8DCA-44215A0D0B62}"/>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4892A79C-B3C5-45CE-8AEB-A3E460F2DFF2}"/>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361CC80C-64D6-4A40-8C66-C4C09D8289D5}"/>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Metric 3: classification correctness</a:t>
            </a:r>
          </a:p>
        </p:txBody>
      </p:sp>
      <p:sp>
        <p:nvSpPr>
          <p:cNvPr id="7" name="Text 5">
            <a:extLst>
              <a:ext uri="{FF2B5EF4-FFF2-40B4-BE49-F238E27FC236}">
                <a16:creationId xmlns:a16="http://schemas.microsoft.com/office/drawing/2014/main" xmlns="" id="{62782C92-A28D-4019-8640-605D263AA154}"/>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Check whether each speech was assigned to the right Central Claim.</a:t>
            </a:r>
          </a:p>
        </p:txBody>
      </p:sp>
      <p:sp>
        <p:nvSpPr>
          <p:cNvPr id="8" name="Text 6">
            <a:extLst>
              <a:ext uri="{FF2B5EF4-FFF2-40B4-BE49-F238E27FC236}">
                <a16:creationId xmlns:a16="http://schemas.microsoft.com/office/drawing/2014/main" xmlns="" id="{844C3126-B8A3-4130-BC9A-FC9619A52BFB}"/>
              </a:ext>
            </a:extLst>
          </p:cNvPr>
          <p:cNvSpPr>
            <a:spLocks noGrp="1"/>
          </p:cNvSpPr>
          <p:nvPr/>
        </p:nvSpPr>
        <p:spPr>
          <a:xfrm>
            <a:off x="1005840" y="1828800"/>
            <a:ext cx="2560320" cy="64008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800" b="1">
                <a:solidFill>
                  <a:srgbClr val="1F2937"/>
                </a:solidFill>
              </a:rPr>
              <a:t>Speech summary</a:t>
            </a:r>
          </a:p>
        </p:txBody>
      </p:sp>
      <p:sp>
        <p:nvSpPr>
          <p:cNvPr id="9" name="Shape 7">
            <a:extLst>
              <a:ext uri="{FF2B5EF4-FFF2-40B4-BE49-F238E27FC236}">
                <a16:creationId xmlns:a16="http://schemas.microsoft.com/office/drawing/2014/main" xmlns="" id="{C7464CCA-19FB-4B45-888B-12AE0EA6B3D8}"/>
              </a:ext>
            </a:extLst>
          </p:cNvPr>
          <p:cNvSpPr>
            <a:spLocks noGrp="1"/>
          </p:cNvSpPr>
          <p:nvPr/>
        </p:nvSpPr>
        <p:spPr>
          <a:xfrm>
            <a:off x="3749040" y="2148840"/>
            <a:ext cx="82296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54026535-7174-4BDB-867F-104CD170E7AC}"/>
              </a:ext>
            </a:extLst>
          </p:cNvPr>
          <p:cNvSpPr>
            <a:spLocks noGrp="1"/>
          </p:cNvSpPr>
          <p:nvPr/>
        </p:nvSpPr>
        <p:spPr>
          <a:xfrm>
            <a:off x="4754880" y="1508760"/>
            <a:ext cx="3108960" cy="64008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800" b="1">
                <a:solidFill>
                  <a:srgbClr val="1F2937"/>
                </a:solidFill>
              </a:rPr>
              <a:t>Assigned CC centroid</a:t>
            </a:r>
          </a:p>
        </p:txBody>
      </p:sp>
      <p:sp>
        <p:nvSpPr>
          <p:cNvPr id="11" name="Text 9">
            <a:extLst>
              <a:ext uri="{FF2B5EF4-FFF2-40B4-BE49-F238E27FC236}">
                <a16:creationId xmlns:a16="http://schemas.microsoft.com/office/drawing/2014/main" xmlns="" id="{7B1F4216-F7AE-45C0-83F0-D01EAD94D368}"/>
              </a:ext>
            </a:extLst>
          </p:cNvPr>
          <p:cNvSpPr>
            <a:spLocks noGrp="1"/>
          </p:cNvSpPr>
          <p:nvPr/>
        </p:nvSpPr>
        <p:spPr>
          <a:xfrm>
            <a:off x="4754880" y="2423160"/>
            <a:ext cx="3108960" cy="64008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1800" b="1">
                <a:solidFill>
                  <a:srgbClr val="1F2937"/>
                </a:solidFill>
              </a:rPr>
              <a:t>Neighbor CC centroid</a:t>
            </a:r>
          </a:p>
        </p:txBody>
      </p:sp>
      <p:sp>
        <p:nvSpPr>
          <p:cNvPr id="12" name="Shape 10">
            <a:extLst>
              <a:ext uri="{FF2B5EF4-FFF2-40B4-BE49-F238E27FC236}">
                <a16:creationId xmlns:a16="http://schemas.microsoft.com/office/drawing/2014/main" xmlns="" id="{111B80D7-2F6D-4C4C-9911-E9EBB8976920}"/>
              </a:ext>
            </a:extLst>
          </p:cNvPr>
          <p:cNvSpPr>
            <a:spLocks noGrp="1"/>
          </p:cNvSpPr>
          <p:nvPr/>
        </p:nvSpPr>
        <p:spPr>
          <a:xfrm>
            <a:off x="8046720" y="2148840"/>
            <a:ext cx="914400" cy="0"/>
          </a:xfrm>
          <a:prstGeom prst="line">
            <a:avLst/>
          </a:prstGeom>
          <a:noFill/>
          <a:ln w="16510">
            <a:solidFill>
              <a:srgbClr val="596273"/>
            </a:solidFill>
            <a:prstDash val="solid"/>
          </a:ln>
        </p:spPr>
      </p:sp>
      <p:sp>
        <p:nvSpPr>
          <p:cNvPr id="13" name="Text 11">
            <a:extLst>
              <a:ext uri="{FF2B5EF4-FFF2-40B4-BE49-F238E27FC236}">
                <a16:creationId xmlns:a16="http://schemas.microsoft.com/office/drawing/2014/main" xmlns="" id="{39F33B21-37F5-4901-AA69-6848DA127439}"/>
              </a:ext>
            </a:extLst>
          </p:cNvPr>
          <p:cNvSpPr>
            <a:spLocks noGrp="1"/>
          </p:cNvSpPr>
          <p:nvPr/>
        </p:nvSpPr>
        <p:spPr>
          <a:xfrm>
            <a:off x="9144000" y="1828800"/>
            <a:ext cx="2103120" cy="64008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600" b="1">
                <a:solidFill>
                  <a:srgbClr val="1F2937"/>
                </a:solidFill>
              </a:rPr>
              <a:t>Is the assigned CC</a:t>
            </a:r>
          </a:p>
          <a:p>
            <a:pPr marL="0" indent="0" algn="ctr">
              <a:buNone/>
            </a:pPr>
            <a:r>
              <a:rPr sz="1600" b="1">
                <a:solidFill>
                  <a:srgbClr val="1F2937"/>
                </a:solidFill>
              </a:rPr>
              <a:t>more similar?</a:t>
            </a:r>
          </a:p>
        </p:txBody>
      </p:sp>
      <p:sp>
        <p:nvSpPr>
          <p:cNvPr id="14" name="Text 12">
            <a:extLst>
              <a:ext uri="{FF2B5EF4-FFF2-40B4-BE49-F238E27FC236}">
                <a16:creationId xmlns:a16="http://schemas.microsoft.com/office/drawing/2014/main" xmlns="" id="{03AB4E99-09F6-44FC-B707-2D30BDF8FE6A}"/>
              </a:ext>
            </a:extLst>
          </p:cNvPr>
          <p:cNvSpPr>
            <a:spLocks noGrp="1"/>
          </p:cNvSpPr>
          <p:nvPr/>
        </p:nvSpPr>
        <p:spPr>
          <a:xfrm>
            <a:off x="1097280" y="4251960"/>
            <a:ext cx="9875520" cy="68580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This catches systematic mis-assignment: speeches being placed in the wrong chapter.</a:t>
            </a:r>
          </a:p>
        </p:txBody>
      </p:sp>
    </p:spTree>
    <p:extLst>
      <p:ext uri="{BB962C8B-B14F-4D97-AF65-F5344CB8AC3E}">
        <p14:creationId xmlns:p14="http://schemas.microsoft.com/office/powerpoint/2010/main" val="20677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3D485F6-294A-4334-890F-AFF8E26BC2B6}"/>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A8E4D7DB-578D-494E-A179-97078F2B6245}"/>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7B821EA1-6E1D-4281-B1E2-C168F3ADD06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8A346A46-8A26-4A72-80BB-B7EF5535B35E}"/>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A89682A3-A300-4DFB-BA14-2C626012250D}"/>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Metric 4: claim usage balance</a:t>
            </a:r>
          </a:p>
        </p:txBody>
      </p:sp>
      <p:sp>
        <p:nvSpPr>
          <p:cNvPr id="7" name="Text 5">
            <a:extLst>
              <a:ext uri="{FF2B5EF4-FFF2-40B4-BE49-F238E27FC236}">
                <a16:creationId xmlns:a16="http://schemas.microsoft.com/office/drawing/2014/main" xmlns="" id="{CFF565D1-66AF-4085-912C-76B7C2BAA7E3}"/>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Check whether the speeches are distributed sensibly across Central Claims.</a:t>
            </a:r>
          </a:p>
        </p:txBody>
      </p:sp>
      <p:sp>
        <p:nvSpPr>
          <p:cNvPr id="8" name="Text 6">
            <a:extLst>
              <a:ext uri="{FF2B5EF4-FFF2-40B4-BE49-F238E27FC236}">
                <a16:creationId xmlns:a16="http://schemas.microsoft.com/office/drawing/2014/main" xmlns="" id="{A9162113-B11E-4D40-87C2-B792FFB08987}"/>
              </a:ext>
            </a:extLst>
          </p:cNvPr>
          <p:cNvSpPr>
            <a:spLocks noGrp="1"/>
          </p:cNvSpPr>
          <p:nvPr/>
        </p:nvSpPr>
        <p:spPr>
          <a:xfrm>
            <a:off x="868680" y="168249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D3EE9568-5D55-43A5-B45E-F4B28E1ADC8A}"/>
              </a:ext>
            </a:extLst>
          </p:cNvPr>
          <p:cNvSpPr>
            <a:spLocks noGrp="1"/>
          </p:cNvSpPr>
          <p:nvPr/>
        </p:nvSpPr>
        <p:spPr>
          <a:xfrm>
            <a:off x="1197864" y="164592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If one Central Claim contains most speeches, it may be too broad.</a:t>
            </a:r>
          </a:p>
        </p:txBody>
      </p:sp>
      <p:sp>
        <p:nvSpPr>
          <p:cNvPr id="10" name="Text 8">
            <a:extLst>
              <a:ext uri="{FF2B5EF4-FFF2-40B4-BE49-F238E27FC236}">
                <a16:creationId xmlns:a16="http://schemas.microsoft.com/office/drawing/2014/main" xmlns="" id="{3B156974-7EAF-459B-9676-0D4D0AECC8C2}"/>
              </a:ext>
            </a:extLst>
          </p:cNvPr>
          <p:cNvSpPr>
            <a:spLocks noGrp="1"/>
          </p:cNvSpPr>
          <p:nvPr/>
        </p:nvSpPr>
        <p:spPr>
          <a:xfrm>
            <a:off x="868680" y="224942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15E6384D-82D2-4B58-AE7D-A965BC0C8D3A}"/>
              </a:ext>
            </a:extLst>
          </p:cNvPr>
          <p:cNvSpPr>
            <a:spLocks noGrp="1"/>
          </p:cNvSpPr>
          <p:nvPr/>
        </p:nvSpPr>
        <p:spPr>
          <a:xfrm>
            <a:off x="1197864" y="221284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If many Central Claims contain only one speech, the compendium may be too fragmented.</a:t>
            </a:r>
          </a:p>
        </p:txBody>
      </p:sp>
      <p:sp>
        <p:nvSpPr>
          <p:cNvPr id="12" name="Text 10">
            <a:extLst>
              <a:ext uri="{FF2B5EF4-FFF2-40B4-BE49-F238E27FC236}">
                <a16:creationId xmlns:a16="http://schemas.microsoft.com/office/drawing/2014/main" xmlns="" id="{A6B34EE0-1D9C-4A71-A610-C0FC2EDC7298}"/>
              </a:ext>
            </a:extLst>
          </p:cNvPr>
          <p:cNvSpPr>
            <a:spLocks noGrp="1"/>
          </p:cNvSpPr>
          <p:nvPr/>
        </p:nvSpPr>
        <p:spPr>
          <a:xfrm>
            <a:off x="868680" y="281635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3891D484-3B02-4C32-B3C4-622BCCD6807E}"/>
              </a:ext>
            </a:extLst>
          </p:cNvPr>
          <p:cNvSpPr>
            <a:spLocks noGrp="1"/>
          </p:cNvSpPr>
          <p:nvPr/>
        </p:nvSpPr>
        <p:spPr>
          <a:xfrm>
            <a:off x="1197864" y="2779776"/>
            <a:ext cx="10186416" cy="438912"/>
          </a:xfrm>
          <a:prstGeom prst="rect">
            <a:avLst/>
          </a:prstGeom>
          <a:noFill/>
        </p:spPr>
        <p:txBody>
          <a:bodyPr wrap="square" lIns="254" tIns="254" rIns="254" bIns="254" anchor="ctr">
            <a:normAutofit fontScale="85000" lnSpcReduction="10000"/>
          </a:bodyPr>
          <a:lstStyle/>
          <a:p>
            <a:pPr marL="0" indent="0">
              <a:buNone/>
            </a:pPr>
            <a:r>
              <a:rPr sz="2000">
                <a:solidFill>
                  <a:srgbClr val="1F2937"/>
                </a:solidFill>
              </a:rPr>
              <a:t>A good distribution usually has some large clusters and some smaller clusters, but not extreme imbalance.</a:t>
            </a:r>
          </a:p>
        </p:txBody>
      </p:sp>
      <p:sp>
        <p:nvSpPr>
          <p:cNvPr id="14" name="Text 12">
            <a:extLst>
              <a:ext uri="{FF2B5EF4-FFF2-40B4-BE49-F238E27FC236}">
                <a16:creationId xmlns:a16="http://schemas.microsoft.com/office/drawing/2014/main" xmlns="" id="{392A7809-7F2F-442B-8A94-2C2FE6824AAF}"/>
              </a:ext>
            </a:extLst>
          </p:cNvPr>
          <p:cNvSpPr>
            <a:spLocks noGrp="1"/>
          </p:cNvSpPr>
          <p:nvPr/>
        </p:nvSpPr>
        <p:spPr>
          <a:xfrm>
            <a:off x="868680" y="338328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DAE3ACD2-7F66-46D2-B180-131407816F67}"/>
              </a:ext>
            </a:extLst>
          </p:cNvPr>
          <p:cNvSpPr>
            <a:spLocks noGrp="1"/>
          </p:cNvSpPr>
          <p:nvPr/>
        </p:nvSpPr>
        <p:spPr>
          <a:xfrm>
            <a:off x="1197864" y="334670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This metric helps choose better target counts.</a:t>
            </a:r>
          </a:p>
        </p:txBody>
      </p:sp>
      <p:sp>
        <p:nvSpPr>
          <p:cNvPr id="16" name="Text 14">
            <a:extLst>
              <a:ext uri="{FF2B5EF4-FFF2-40B4-BE49-F238E27FC236}">
                <a16:creationId xmlns:a16="http://schemas.microsoft.com/office/drawing/2014/main" xmlns="" id="{64FA6304-5CAD-4ECA-84EC-4456E0DE30F7}"/>
              </a:ext>
            </a:extLst>
          </p:cNvPr>
          <p:cNvSpPr>
            <a:spLocks noGrp="1"/>
          </p:cNvSpPr>
          <p:nvPr/>
        </p:nvSpPr>
        <p:spPr>
          <a:xfrm>
            <a:off x="1097280" y="5074920"/>
            <a:ext cx="9875520" cy="658368"/>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000" b="1">
                <a:solidFill>
                  <a:srgbClr val="1F2937"/>
                </a:solidFill>
              </a:rPr>
              <a:t>The metric does not replace judgment; it gives judgment something concrete to inspect.</a:t>
            </a:r>
          </a:p>
        </p:txBody>
      </p:sp>
    </p:spTree>
    <p:extLst>
      <p:ext uri="{BB962C8B-B14F-4D97-AF65-F5344CB8AC3E}">
        <p14:creationId xmlns:p14="http://schemas.microsoft.com/office/powerpoint/2010/main" val="21365732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75F68AB1-EDB8-49A6-82B4-F6416DD1E93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7B26AD1-9C66-4B08-8BBE-1304BDC5D66C}"/>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038E8CE3-F5FF-4D6F-A42C-65D2FCFFAF59}"/>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1EB79694-ECDF-4CD2-A1CF-6FD428700F92}"/>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0942643-F7D3-4561-B5EA-750D48C03216}"/>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Thin vs thick compendium</a:t>
            </a:r>
          </a:p>
        </p:txBody>
      </p:sp>
      <p:sp>
        <p:nvSpPr>
          <p:cNvPr id="7" name="Text 5">
            <a:extLst>
              <a:ext uri="{FF2B5EF4-FFF2-40B4-BE49-F238E27FC236}">
                <a16:creationId xmlns:a16="http://schemas.microsoft.com/office/drawing/2014/main" xmlns="" id="{75ED6864-5C7E-4764-B900-8B0EBC1603E3}"/>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target counts affect how much support each chapter has.</a:t>
            </a:r>
          </a:p>
        </p:txBody>
      </p:sp>
      <p:sp>
        <p:nvSpPr>
          <p:cNvPr id="8" name="Text 6">
            <a:extLst>
              <a:ext uri="{FF2B5EF4-FFF2-40B4-BE49-F238E27FC236}">
                <a16:creationId xmlns:a16="http://schemas.microsoft.com/office/drawing/2014/main" xmlns="" id="{88D645B1-B2B3-4A07-A438-13F9D562BA9D}"/>
              </a:ext>
            </a:extLst>
          </p:cNvPr>
          <p:cNvSpPr>
            <a:spLocks noGrp="1"/>
          </p:cNvSpPr>
          <p:nvPr/>
        </p:nvSpPr>
        <p:spPr>
          <a:xfrm>
            <a:off x="914400" y="1828800"/>
            <a:ext cx="4389120" cy="123444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2000" b="1">
                <a:solidFill>
                  <a:srgbClr val="1F2937"/>
                </a:solidFill>
              </a:rPr>
              <a:t>Thin chapter</a:t>
            </a:r>
          </a:p>
          <a:p>
            <a:pPr marL="0" indent="0" algn="ctr">
              <a:buNone/>
            </a:pPr>
            <a:r>
              <a:rPr sz="2000" b="1">
                <a:solidFill>
                  <a:srgbClr val="1F2937"/>
                </a:solidFill>
              </a:rPr>
              <a:t>Few speeches</a:t>
            </a:r>
          </a:p>
          <a:p>
            <a:pPr marL="0" indent="0" algn="ctr">
              <a:buNone/>
            </a:pPr>
            <a:r>
              <a:rPr sz="2000" b="1">
                <a:solidFill>
                  <a:srgbClr val="1F2937"/>
                </a:solidFill>
              </a:rPr>
              <a:t>Little evidence</a:t>
            </a:r>
          </a:p>
          <a:p>
            <a:pPr marL="0" indent="0" algn="ctr">
              <a:buNone/>
            </a:pPr>
            <a:r>
              <a:rPr sz="2000" b="1">
                <a:solidFill>
                  <a:srgbClr val="1F2937"/>
                </a:solidFill>
              </a:rPr>
              <a:t>Weak evolution over time</a:t>
            </a:r>
          </a:p>
        </p:txBody>
      </p:sp>
      <p:sp>
        <p:nvSpPr>
          <p:cNvPr id="9" name="Text 7">
            <a:extLst>
              <a:ext uri="{FF2B5EF4-FFF2-40B4-BE49-F238E27FC236}">
                <a16:creationId xmlns:a16="http://schemas.microsoft.com/office/drawing/2014/main" xmlns="" id="{423FC4FC-DD77-42D1-804B-9AF87A9F1123}"/>
              </a:ext>
            </a:extLst>
          </p:cNvPr>
          <p:cNvSpPr>
            <a:spLocks noGrp="1"/>
          </p:cNvSpPr>
          <p:nvPr/>
        </p:nvSpPr>
        <p:spPr>
          <a:xfrm>
            <a:off x="6400800" y="1828800"/>
            <a:ext cx="4389120" cy="123444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Thick chapter</a:t>
            </a:r>
          </a:p>
          <a:p>
            <a:pPr marL="0" indent="0" algn="ctr">
              <a:buNone/>
            </a:pPr>
            <a:r>
              <a:rPr sz="2000" b="1">
                <a:solidFill>
                  <a:srgbClr val="1F2937"/>
                </a:solidFill>
              </a:rPr>
              <a:t>Many speeches</a:t>
            </a:r>
          </a:p>
          <a:p>
            <a:pPr marL="0" indent="0" algn="ctr">
              <a:buNone/>
            </a:pPr>
            <a:r>
              <a:rPr sz="2000" b="1">
                <a:solidFill>
                  <a:srgbClr val="1F2937"/>
                </a:solidFill>
              </a:rPr>
              <a:t>Rich evidence</a:t>
            </a:r>
          </a:p>
          <a:p>
            <a:pPr marL="0" indent="0" algn="ctr">
              <a:buNone/>
            </a:pPr>
            <a:r>
              <a:rPr sz="2000" b="1">
                <a:solidFill>
                  <a:srgbClr val="1F2937"/>
                </a:solidFill>
              </a:rPr>
              <a:t>Clear development over time</a:t>
            </a:r>
          </a:p>
        </p:txBody>
      </p:sp>
      <p:sp>
        <p:nvSpPr>
          <p:cNvPr id="10" name="Text 8">
            <a:extLst>
              <a:ext uri="{FF2B5EF4-FFF2-40B4-BE49-F238E27FC236}">
                <a16:creationId xmlns:a16="http://schemas.microsoft.com/office/drawing/2014/main" xmlns="" id="{0E5128F9-1EC7-45F0-8A5A-AF63065DC09D}"/>
              </a:ext>
            </a:extLst>
          </p:cNvPr>
          <p:cNvSpPr>
            <a:spLocks noGrp="1"/>
          </p:cNvSpPr>
          <p:nvPr/>
        </p:nvSpPr>
        <p:spPr>
          <a:xfrm>
            <a:off x="914400" y="42428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27986C1B-9E71-491C-9374-56CFD66AB819}"/>
              </a:ext>
            </a:extLst>
          </p:cNvPr>
          <p:cNvSpPr>
            <a:spLocks noGrp="1"/>
          </p:cNvSpPr>
          <p:nvPr/>
        </p:nvSpPr>
        <p:spPr>
          <a:xfrm>
            <a:off x="1243584" y="420624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Thin is not always wrong, but too much thinness makes the compendium shallow.</a:t>
            </a:r>
          </a:p>
        </p:txBody>
      </p:sp>
      <p:sp>
        <p:nvSpPr>
          <p:cNvPr id="12" name="Text 10">
            <a:extLst>
              <a:ext uri="{FF2B5EF4-FFF2-40B4-BE49-F238E27FC236}">
                <a16:creationId xmlns:a16="http://schemas.microsoft.com/office/drawing/2014/main" xmlns="" id="{FF470885-29FD-4EDA-95F8-0D8467D3FE2E}"/>
              </a:ext>
            </a:extLst>
          </p:cNvPr>
          <p:cNvSpPr>
            <a:spLocks noGrp="1"/>
          </p:cNvSpPr>
          <p:nvPr/>
        </p:nvSpPr>
        <p:spPr>
          <a:xfrm>
            <a:off x="914400" y="478231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18794C9C-1955-4105-973C-F66C5A9631E4}"/>
              </a:ext>
            </a:extLst>
          </p:cNvPr>
          <p:cNvSpPr>
            <a:spLocks noGrp="1"/>
          </p:cNvSpPr>
          <p:nvPr/>
        </p:nvSpPr>
        <p:spPr>
          <a:xfrm>
            <a:off x="1243584" y="474573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Thick chapters are more useful when they synthesize several speeches without losing detail.</a:t>
            </a:r>
          </a:p>
        </p:txBody>
      </p:sp>
      <p:sp>
        <p:nvSpPr>
          <p:cNvPr id="14" name="Text 12">
            <a:extLst>
              <a:ext uri="{FF2B5EF4-FFF2-40B4-BE49-F238E27FC236}">
                <a16:creationId xmlns:a16="http://schemas.microsoft.com/office/drawing/2014/main" xmlns="" id="{0327304D-3447-4061-90A2-6EAC768F9CE9}"/>
              </a:ext>
            </a:extLst>
          </p:cNvPr>
          <p:cNvSpPr>
            <a:spLocks noGrp="1"/>
          </p:cNvSpPr>
          <p:nvPr/>
        </p:nvSpPr>
        <p:spPr>
          <a:xfrm>
            <a:off x="914400" y="532180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46CEF65B-E18C-4A65-B389-0FCCFB707FBD}"/>
              </a:ext>
            </a:extLst>
          </p:cNvPr>
          <p:cNvSpPr>
            <a:spLocks noGrp="1"/>
          </p:cNvSpPr>
          <p:nvPr/>
        </p:nvSpPr>
        <p:spPr>
          <a:xfrm>
            <a:off x="1243584" y="5285232"/>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The goal is intellectual richness, not just shorter text.</a:t>
            </a:r>
          </a:p>
        </p:txBody>
      </p:sp>
    </p:spTree>
    <p:extLst>
      <p:ext uri="{BB962C8B-B14F-4D97-AF65-F5344CB8AC3E}">
        <p14:creationId xmlns:p14="http://schemas.microsoft.com/office/powerpoint/2010/main" val="6687796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Central Claim of a Thin Compendium</a:t>
            </a:r>
            <a:br>
              <a:rPr lang="en-US" dirty="0" smtClean="0"/>
            </a:br>
            <a:r>
              <a:rPr lang="en-US" dirty="0" smtClean="0"/>
              <a:t>is thinly populated</a:t>
            </a:r>
            <a:endParaRPr lang="en-US" dirty="0"/>
          </a:p>
        </p:txBody>
      </p:sp>
      <p:sp>
        <p:nvSpPr>
          <p:cNvPr id="3" name="Content Placeholder 2"/>
          <p:cNvSpPr>
            <a:spLocks noGrp="1"/>
          </p:cNvSpPr>
          <p:nvPr>
            <p:ph idx="1"/>
          </p:nvPr>
        </p:nvSpPr>
        <p:spPr/>
        <p:txBody>
          <a:bodyPr>
            <a:normAutofit fontScale="40000" lnSpcReduction="20000"/>
          </a:bodyPr>
          <a:lstStyle/>
          <a:p>
            <a:pPr marL="0" indent="0">
              <a:buNone/>
            </a:pPr>
            <a:r>
              <a:rPr lang="en-US" dirty="0"/>
              <a:t># Central Claim: </a:t>
            </a:r>
            <a:r>
              <a:rPr lang="en-US" dirty="0" err="1"/>
              <a:t>Hyperbitcoinization</a:t>
            </a:r>
            <a:r>
              <a:rPr lang="en-US" dirty="0"/>
              <a:t> would fundamentally change debt and investment strategies, making borrowing and fiat-based approaches obsolete.</a:t>
            </a:r>
          </a:p>
          <a:p>
            <a:pPr marL="0" indent="0">
              <a:buNone/>
            </a:pPr>
            <a:r>
              <a:rPr lang="en-US" dirty="0"/>
              <a:t>_</a:t>
            </a:r>
            <a:r>
              <a:rPr lang="en-US" dirty="0" err="1"/>
              <a:t>Hyperbitcoinization</a:t>
            </a:r>
            <a:r>
              <a:rPr lang="en-US" dirty="0"/>
              <a:t> changes debt_</a:t>
            </a:r>
          </a:p>
          <a:p>
            <a:pPr marL="0" indent="0">
              <a:buNone/>
            </a:pPr>
            <a:endParaRPr lang="en-US" dirty="0"/>
          </a:p>
          <a:p>
            <a:pPr marL="0" indent="0">
              <a:buNone/>
            </a:pPr>
            <a:r>
              <a:rPr lang="en-US" dirty="0"/>
              <a:t>## Theme: </a:t>
            </a:r>
            <a:r>
              <a:rPr lang="en-US" dirty="0" err="1"/>
              <a:t>Hyperbitcoinization</a:t>
            </a:r>
            <a:endParaRPr lang="en-US" dirty="0"/>
          </a:p>
          <a:p>
            <a:pPr marL="0" indent="0">
              <a:buNone/>
            </a:pPr>
            <a:r>
              <a:rPr lang="en-US" dirty="0"/>
              <a:t>*This theme also appears under: (none)*</a:t>
            </a:r>
          </a:p>
          <a:p>
            <a:pPr marL="0" indent="0">
              <a:buNone/>
            </a:pPr>
            <a:endParaRPr lang="en-US" dirty="0"/>
          </a:p>
          <a:p>
            <a:pPr marL="0" indent="0">
              <a:buNone/>
            </a:pPr>
            <a:r>
              <a:rPr lang="en-US" dirty="0"/>
              <a:t>### Argument: After </a:t>
            </a:r>
            <a:r>
              <a:rPr lang="en-US" dirty="0" err="1"/>
              <a:t>hyperbitcoinization</a:t>
            </a:r>
            <a:r>
              <a:rPr lang="en-US" dirty="0"/>
              <a:t>, Bitcoin's price appreciation stops, borrowing becomes infeasible, and people prefer saving over debt.</a:t>
            </a:r>
          </a:p>
          <a:p>
            <a:pPr marL="0" indent="0">
              <a:buNone/>
            </a:pPr>
            <a:endParaRPr lang="en-US" dirty="0"/>
          </a:p>
          <a:p>
            <a:pPr marL="0" indent="0">
              <a:buNone/>
            </a:pPr>
            <a:r>
              <a:rPr lang="en-US" dirty="0"/>
              <a:t>**Synthesis of premises across speeches:**</a:t>
            </a:r>
          </a:p>
          <a:p>
            <a:pPr marL="0" indent="0">
              <a:buNone/>
            </a:pPr>
            <a:r>
              <a:rPr lang="en-US" dirty="0"/>
              <a:t>Once Bitcoin is global reserve, purchasing power grows only with economy. Fiat currencies gone; borrowing in Bitcoin unattractive due to deflation. Debt becomes painful as prices decline in Bitcoin terms.</a:t>
            </a:r>
          </a:p>
          <a:p>
            <a:pPr marL="0" indent="0">
              <a:buNone/>
            </a:pPr>
            <a:endParaRPr lang="en-US" dirty="0"/>
          </a:p>
          <a:p>
            <a:pPr marL="0" indent="0">
              <a:buNone/>
            </a:pPr>
            <a:r>
              <a:rPr lang="en-US" dirty="0"/>
              <a:t>**Conclusion supported:**</a:t>
            </a:r>
          </a:p>
          <a:p>
            <a:pPr marL="0" indent="0">
              <a:buNone/>
            </a:pPr>
            <a:r>
              <a:rPr lang="en-US" dirty="0"/>
              <a:t>'Buy, borrow, die' strategy fails in a Bitcoin standard.</a:t>
            </a:r>
          </a:p>
          <a:p>
            <a:pPr marL="0" indent="0">
              <a:buNone/>
            </a:pPr>
            <a:endParaRPr lang="en-US" dirty="0"/>
          </a:p>
          <a:p>
            <a:pPr marL="0" indent="0">
              <a:buNone/>
            </a:pPr>
            <a:r>
              <a:rPr lang="en-US" dirty="0"/>
              <a:t>#### Evidence &amp; Support</a:t>
            </a:r>
          </a:p>
          <a:p>
            <a:pPr marL="0" indent="0">
              <a:buNone/>
            </a:pPr>
            <a:r>
              <a:rPr lang="en-US" dirty="0"/>
              <a:t>- None</a:t>
            </a:r>
          </a:p>
          <a:p>
            <a:pPr marL="0" indent="0">
              <a:buNone/>
            </a:pPr>
            <a:endParaRPr lang="en-US" dirty="0"/>
          </a:p>
          <a:p>
            <a:pPr marL="0" indent="0">
              <a:buNone/>
            </a:pPr>
            <a:r>
              <a:rPr lang="en-US" dirty="0"/>
              <a:t>#### Notable Analogies &amp; Rhetorical Devices</a:t>
            </a:r>
          </a:p>
          <a:p>
            <a:pPr marL="0" indent="0">
              <a:buNone/>
            </a:pPr>
            <a:r>
              <a:rPr lang="en-US" dirty="0"/>
              <a:t>- Loan denominated in continentals (Speech: 20211110_Why Buy, Borrow, Die Doesn't Work for Bitcoin.txt)</a:t>
            </a:r>
          </a:p>
          <a:p>
            <a:pPr marL="0" indent="0">
              <a:buNone/>
            </a:pPr>
            <a:endParaRPr lang="en-US" dirty="0"/>
          </a:p>
          <a:p>
            <a:pPr marL="0" indent="0">
              <a:buNone/>
            </a:pPr>
            <a:r>
              <a:rPr lang="en-US" dirty="0"/>
              <a:t>#### Evolution Over Time</a:t>
            </a:r>
          </a:p>
          <a:p>
            <a:pPr marL="0" indent="0">
              <a:buNone/>
            </a:pPr>
            <a:r>
              <a:rPr lang="en-US" dirty="0"/>
              <a:t>Single speech.</a:t>
            </a:r>
          </a:p>
        </p:txBody>
      </p:sp>
      <p:sp>
        <p:nvSpPr>
          <p:cNvPr id="4" name="Slide Number Placeholder 3"/>
          <p:cNvSpPr>
            <a:spLocks noGrp="1"/>
          </p:cNvSpPr>
          <p:nvPr>
            <p:ph type="sldNum" sz="quarter" idx="12"/>
          </p:nvPr>
        </p:nvSpPr>
        <p:spPr/>
        <p:txBody>
          <a:bodyPr/>
          <a:lstStyle/>
          <a:p>
            <a:fld id="{7C0EB9A0-BC10-4E22-9EDE-7247F36A1CAB}" type="slidenum">
              <a:rPr lang="en-US" smtClean="0"/>
              <a:t>70</a:t>
            </a:fld>
            <a:endParaRPr lang="en-US"/>
          </a:p>
        </p:txBody>
      </p:sp>
    </p:spTree>
    <p:extLst>
      <p:ext uri="{BB962C8B-B14F-4D97-AF65-F5344CB8AC3E}">
        <p14:creationId xmlns:p14="http://schemas.microsoft.com/office/powerpoint/2010/main" val="260931581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Central Claim of a </a:t>
            </a:r>
            <a:r>
              <a:rPr lang="en-US" dirty="0" smtClean="0"/>
              <a:t>Thick Compendium is Well Populated</a:t>
            </a:r>
            <a:endParaRPr lang="en-US" dirty="0"/>
          </a:p>
        </p:txBody>
      </p:sp>
      <p:sp>
        <p:nvSpPr>
          <p:cNvPr id="3" name="Content Placeholder 2"/>
          <p:cNvSpPr>
            <a:spLocks noGrp="1"/>
          </p:cNvSpPr>
          <p:nvPr>
            <p:ph idx="1"/>
          </p:nvPr>
        </p:nvSpPr>
        <p:spPr/>
        <p:txBody>
          <a:bodyPr>
            <a:normAutofit fontScale="32500" lnSpcReduction="20000"/>
          </a:bodyPr>
          <a:lstStyle/>
          <a:p>
            <a:r>
              <a:rPr lang="en-US" dirty="0"/>
              <a:t># Central Claim: Unsustainable fiscal deficits and tightening force the Federal Reserve to pivot to stealth QE and covert liquidity operations, causing persistent inflation and bond market stress.</a:t>
            </a:r>
          </a:p>
          <a:p>
            <a:endParaRPr lang="en-US" dirty="0"/>
          </a:p>
          <a:p>
            <a:r>
              <a:rPr lang="en-US" dirty="0"/>
              <a:t>_Fiscal dominance forces Fed to monetize debt via stealth QE._</a:t>
            </a:r>
          </a:p>
          <a:p>
            <a:endParaRPr lang="en-US" dirty="0"/>
          </a:p>
          <a:p>
            <a:r>
              <a:rPr lang="en-US" dirty="0"/>
              <a:t>## Theme: Fed tightening cycle, recession signals, and policy credibility</a:t>
            </a:r>
          </a:p>
          <a:p>
            <a:r>
              <a:rPr lang="en-US" dirty="0"/>
              <a:t>*This theme also appears under: The Federal Reserve will not pivot to easing in the near term due to persistent inflation or recessionary conditions.*</a:t>
            </a:r>
          </a:p>
          <a:p>
            <a:endParaRPr lang="en-US" dirty="0"/>
          </a:p>
          <a:p>
            <a:r>
              <a:rPr lang="en-US" dirty="0"/>
              <a:t>### Argument: The current surge in mortgage rates is directly caused by the Federal Reserve's taper of mortgage-backed security purchases.</a:t>
            </a:r>
          </a:p>
          <a:p>
            <a:endParaRPr lang="en-US" dirty="0"/>
          </a:p>
          <a:p>
            <a:r>
              <a:rPr lang="en-US" dirty="0"/>
              <a:t>**Synthesis of premises across speeches:**</a:t>
            </a:r>
          </a:p>
          <a:p>
            <a:r>
              <a:rPr lang="en-US" dirty="0"/>
              <a:t>This conclusion is drawn from a single speech (20220113). It premises that prior to November 2021 the Fed bought $40 billion per month in MBS, keeping rates artificially low. The taper reduced demand for mortgages, and the inverse bond price‑yield relationship drove rates higher.</a:t>
            </a:r>
          </a:p>
          <a:p>
            <a:endParaRPr lang="en-US" dirty="0"/>
          </a:p>
          <a:p>
            <a:r>
              <a:rPr lang="en-US" dirty="0"/>
              <a:t>**Conclusion supported:**</a:t>
            </a:r>
          </a:p>
          <a:p>
            <a:r>
              <a:rPr lang="en-US" dirty="0"/>
              <a:t>The surge in mortgage rates is directly attributable to the Fed’s MBS taper, as argued consistently in that speech.</a:t>
            </a:r>
          </a:p>
          <a:p>
            <a:endParaRPr lang="en-US" dirty="0"/>
          </a:p>
          <a:p>
            <a:r>
              <a:rPr lang="en-US" dirty="0"/>
              <a:t>#### Evidence &amp; Support</a:t>
            </a:r>
          </a:p>
          <a:p>
            <a:r>
              <a:rPr lang="en-US" dirty="0"/>
              <a:t>- 30-year mortgage rate rose from just over 3.0% (end‑Dec 2021) to 3.45% (mid‑Jan 2022) — ✅ Verified (Freddie Mac PMMS data, Speech: 20220113_Mortgage Rates are Surging.txt)</a:t>
            </a:r>
          </a:p>
          <a:p>
            <a:r>
              <a:rPr lang="en-US" dirty="0"/>
              <a:t>- Fed purchased $120B/month ($80B Treasuries, $40B MBS) from Nov 2020 to Oct 2021 — ✅ Verified (Fed statements, Speech: 20220113_Mortgage Rates are Surging.txt)</a:t>
            </a:r>
          </a:p>
          <a:p>
            <a:r>
              <a:rPr lang="en-US" dirty="0"/>
              <a:t>- Taper began Nov 2021 — ✅ Verified (policy announcement, Speech: 20220113_Mortgage Rates are Surging.txt)</a:t>
            </a:r>
          </a:p>
          <a:p>
            <a:r>
              <a:rPr lang="en-US" dirty="0"/>
              <a:t>- Explanation of inverse bond price‑yield relationship — ✅ Verified (finance principle, Speech: 20220113_Mortgage Rates are Surging.txt)</a:t>
            </a:r>
          </a:p>
          <a:p>
            <a:endParaRPr lang="en-US" dirty="0"/>
          </a:p>
          <a:p>
            <a:r>
              <a:rPr lang="en-US" dirty="0"/>
              <a:t>#### Notable Analogies &amp; Rhetorical Devices</a:t>
            </a:r>
          </a:p>
          <a:p>
            <a:r>
              <a:rPr lang="en-US" dirty="0"/>
              <a:t>- **Bond price‑yield demonstration:** a hypothetical of borrowing $100 at 1% and selling the debt for $101 to show how Fed buying lowers mortgage rates. (Speech: 20220113_Mortgage Rates are Surging.txt)</a:t>
            </a:r>
          </a:p>
          <a:p>
            <a:endParaRPr lang="en-US" dirty="0"/>
          </a:p>
          <a:p>
            <a:r>
              <a:rPr lang="en-US" dirty="0"/>
              <a:t>#### Evolution Over Time</a:t>
            </a:r>
          </a:p>
          <a:p>
            <a:r>
              <a:rPr lang="en-US" dirty="0"/>
              <a:t>Omitted – only one speech supports this argument.</a:t>
            </a:r>
          </a:p>
        </p:txBody>
      </p:sp>
      <p:sp>
        <p:nvSpPr>
          <p:cNvPr id="4" name="Slide Number Placeholder 3"/>
          <p:cNvSpPr>
            <a:spLocks noGrp="1"/>
          </p:cNvSpPr>
          <p:nvPr>
            <p:ph type="sldNum" sz="quarter" idx="12"/>
          </p:nvPr>
        </p:nvSpPr>
        <p:spPr/>
        <p:txBody>
          <a:bodyPr/>
          <a:lstStyle/>
          <a:p>
            <a:fld id="{7C0EB9A0-BC10-4E22-9EDE-7247F36A1CAB}" type="slidenum">
              <a:rPr lang="en-US" smtClean="0"/>
              <a:t>71</a:t>
            </a:fld>
            <a:endParaRPr lang="en-US"/>
          </a:p>
        </p:txBody>
      </p:sp>
    </p:spTree>
    <p:extLst>
      <p:ext uri="{BB962C8B-B14F-4D97-AF65-F5344CB8AC3E}">
        <p14:creationId xmlns:p14="http://schemas.microsoft.com/office/powerpoint/2010/main" val="333889059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31173DAB-0A15-47B7-861A-5DE2230BDD2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C32B35E5-5EC2-4AEF-82FC-1F717023B679}"/>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F208D454-F19E-4C21-A323-7FB67FBBA2C7}"/>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0ED0CD1F-84B7-4429-AA84-EC8DC2D9C573}"/>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9067DFE7-FD0F-4391-BAA8-AA0DF26F2A2F}"/>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iterative workflow</a:t>
            </a:r>
          </a:p>
        </p:txBody>
      </p:sp>
      <p:sp>
        <p:nvSpPr>
          <p:cNvPr id="7" name="Text 5">
            <a:extLst>
              <a:ext uri="{FF2B5EF4-FFF2-40B4-BE49-F238E27FC236}">
                <a16:creationId xmlns:a16="http://schemas.microsoft.com/office/drawing/2014/main" xmlns="" id="{6D8967DD-1C72-4CFD-B949-81A7003ED331}"/>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Each version of the program should produce outputs that can be measured and improved.</a:t>
            </a:r>
          </a:p>
        </p:txBody>
      </p:sp>
      <p:sp>
        <p:nvSpPr>
          <p:cNvPr id="8" name="Text 6">
            <a:extLst>
              <a:ext uri="{FF2B5EF4-FFF2-40B4-BE49-F238E27FC236}">
                <a16:creationId xmlns:a16="http://schemas.microsoft.com/office/drawing/2014/main" xmlns="" id="{52E132CB-1AB5-413B-B7E7-F250C050583A}"/>
              </a:ext>
            </a:extLst>
          </p:cNvPr>
          <p:cNvSpPr>
            <a:spLocks noGrp="1"/>
          </p:cNvSpPr>
          <p:nvPr/>
        </p:nvSpPr>
        <p:spPr>
          <a:xfrm>
            <a:off x="731520" y="2103120"/>
            <a:ext cx="1965960" cy="68580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600" b="1">
                <a:solidFill>
                  <a:srgbClr val="1F2937"/>
                </a:solidFill>
              </a:rPr>
              <a:t>Prompt 1</a:t>
            </a:r>
          </a:p>
          <a:p>
            <a:pPr marL="0" indent="0" algn="ctr">
              <a:buNone/>
            </a:pPr>
            <a:r>
              <a:rPr sz="1600" b="1">
                <a:solidFill>
                  <a:srgbClr val="1F2937"/>
                </a:solidFill>
              </a:rPr>
              <a:t>→ Program P1</a:t>
            </a:r>
          </a:p>
        </p:txBody>
      </p:sp>
      <p:sp>
        <p:nvSpPr>
          <p:cNvPr id="9" name="Shape 7">
            <a:extLst>
              <a:ext uri="{FF2B5EF4-FFF2-40B4-BE49-F238E27FC236}">
                <a16:creationId xmlns:a16="http://schemas.microsoft.com/office/drawing/2014/main" xmlns="" id="{9684FF83-6BF5-4B38-A810-D988D54C808A}"/>
              </a:ext>
            </a:extLst>
          </p:cNvPr>
          <p:cNvSpPr>
            <a:spLocks noGrp="1"/>
          </p:cNvSpPr>
          <p:nvPr/>
        </p:nvSpPr>
        <p:spPr>
          <a:xfrm>
            <a:off x="2880360" y="2450592"/>
            <a:ext cx="54864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3A3BDF07-9C42-4C47-AB5D-028AF47F2F6F}"/>
              </a:ext>
            </a:extLst>
          </p:cNvPr>
          <p:cNvSpPr>
            <a:spLocks noGrp="1"/>
          </p:cNvSpPr>
          <p:nvPr/>
        </p:nvSpPr>
        <p:spPr>
          <a:xfrm>
            <a:off x="3611880" y="2103120"/>
            <a:ext cx="1965960" cy="68580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600" b="1">
                <a:solidFill>
                  <a:srgbClr val="1F2937"/>
                </a:solidFill>
              </a:rPr>
              <a:t>Run P1</a:t>
            </a:r>
          </a:p>
          <a:p>
            <a:pPr marL="0" indent="0" algn="ctr">
              <a:buNone/>
            </a:pPr>
            <a:r>
              <a:rPr sz="1600" b="1">
                <a:solidFill>
                  <a:srgbClr val="1F2937"/>
                </a:solidFill>
              </a:rPr>
              <a:t>→ Outputs</a:t>
            </a:r>
          </a:p>
        </p:txBody>
      </p:sp>
      <p:sp>
        <p:nvSpPr>
          <p:cNvPr id="11" name="Shape 9">
            <a:extLst>
              <a:ext uri="{FF2B5EF4-FFF2-40B4-BE49-F238E27FC236}">
                <a16:creationId xmlns:a16="http://schemas.microsoft.com/office/drawing/2014/main" xmlns="" id="{BE376F5D-88DC-4F16-9F5B-9F256A8FB638}"/>
              </a:ext>
            </a:extLst>
          </p:cNvPr>
          <p:cNvSpPr>
            <a:spLocks noGrp="1"/>
          </p:cNvSpPr>
          <p:nvPr/>
        </p:nvSpPr>
        <p:spPr>
          <a:xfrm>
            <a:off x="5760720" y="2450592"/>
            <a:ext cx="54864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794C7A38-5BBC-46EF-A887-1FD48B965FC5}"/>
              </a:ext>
            </a:extLst>
          </p:cNvPr>
          <p:cNvSpPr>
            <a:spLocks noGrp="1"/>
          </p:cNvSpPr>
          <p:nvPr/>
        </p:nvSpPr>
        <p:spPr>
          <a:xfrm>
            <a:off x="6492240" y="2103120"/>
            <a:ext cx="1965960" cy="68580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600" b="1">
                <a:solidFill>
                  <a:srgbClr val="1F2937"/>
                </a:solidFill>
              </a:rPr>
              <a:t>Evaluate</a:t>
            </a:r>
          </a:p>
          <a:p>
            <a:pPr marL="0" indent="0" algn="ctr">
              <a:buNone/>
            </a:pPr>
            <a:r>
              <a:rPr sz="1600" b="1">
                <a:solidFill>
                  <a:srgbClr val="1F2937"/>
                </a:solidFill>
              </a:rPr>
              <a:t>→ Metric M1</a:t>
            </a:r>
          </a:p>
        </p:txBody>
      </p:sp>
      <p:sp>
        <p:nvSpPr>
          <p:cNvPr id="13" name="Shape 11">
            <a:extLst>
              <a:ext uri="{FF2B5EF4-FFF2-40B4-BE49-F238E27FC236}">
                <a16:creationId xmlns:a16="http://schemas.microsoft.com/office/drawing/2014/main" xmlns="" id="{32A47D54-2608-4FC0-8D0E-B219367F29FC}"/>
              </a:ext>
            </a:extLst>
          </p:cNvPr>
          <p:cNvSpPr>
            <a:spLocks noGrp="1"/>
          </p:cNvSpPr>
          <p:nvPr/>
        </p:nvSpPr>
        <p:spPr>
          <a:xfrm>
            <a:off x="8641080" y="2450592"/>
            <a:ext cx="548640" cy="0"/>
          </a:xfrm>
          <a:prstGeom prst="line">
            <a:avLst/>
          </a:prstGeom>
          <a:noFill/>
          <a:ln w="16510">
            <a:solidFill>
              <a:srgbClr val="596273"/>
            </a:solidFill>
            <a:prstDash val="solid"/>
          </a:ln>
        </p:spPr>
      </p:sp>
      <p:sp>
        <p:nvSpPr>
          <p:cNvPr id="14" name="Text 12">
            <a:extLst>
              <a:ext uri="{FF2B5EF4-FFF2-40B4-BE49-F238E27FC236}">
                <a16:creationId xmlns:a16="http://schemas.microsoft.com/office/drawing/2014/main" xmlns="" id="{D8F5127B-CAFD-4FFE-953B-6DBFA0792AB8}"/>
              </a:ext>
            </a:extLst>
          </p:cNvPr>
          <p:cNvSpPr>
            <a:spLocks noGrp="1"/>
          </p:cNvSpPr>
          <p:nvPr/>
        </p:nvSpPr>
        <p:spPr>
          <a:xfrm>
            <a:off x="9372600" y="2103120"/>
            <a:ext cx="1965960" cy="685800"/>
          </a:xfrm>
          <a:prstGeom prst="rect">
            <a:avLst/>
          </a:prstGeom>
          <a:solidFill>
            <a:srgbClr val="FFF3DA"/>
          </a:solidFill>
          <a:ln w="15240">
            <a:solidFill>
              <a:srgbClr val="A55D00"/>
            </a:solidFill>
          </a:ln>
        </p:spPr>
        <p:txBody>
          <a:bodyPr wrap="square" lIns="1016" tIns="1016" rIns="1016" bIns="1016" anchor="ctr">
            <a:normAutofit/>
          </a:bodyPr>
          <a:lstStyle/>
          <a:p>
            <a:pPr marL="0" indent="0" algn="ctr">
              <a:buNone/>
            </a:pPr>
            <a:r>
              <a:rPr sz="1600" b="1">
                <a:solidFill>
                  <a:srgbClr val="1F2937"/>
                </a:solidFill>
              </a:rPr>
              <a:t>Revise prompt</a:t>
            </a:r>
          </a:p>
          <a:p>
            <a:pPr marL="0" indent="0" algn="ctr">
              <a:buNone/>
            </a:pPr>
            <a:r>
              <a:rPr sz="1600" b="1">
                <a:solidFill>
                  <a:srgbClr val="1F2937"/>
                </a:solidFill>
              </a:rPr>
              <a:t>→ P2</a:t>
            </a:r>
          </a:p>
        </p:txBody>
      </p:sp>
      <p:sp>
        <p:nvSpPr>
          <p:cNvPr id="15" name="Text 13">
            <a:extLst>
              <a:ext uri="{FF2B5EF4-FFF2-40B4-BE49-F238E27FC236}">
                <a16:creationId xmlns:a16="http://schemas.microsoft.com/office/drawing/2014/main" xmlns="" id="{E7DDCDB8-78B6-47C5-975D-4F364CF4CC85}"/>
              </a:ext>
            </a:extLst>
          </p:cNvPr>
          <p:cNvSpPr>
            <a:spLocks noGrp="1"/>
          </p:cNvSpPr>
          <p:nvPr/>
        </p:nvSpPr>
        <p:spPr>
          <a:xfrm>
            <a:off x="1051560" y="4160520"/>
            <a:ext cx="10058400" cy="685800"/>
          </a:xfrm>
          <a:prstGeom prst="rect">
            <a:avLst/>
          </a:prstGeom>
          <a:solidFill>
            <a:srgbClr val="EEEAFE"/>
          </a:solidFill>
          <a:ln w="15240">
            <a:solidFill>
              <a:srgbClr val="40319B"/>
            </a:solidFill>
          </a:ln>
        </p:spPr>
        <p:txBody>
          <a:bodyPr wrap="square" lIns="1778" tIns="1778" rIns="1778" bIns="1778" anchor="ctr">
            <a:normAutofit/>
          </a:bodyPr>
          <a:lstStyle/>
          <a:p>
            <a:pPr marL="0" indent="0">
              <a:buNone/>
            </a:pPr>
            <a:r>
              <a:rPr sz="2000" b="1">
                <a:solidFill>
                  <a:srgbClr val="1F2937"/>
                </a:solidFill>
              </a:rPr>
              <a:t>Continue: P2 → M2, P3 → M3, until the metrics and manual inspection are acceptable.</a:t>
            </a:r>
          </a:p>
        </p:txBody>
      </p:sp>
    </p:spTree>
    <p:extLst>
      <p:ext uri="{BB962C8B-B14F-4D97-AF65-F5344CB8AC3E}">
        <p14:creationId xmlns:p14="http://schemas.microsoft.com/office/powerpoint/2010/main" val="20484527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A9928484-3B1F-4558-AFAE-D0ABF92E684A}"/>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6606C04B-BBDF-4663-956B-C43F7CCE7D44}"/>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5 · Evaluation</a:t>
            </a:r>
          </a:p>
        </p:txBody>
      </p:sp>
      <p:sp>
        <p:nvSpPr>
          <p:cNvPr id="4" name="Shape 2">
            <a:extLst>
              <a:ext uri="{FF2B5EF4-FFF2-40B4-BE49-F238E27FC236}">
                <a16:creationId xmlns:a16="http://schemas.microsoft.com/office/drawing/2014/main" xmlns="" id="{BEF631C3-CF83-4631-9290-DF5B928D5D3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F5343296-5055-4824-BEFC-630099963E2F}"/>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A5DC253C-9CF0-4B35-BF3F-64C9CF459898}"/>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Inspect intermediate outputs</a:t>
            </a:r>
          </a:p>
        </p:txBody>
      </p:sp>
      <p:sp>
        <p:nvSpPr>
          <p:cNvPr id="7" name="Text 5">
            <a:extLst>
              <a:ext uri="{FF2B5EF4-FFF2-40B4-BE49-F238E27FC236}">
                <a16:creationId xmlns:a16="http://schemas.microsoft.com/office/drawing/2014/main" xmlns="" id="{980D6817-34BD-4BE6-A128-F450BF78D98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Do not treat the pipeline as a black box.</a:t>
            </a:r>
          </a:p>
        </p:txBody>
      </p:sp>
      <p:sp>
        <p:nvSpPr>
          <p:cNvPr id="8" name="Text 6">
            <a:extLst>
              <a:ext uri="{FF2B5EF4-FFF2-40B4-BE49-F238E27FC236}">
                <a16:creationId xmlns:a16="http://schemas.microsoft.com/office/drawing/2014/main" xmlns="" id="{7979C683-76EB-4E90-B80A-0810FF552EB2}"/>
              </a:ext>
            </a:extLst>
          </p:cNvPr>
          <p:cNvSpPr>
            <a:spLocks noGrp="1"/>
          </p:cNvSpPr>
          <p:nvPr/>
        </p:nvSpPr>
        <p:spPr>
          <a:xfrm>
            <a:off x="868680" y="1682496"/>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9" name="Text 7">
            <a:extLst>
              <a:ext uri="{FF2B5EF4-FFF2-40B4-BE49-F238E27FC236}">
                <a16:creationId xmlns:a16="http://schemas.microsoft.com/office/drawing/2014/main" xmlns="" id="{093E98E2-E4DA-49BC-BA41-BBC5D6DB6FE5}"/>
              </a:ext>
            </a:extLst>
          </p:cNvPr>
          <p:cNvSpPr>
            <a:spLocks noGrp="1"/>
          </p:cNvSpPr>
          <p:nvPr/>
        </p:nvSpPr>
        <p:spPr>
          <a:xfrm>
            <a:off x="1197864" y="1645920"/>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Ask Claude to explain files such as canonical.json in plain language.</a:t>
            </a:r>
          </a:p>
        </p:txBody>
      </p:sp>
      <p:sp>
        <p:nvSpPr>
          <p:cNvPr id="10" name="Text 8">
            <a:extLst>
              <a:ext uri="{FF2B5EF4-FFF2-40B4-BE49-F238E27FC236}">
                <a16:creationId xmlns:a16="http://schemas.microsoft.com/office/drawing/2014/main" xmlns="" id="{F04B3705-31E6-468E-A312-72DBED2C8227}"/>
              </a:ext>
            </a:extLst>
          </p:cNvPr>
          <p:cNvSpPr>
            <a:spLocks noGrp="1"/>
          </p:cNvSpPr>
          <p:nvPr/>
        </p:nvSpPr>
        <p:spPr>
          <a:xfrm>
            <a:off x="868680" y="2267712"/>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1" name="Text 9">
            <a:extLst>
              <a:ext uri="{FF2B5EF4-FFF2-40B4-BE49-F238E27FC236}">
                <a16:creationId xmlns:a16="http://schemas.microsoft.com/office/drawing/2014/main" xmlns="" id="{5078F369-EFF3-4B28-8FA1-5BB07BE603BD}"/>
              </a:ext>
            </a:extLst>
          </p:cNvPr>
          <p:cNvSpPr>
            <a:spLocks noGrp="1"/>
          </p:cNvSpPr>
          <p:nvPr/>
        </p:nvSpPr>
        <p:spPr>
          <a:xfrm>
            <a:off x="1197864" y="2231136"/>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Check whether intermediate files match the intended structure.</a:t>
            </a:r>
          </a:p>
        </p:txBody>
      </p:sp>
      <p:sp>
        <p:nvSpPr>
          <p:cNvPr id="12" name="Text 10">
            <a:extLst>
              <a:ext uri="{FF2B5EF4-FFF2-40B4-BE49-F238E27FC236}">
                <a16:creationId xmlns:a16="http://schemas.microsoft.com/office/drawing/2014/main" xmlns="" id="{F9067134-80FD-4936-977C-772C65B86D15}"/>
              </a:ext>
            </a:extLst>
          </p:cNvPr>
          <p:cNvSpPr>
            <a:spLocks noGrp="1"/>
          </p:cNvSpPr>
          <p:nvPr/>
        </p:nvSpPr>
        <p:spPr>
          <a:xfrm>
            <a:off x="868680" y="2852928"/>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3" name="Text 11">
            <a:extLst>
              <a:ext uri="{FF2B5EF4-FFF2-40B4-BE49-F238E27FC236}">
                <a16:creationId xmlns:a16="http://schemas.microsoft.com/office/drawing/2014/main" xmlns="" id="{E25FC346-28C2-43C6-AF59-680901A3CE2E}"/>
              </a:ext>
            </a:extLst>
          </p:cNvPr>
          <p:cNvSpPr>
            <a:spLocks noGrp="1"/>
          </p:cNvSpPr>
          <p:nvPr/>
        </p:nvSpPr>
        <p:spPr>
          <a:xfrm>
            <a:off x="1197864" y="2816352"/>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Include useful checkpoints in the evaluation script.</a:t>
            </a:r>
          </a:p>
        </p:txBody>
      </p:sp>
      <p:sp>
        <p:nvSpPr>
          <p:cNvPr id="14" name="Text 12">
            <a:extLst>
              <a:ext uri="{FF2B5EF4-FFF2-40B4-BE49-F238E27FC236}">
                <a16:creationId xmlns:a16="http://schemas.microsoft.com/office/drawing/2014/main" xmlns="" id="{CB9EF566-2C33-4F51-9583-C187FBA6523A}"/>
              </a:ext>
            </a:extLst>
          </p:cNvPr>
          <p:cNvSpPr>
            <a:spLocks noGrp="1"/>
          </p:cNvSpPr>
          <p:nvPr/>
        </p:nvSpPr>
        <p:spPr>
          <a:xfrm>
            <a:off x="868680" y="3438144"/>
            <a:ext cx="228600" cy="256032"/>
          </a:xfrm>
          <a:prstGeom prst="rect">
            <a:avLst/>
          </a:prstGeom>
          <a:noFill/>
        </p:spPr>
        <p:txBody>
          <a:bodyPr wrap="square" lIns="0" tIns="0" rIns="0" bIns="0" anchor="ctr"/>
          <a:lstStyle/>
          <a:p>
            <a:pPr marL="0" indent="0">
              <a:buNone/>
            </a:pPr>
            <a:r>
              <a:rPr sz="2100" b="1">
                <a:solidFill>
                  <a:srgbClr val="40319B"/>
                </a:solidFill>
              </a:rPr>
              <a:t>•</a:t>
            </a:r>
          </a:p>
        </p:txBody>
      </p:sp>
      <p:sp>
        <p:nvSpPr>
          <p:cNvPr id="15" name="Text 13">
            <a:extLst>
              <a:ext uri="{FF2B5EF4-FFF2-40B4-BE49-F238E27FC236}">
                <a16:creationId xmlns:a16="http://schemas.microsoft.com/office/drawing/2014/main" xmlns="" id="{5953DF56-0714-483C-BF99-8EA7CD340BDF}"/>
              </a:ext>
            </a:extLst>
          </p:cNvPr>
          <p:cNvSpPr>
            <a:spLocks noGrp="1"/>
          </p:cNvSpPr>
          <p:nvPr/>
        </p:nvSpPr>
        <p:spPr>
          <a:xfrm>
            <a:off x="1197864" y="3401568"/>
            <a:ext cx="10186416" cy="457200"/>
          </a:xfrm>
          <a:prstGeom prst="rect">
            <a:avLst/>
          </a:prstGeom>
          <a:noFill/>
        </p:spPr>
        <p:txBody>
          <a:bodyPr wrap="square" lIns="254" tIns="254" rIns="254" bIns="254" anchor="ctr">
            <a:normAutofit/>
          </a:bodyPr>
          <a:lstStyle/>
          <a:p>
            <a:pPr marL="0" indent="0">
              <a:buNone/>
            </a:pPr>
            <a:r>
              <a:rPr sz="2100">
                <a:solidFill>
                  <a:srgbClr val="1F2937"/>
                </a:solidFill>
              </a:rPr>
              <a:t>When something looks wrong, diagnose which phase created the problem.</a:t>
            </a:r>
          </a:p>
        </p:txBody>
      </p:sp>
      <p:sp>
        <p:nvSpPr>
          <p:cNvPr id="16" name="Text 14">
            <a:extLst>
              <a:ext uri="{FF2B5EF4-FFF2-40B4-BE49-F238E27FC236}">
                <a16:creationId xmlns:a16="http://schemas.microsoft.com/office/drawing/2014/main" xmlns="" id="{4B2E08EB-C767-4F3C-AAAE-BB545601B49B}"/>
              </a:ext>
            </a:extLst>
          </p:cNvPr>
          <p:cNvSpPr>
            <a:spLocks noGrp="1"/>
          </p:cNvSpPr>
          <p:nvPr/>
        </p:nvSpPr>
        <p:spPr>
          <a:xfrm>
            <a:off x="1143000" y="498348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000" b="1">
                <a:solidFill>
                  <a:srgbClr val="1F2937"/>
                </a:solidFill>
              </a:rPr>
              <a:t>If you cannot inspect the intermediate files, you cannot reliably debug the final compendium.</a:t>
            </a:r>
          </a:p>
        </p:txBody>
      </p:sp>
    </p:spTree>
    <p:extLst>
      <p:ext uri="{BB962C8B-B14F-4D97-AF65-F5344CB8AC3E}">
        <p14:creationId xmlns:p14="http://schemas.microsoft.com/office/powerpoint/2010/main" val="6202645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78CCAC76-9069-43D7-ABCB-AB3A4F0CCE51}"/>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A5A4DB8E-EF34-405F-8AB5-194106A4E8D3}"/>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414ACA9B-B024-474A-AF14-42EE01772FA7}"/>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C93F225A-7471-4F0D-9B41-78D6B3A0C939}"/>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412B938B-E08B-4685-B95E-887EAB0427EF}"/>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9B1C1C"/>
                </a:solidFill>
              </a:rPr>
              <a:t>Risks and safeguards</a:t>
            </a:r>
          </a:p>
        </p:txBody>
      </p:sp>
      <p:sp>
        <p:nvSpPr>
          <p:cNvPr id="7" name="Text 5">
            <a:extLst>
              <a:ext uri="{FF2B5EF4-FFF2-40B4-BE49-F238E27FC236}">
                <a16:creationId xmlns:a16="http://schemas.microsoft.com/office/drawing/2014/main" xmlns="" id="{278F46BE-BE01-49F0-88DB-51E138428DC0}"/>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Large LLM pipelines need quality controls because fluent output can hide mistakes.</a:t>
            </a:r>
          </a:p>
        </p:txBody>
      </p:sp>
    </p:spTree>
    <p:extLst>
      <p:ext uri="{BB962C8B-B14F-4D97-AF65-F5344CB8AC3E}">
        <p14:creationId xmlns:p14="http://schemas.microsoft.com/office/powerpoint/2010/main" val="32496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5302D237-8D5A-49AC-B77C-ABDFC0D43BB9}"/>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C80FA50-26EF-4C9D-BB38-75E4080B1B8D}"/>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390FF48D-2303-4949-9334-A2BF06794C5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3D15DD01-9E99-44E8-A7AC-6C83384BD109}"/>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DE552548-29C9-4D01-AE5F-5D73F92E0C92}"/>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LLMs are stochastic, not deterministic</a:t>
            </a:r>
          </a:p>
        </p:txBody>
      </p:sp>
      <p:sp>
        <p:nvSpPr>
          <p:cNvPr id="7" name="Text 5">
            <a:extLst>
              <a:ext uri="{FF2B5EF4-FFF2-40B4-BE49-F238E27FC236}">
                <a16:creationId xmlns:a16="http://schemas.microsoft.com/office/drawing/2014/main" xmlns="" id="{2C27286A-98E9-4C16-B4A9-4BE2B2402349}"/>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same prompt can produce slightly different programs or outputs.</a:t>
            </a:r>
          </a:p>
        </p:txBody>
      </p:sp>
      <p:sp>
        <p:nvSpPr>
          <p:cNvPr id="8" name="Text 6">
            <a:extLst>
              <a:ext uri="{FF2B5EF4-FFF2-40B4-BE49-F238E27FC236}">
                <a16:creationId xmlns:a16="http://schemas.microsoft.com/office/drawing/2014/main" xmlns="" id="{120D0DB4-5631-43F8-80BE-E7C8C50EBFE1}"/>
              </a:ext>
            </a:extLst>
          </p:cNvPr>
          <p:cNvSpPr>
            <a:spLocks noGrp="1"/>
          </p:cNvSpPr>
          <p:nvPr/>
        </p:nvSpPr>
        <p:spPr>
          <a:xfrm>
            <a:off x="868680" y="172821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2418CD7D-E35E-4ED8-B894-4CA0B243612F}"/>
              </a:ext>
            </a:extLst>
          </p:cNvPr>
          <p:cNvSpPr>
            <a:spLocks noGrp="1"/>
          </p:cNvSpPr>
          <p:nvPr/>
        </p:nvSpPr>
        <p:spPr>
          <a:xfrm>
            <a:off x="1197864" y="169164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Prolog follows exact logic rules and gives predictable results.</a:t>
            </a:r>
          </a:p>
        </p:txBody>
      </p:sp>
      <p:sp>
        <p:nvSpPr>
          <p:cNvPr id="10" name="Text 8">
            <a:extLst>
              <a:ext uri="{FF2B5EF4-FFF2-40B4-BE49-F238E27FC236}">
                <a16:creationId xmlns:a16="http://schemas.microsoft.com/office/drawing/2014/main" xmlns="" id="{108BA140-E38C-42C3-89ED-556007D7471F}"/>
              </a:ext>
            </a:extLst>
          </p:cNvPr>
          <p:cNvSpPr>
            <a:spLocks noGrp="1"/>
          </p:cNvSpPr>
          <p:nvPr/>
        </p:nvSpPr>
        <p:spPr>
          <a:xfrm>
            <a:off x="868680" y="229514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C44FAF5F-3BAC-445C-BBC9-00B7A3572265}"/>
              </a:ext>
            </a:extLst>
          </p:cNvPr>
          <p:cNvSpPr>
            <a:spLocks noGrp="1"/>
          </p:cNvSpPr>
          <p:nvPr/>
        </p:nvSpPr>
        <p:spPr>
          <a:xfrm>
            <a:off x="1197864" y="225856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Claude, ChatGPT, and DeepSeek can make different choices from the same general instruction.</a:t>
            </a:r>
          </a:p>
        </p:txBody>
      </p:sp>
      <p:sp>
        <p:nvSpPr>
          <p:cNvPr id="12" name="Text 10">
            <a:extLst>
              <a:ext uri="{FF2B5EF4-FFF2-40B4-BE49-F238E27FC236}">
                <a16:creationId xmlns:a16="http://schemas.microsoft.com/office/drawing/2014/main" xmlns="" id="{BA7832F9-F41A-4CEA-BCB9-D9AC095B10CC}"/>
              </a:ext>
            </a:extLst>
          </p:cNvPr>
          <p:cNvSpPr>
            <a:spLocks noGrp="1"/>
          </p:cNvSpPr>
          <p:nvPr/>
        </p:nvSpPr>
        <p:spPr>
          <a:xfrm>
            <a:off x="868680" y="286207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DA41353F-E5BD-4A6A-8EEC-679CAA38B61C}"/>
              </a:ext>
            </a:extLst>
          </p:cNvPr>
          <p:cNvSpPr>
            <a:spLocks noGrp="1"/>
          </p:cNvSpPr>
          <p:nvPr/>
        </p:nvSpPr>
        <p:spPr>
          <a:xfrm>
            <a:off x="1197864" y="282549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This is useful for creativity, but risky for reproducibility.</a:t>
            </a:r>
          </a:p>
        </p:txBody>
      </p:sp>
      <p:sp>
        <p:nvSpPr>
          <p:cNvPr id="14" name="Text 12">
            <a:extLst>
              <a:ext uri="{FF2B5EF4-FFF2-40B4-BE49-F238E27FC236}">
                <a16:creationId xmlns:a16="http://schemas.microsoft.com/office/drawing/2014/main" xmlns="" id="{885058DE-138E-40DC-B851-4C83CCBA7C48}"/>
              </a:ext>
            </a:extLst>
          </p:cNvPr>
          <p:cNvSpPr>
            <a:spLocks noGrp="1"/>
          </p:cNvSpPr>
          <p:nvPr/>
        </p:nvSpPr>
        <p:spPr>
          <a:xfrm>
            <a:off x="868680" y="342900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730D7E5D-C359-4A8D-88CC-D0C7DB4BC410}"/>
              </a:ext>
            </a:extLst>
          </p:cNvPr>
          <p:cNvSpPr>
            <a:spLocks noGrp="1"/>
          </p:cNvSpPr>
          <p:nvPr/>
        </p:nvSpPr>
        <p:spPr>
          <a:xfrm>
            <a:off x="1197864" y="339242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More complete prompts, examples, and rules make the output more stable.</a:t>
            </a:r>
          </a:p>
        </p:txBody>
      </p:sp>
      <p:sp>
        <p:nvSpPr>
          <p:cNvPr id="16" name="Text 14">
            <a:extLst>
              <a:ext uri="{FF2B5EF4-FFF2-40B4-BE49-F238E27FC236}">
                <a16:creationId xmlns:a16="http://schemas.microsoft.com/office/drawing/2014/main" xmlns="" id="{07C90A43-3CA0-4261-978D-AA93C43199BD}"/>
              </a:ext>
            </a:extLst>
          </p:cNvPr>
          <p:cNvSpPr>
            <a:spLocks noGrp="1"/>
          </p:cNvSpPr>
          <p:nvPr/>
        </p:nvSpPr>
        <p:spPr>
          <a:xfrm>
            <a:off x="1280160" y="5074920"/>
            <a:ext cx="9418320" cy="658368"/>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100" b="1">
                <a:solidFill>
                  <a:srgbClr val="1F2937"/>
                </a:solidFill>
              </a:rPr>
              <a:t>Do not rely on “it sounded right.” Use files, rules, and metrics.</a:t>
            </a:r>
          </a:p>
        </p:txBody>
      </p:sp>
    </p:spTree>
    <p:extLst>
      <p:ext uri="{BB962C8B-B14F-4D97-AF65-F5344CB8AC3E}">
        <p14:creationId xmlns:p14="http://schemas.microsoft.com/office/powerpoint/2010/main" val="16332133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B0B1ECFE-3736-4BB5-BD83-D642741F2335}"/>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9A07B2D1-E006-4B92-827E-31D7E6AE2704}"/>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C516275D-A229-49C3-A07B-199C1CDD36CA}"/>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CD1EE7DD-4E2E-45B4-973B-CBFB13501E70}"/>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19835BFC-37F3-480C-BE3A-378D7A328C12}"/>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How to make the prompt more stable</a:t>
            </a:r>
          </a:p>
        </p:txBody>
      </p:sp>
      <p:sp>
        <p:nvSpPr>
          <p:cNvPr id="7" name="Text 5">
            <a:extLst>
              <a:ext uri="{FF2B5EF4-FFF2-40B4-BE49-F238E27FC236}">
                <a16:creationId xmlns:a16="http://schemas.microsoft.com/office/drawing/2014/main" xmlns="" id="{D0EBDCCB-0A8B-428C-B405-67D3F2E8BB4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Ask Claude to rewrite the prompt before writing the program.</a:t>
            </a:r>
          </a:p>
        </p:txBody>
      </p:sp>
      <p:sp>
        <p:nvSpPr>
          <p:cNvPr id="8" name="Text 6">
            <a:extLst>
              <a:ext uri="{FF2B5EF4-FFF2-40B4-BE49-F238E27FC236}">
                <a16:creationId xmlns:a16="http://schemas.microsoft.com/office/drawing/2014/main" xmlns="" id="{59235E32-179A-4A55-A9AC-8F33AFEAA155}"/>
              </a:ext>
            </a:extLst>
          </p:cNvPr>
          <p:cNvSpPr>
            <a:spLocks noGrp="1"/>
          </p:cNvSpPr>
          <p:nvPr/>
        </p:nvSpPr>
        <p:spPr>
          <a:xfrm>
            <a:off x="868680" y="154533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FFB47073-A945-461A-AFC5-38949CB32DE4}"/>
              </a:ext>
            </a:extLst>
          </p:cNvPr>
          <p:cNvSpPr>
            <a:spLocks noGrp="1"/>
          </p:cNvSpPr>
          <p:nvPr/>
        </p:nvSpPr>
        <p:spPr>
          <a:xfrm>
            <a:off x="1197864" y="150876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Give Claude the initial prompt and all attachments.</a:t>
            </a:r>
          </a:p>
        </p:txBody>
      </p:sp>
      <p:sp>
        <p:nvSpPr>
          <p:cNvPr id="10" name="Text 8">
            <a:extLst>
              <a:ext uri="{FF2B5EF4-FFF2-40B4-BE49-F238E27FC236}">
                <a16:creationId xmlns:a16="http://schemas.microsoft.com/office/drawing/2014/main" xmlns="" id="{8075CE56-2E8E-4C6A-AC17-EDDDFEF9DA84}"/>
              </a:ext>
            </a:extLst>
          </p:cNvPr>
          <p:cNvSpPr>
            <a:spLocks noGrp="1"/>
          </p:cNvSpPr>
          <p:nvPr/>
        </p:nvSpPr>
        <p:spPr>
          <a:xfrm>
            <a:off x="868680" y="211226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856D76A1-07AD-481D-B863-1E5BBC4E47CD}"/>
              </a:ext>
            </a:extLst>
          </p:cNvPr>
          <p:cNvSpPr>
            <a:spLocks noGrp="1"/>
          </p:cNvSpPr>
          <p:nvPr/>
        </p:nvSpPr>
        <p:spPr>
          <a:xfrm>
            <a:off x="1197864" y="207568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Ask it to rewrite the prompt while preserving the declarative style.</a:t>
            </a:r>
          </a:p>
        </p:txBody>
      </p:sp>
      <p:sp>
        <p:nvSpPr>
          <p:cNvPr id="12" name="Text 10">
            <a:extLst>
              <a:ext uri="{FF2B5EF4-FFF2-40B4-BE49-F238E27FC236}">
                <a16:creationId xmlns:a16="http://schemas.microsoft.com/office/drawing/2014/main" xmlns="" id="{3518CB6E-4A74-4064-9C3B-317F7D92272B}"/>
              </a:ext>
            </a:extLst>
          </p:cNvPr>
          <p:cNvSpPr>
            <a:spLocks noGrp="1"/>
          </p:cNvSpPr>
          <p:nvPr/>
        </p:nvSpPr>
        <p:spPr>
          <a:xfrm>
            <a:off x="868680" y="267919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3AE96D30-D489-406B-B501-095DFD29A8F0}"/>
              </a:ext>
            </a:extLst>
          </p:cNvPr>
          <p:cNvSpPr>
            <a:spLocks noGrp="1"/>
          </p:cNvSpPr>
          <p:nvPr/>
        </p:nvSpPr>
        <p:spPr>
          <a:xfrm>
            <a:off x="1197864" y="264261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Ask it to mark any added rules or specifications clearly.</a:t>
            </a:r>
          </a:p>
        </p:txBody>
      </p:sp>
      <p:sp>
        <p:nvSpPr>
          <p:cNvPr id="14" name="Text 12">
            <a:extLst>
              <a:ext uri="{FF2B5EF4-FFF2-40B4-BE49-F238E27FC236}">
                <a16:creationId xmlns:a16="http://schemas.microsoft.com/office/drawing/2014/main" xmlns="" id="{456F2252-9B30-4382-B3E3-ECE47D67AE3A}"/>
              </a:ext>
            </a:extLst>
          </p:cNvPr>
          <p:cNvSpPr>
            <a:spLocks noGrp="1"/>
          </p:cNvSpPr>
          <p:nvPr/>
        </p:nvSpPr>
        <p:spPr>
          <a:xfrm>
            <a:off x="868680" y="324612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3E08C3C6-9B48-4A2A-8721-E7A6515DC9A3}"/>
              </a:ext>
            </a:extLst>
          </p:cNvPr>
          <p:cNvSpPr>
            <a:spLocks noGrp="1"/>
          </p:cNvSpPr>
          <p:nvPr/>
        </p:nvSpPr>
        <p:spPr>
          <a:xfrm>
            <a:off x="1197864" y="320954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Use the rewritten prompt to generate the actual program.</a:t>
            </a:r>
          </a:p>
        </p:txBody>
      </p:sp>
      <p:sp>
        <p:nvSpPr>
          <p:cNvPr id="16" name="Text 14">
            <a:extLst>
              <a:ext uri="{FF2B5EF4-FFF2-40B4-BE49-F238E27FC236}">
                <a16:creationId xmlns:a16="http://schemas.microsoft.com/office/drawing/2014/main" xmlns="" id="{A63F98F6-C2F3-4575-85D3-C89A09A304B3}"/>
              </a:ext>
            </a:extLst>
          </p:cNvPr>
          <p:cNvSpPr>
            <a:spLocks noGrp="1"/>
          </p:cNvSpPr>
          <p:nvPr/>
        </p:nvSpPr>
        <p:spPr>
          <a:xfrm>
            <a:off x="868680" y="381304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7" name="Text 15">
            <a:extLst>
              <a:ext uri="{FF2B5EF4-FFF2-40B4-BE49-F238E27FC236}">
                <a16:creationId xmlns:a16="http://schemas.microsoft.com/office/drawing/2014/main" xmlns="" id="{43020B02-166D-417B-8517-559A80D931A8}"/>
              </a:ext>
            </a:extLst>
          </p:cNvPr>
          <p:cNvSpPr>
            <a:spLocks noGrp="1"/>
          </p:cNvSpPr>
          <p:nvPr/>
        </p:nvSpPr>
        <p:spPr>
          <a:xfrm>
            <a:off x="1197864" y="3776472"/>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This forces hidden assumptions to become visible.</a:t>
            </a:r>
          </a:p>
        </p:txBody>
      </p:sp>
      <p:sp>
        <p:nvSpPr>
          <p:cNvPr id="18" name="Text 16">
            <a:extLst>
              <a:ext uri="{FF2B5EF4-FFF2-40B4-BE49-F238E27FC236}">
                <a16:creationId xmlns:a16="http://schemas.microsoft.com/office/drawing/2014/main" xmlns="" id="{C4F6542A-E8B5-464D-A5D8-DA538E02B076}"/>
              </a:ext>
            </a:extLst>
          </p:cNvPr>
          <p:cNvSpPr>
            <a:spLocks noGrp="1"/>
          </p:cNvSpPr>
          <p:nvPr/>
        </p:nvSpPr>
        <p:spPr>
          <a:xfrm>
            <a:off x="1234440" y="5257800"/>
            <a:ext cx="9601200" cy="658368"/>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100" b="1">
                <a:solidFill>
                  <a:srgbClr val="1F2937"/>
                </a:solidFill>
              </a:rPr>
              <a:t>Prompt rewriting is a clarification step, not wasted time.</a:t>
            </a:r>
          </a:p>
        </p:txBody>
      </p:sp>
    </p:spTree>
    <p:extLst>
      <p:ext uri="{BB962C8B-B14F-4D97-AF65-F5344CB8AC3E}">
        <p14:creationId xmlns:p14="http://schemas.microsoft.com/office/powerpoint/2010/main" val="15161970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957289BF-5BD1-4448-BC49-066D720C2B09}"/>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A3F2E7A4-06B4-4C3E-AD04-DA1460BAB11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64EEEF2E-B490-4C09-8143-D396166DBE10}"/>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B9229D63-E0DE-4556-8A9F-B3A7C60BF78F}"/>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4C2B6992-B8C9-4119-A3C6-DF383124C702}"/>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Hallucination risk after Phase 1</a:t>
            </a:r>
          </a:p>
        </p:txBody>
      </p:sp>
      <p:sp>
        <p:nvSpPr>
          <p:cNvPr id="7" name="Text 5">
            <a:extLst>
              <a:ext uri="{FF2B5EF4-FFF2-40B4-BE49-F238E27FC236}">
                <a16:creationId xmlns:a16="http://schemas.microsoft.com/office/drawing/2014/main" xmlns="" id="{D6D6FDC2-C17B-46AE-9E4F-0EC6B49E5392}"/>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Later phases may work only from summaries, not from the original transcripts.</a:t>
            </a:r>
          </a:p>
        </p:txBody>
      </p:sp>
      <p:sp>
        <p:nvSpPr>
          <p:cNvPr id="8" name="Text 6">
            <a:extLst>
              <a:ext uri="{FF2B5EF4-FFF2-40B4-BE49-F238E27FC236}">
                <a16:creationId xmlns:a16="http://schemas.microsoft.com/office/drawing/2014/main" xmlns="" id="{280BA38B-5EEB-40D6-AB88-5458BCB13492}"/>
              </a:ext>
            </a:extLst>
          </p:cNvPr>
          <p:cNvSpPr>
            <a:spLocks noGrp="1"/>
          </p:cNvSpPr>
          <p:nvPr/>
        </p:nvSpPr>
        <p:spPr>
          <a:xfrm>
            <a:off x="914400" y="1874520"/>
            <a:ext cx="3474720" cy="86868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2000" b="1">
                <a:solidFill>
                  <a:srgbClr val="1F2937"/>
                </a:solidFill>
              </a:rPr>
              <a:t>Phase 1</a:t>
            </a:r>
          </a:p>
          <a:p>
            <a:pPr marL="0" indent="0" algn="ctr">
              <a:buNone/>
            </a:pPr>
            <a:r>
              <a:rPr sz="2000" b="1">
                <a:solidFill>
                  <a:srgbClr val="1F2937"/>
                </a:solidFill>
              </a:rPr>
              <a:t>Reads raw transcripts</a:t>
            </a:r>
          </a:p>
        </p:txBody>
      </p:sp>
      <p:sp>
        <p:nvSpPr>
          <p:cNvPr id="9" name="Shape 7">
            <a:extLst>
              <a:ext uri="{FF2B5EF4-FFF2-40B4-BE49-F238E27FC236}">
                <a16:creationId xmlns:a16="http://schemas.microsoft.com/office/drawing/2014/main" xmlns="" id="{F613A0A7-33DA-4997-A1F5-25A373EE5BD0}"/>
              </a:ext>
            </a:extLst>
          </p:cNvPr>
          <p:cNvSpPr>
            <a:spLocks noGrp="1"/>
          </p:cNvSpPr>
          <p:nvPr/>
        </p:nvSpPr>
        <p:spPr>
          <a:xfrm>
            <a:off x="4572000" y="2313432"/>
            <a:ext cx="96012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4A394263-7415-4CB0-96AA-861A807F418F}"/>
              </a:ext>
            </a:extLst>
          </p:cNvPr>
          <p:cNvSpPr>
            <a:spLocks noGrp="1"/>
          </p:cNvSpPr>
          <p:nvPr/>
        </p:nvSpPr>
        <p:spPr>
          <a:xfrm>
            <a:off x="5715000" y="1874520"/>
            <a:ext cx="3474720" cy="868680"/>
          </a:xfrm>
          <a:prstGeom prst="rect">
            <a:avLst/>
          </a:prstGeom>
          <a:solidFill>
            <a:srgbClr val="FFF3DA"/>
          </a:solidFill>
          <a:ln w="15240">
            <a:solidFill>
              <a:srgbClr val="A55D00"/>
            </a:solidFill>
          </a:ln>
        </p:spPr>
        <p:txBody>
          <a:bodyPr wrap="square" lIns="1016" tIns="1016" rIns="1016" bIns="1016" anchor="ctr">
            <a:normAutofit/>
          </a:bodyPr>
          <a:lstStyle/>
          <a:p>
            <a:pPr marL="0" indent="0" algn="ctr">
              <a:buNone/>
            </a:pPr>
            <a:r>
              <a:rPr sz="2000" b="1">
                <a:solidFill>
                  <a:srgbClr val="1F2937"/>
                </a:solidFill>
              </a:rPr>
              <a:t>Later phases</a:t>
            </a:r>
          </a:p>
          <a:p>
            <a:pPr marL="0" indent="0" algn="ctr">
              <a:buNone/>
            </a:pPr>
            <a:r>
              <a:rPr sz="2000" b="1">
                <a:solidFill>
                  <a:srgbClr val="1F2937"/>
                </a:solidFill>
              </a:rPr>
              <a:t>Use derivative files</a:t>
            </a:r>
          </a:p>
        </p:txBody>
      </p:sp>
      <p:sp>
        <p:nvSpPr>
          <p:cNvPr id="11" name="Shape 9">
            <a:extLst>
              <a:ext uri="{FF2B5EF4-FFF2-40B4-BE49-F238E27FC236}">
                <a16:creationId xmlns:a16="http://schemas.microsoft.com/office/drawing/2014/main" xmlns="" id="{3AE6AE39-99C7-48F7-B410-5F9B2A14349F}"/>
              </a:ext>
            </a:extLst>
          </p:cNvPr>
          <p:cNvSpPr>
            <a:spLocks noGrp="1"/>
          </p:cNvSpPr>
          <p:nvPr/>
        </p:nvSpPr>
        <p:spPr>
          <a:xfrm>
            <a:off x="9372600" y="2313432"/>
            <a:ext cx="73152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488A2F9E-D2BB-4F9D-99D0-E1476C64884C}"/>
              </a:ext>
            </a:extLst>
          </p:cNvPr>
          <p:cNvSpPr>
            <a:spLocks noGrp="1"/>
          </p:cNvSpPr>
          <p:nvPr/>
        </p:nvSpPr>
        <p:spPr>
          <a:xfrm>
            <a:off x="10287000" y="1874520"/>
            <a:ext cx="1234440" cy="868680"/>
          </a:xfrm>
          <a:prstGeom prst="rect">
            <a:avLst/>
          </a:prstGeom>
          <a:solidFill>
            <a:srgbClr val="FDECEC"/>
          </a:solidFill>
          <a:ln w="15240">
            <a:solidFill>
              <a:srgbClr val="9B1C1C"/>
            </a:solidFill>
          </a:ln>
        </p:spPr>
        <p:txBody>
          <a:bodyPr wrap="square" lIns="1016" tIns="1016" rIns="1016" bIns="1016" anchor="ctr">
            <a:normAutofit/>
          </a:bodyPr>
          <a:lstStyle/>
          <a:p>
            <a:pPr marL="0" indent="0" algn="ctr">
              <a:buNone/>
            </a:pPr>
            <a:r>
              <a:rPr sz="1500" b="1">
                <a:solidFill>
                  <a:srgbClr val="1F2937"/>
                </a:solidFill>
              </a:rPr>
              <a:t>Risk</a:t>
            </a:r>
          </a:p>
          <a:p>
            <a:pPr marL="0" indent="0" algn="ctr">
              <a:buNone/>
            </a:pPr>
            <a:r>
              <a:rPr sz="1500" b="1">
                <a:solidFill>
                  <a:srgbClr val="1F2937"/>
                </a:solidFill>
              </a:rPr>
              <a:t>Errors can propagate</a:t>
            </a:r>
          </a:p>
        </p:txBody>
      </p:sp>
      <p:sp>
        <p:nvSpPr>
          <p:cNvPr id="13" name="Text 11">
            <a:extLst>
              <a:ext uri="{FF2B5EF4-FFF2-40B4-BE49-F238E27FC236}">
                <a16:creationId xmlns:a16="http://schemas.microsoft.com/office/drawing/2014/main" xmlns="" id="{1080FCA1-42FB-49F9-A3EF-71BAE5062647}"/>
              </a:ext>
            </a:extLst>
          </p:cNvPr>
          <p:cNvSpPr>
            <a:spLocks noGrp="1"/>
          </p:cNvSpPr>
          <p:nvPr/>
        </p:nvSpPr>
        <p:spPr>
          <a:xfrm>
            <a:off x="1097280" y="4251960"/>
            <a:ext cx="9875520" cy="685800"/>
          </a:xfrm>
          <a:prstGeom prst="rect">
            <a:avLst/>
          </a:prstGeom>
          <a:solidFill>
            <a:srgbClr val="FDECEC"/>
          </a:solidFill>
          <a:ln w="15240">
            <a:solidFill>
              <a:srgbClr val="9B1C1C"/>
            </a:solidFill>
          </a:ln>
        </p:spPr>
        <p:txBody>
          <a:bodyPr wrap="square" lIns="1778" tIns="1778" rIns="1778" bIns="1778" anchor="ctr">
            <a:normAutofit/>
          </a:bodyPr>
          <a:lstStyle/>
          <a:p>
            <a:pPr marL="0" indent="0">
              <a:buNone/>
            </a:pPr>
            <a:r>
              <a:rPr sz="2000" b="1">
                <a:solidFill>
                  <a:srgbClr val="1F2937"/>
                </a:solidFill>
              </a:rPr>
              <a:t>A summary can accidentally omit or distort details. Later synthesis may then amplify that mistake.</a:t>
            </a:r>
          </a:p>
        </p:txBody>
      </p:sp>
    </p:spTree>
    <p:extLst>
      <p:ext uri="{BB962C8B-B14F-4D97-AF65-F5344CB8AC3E}">
        <p14:creationId xmlns:p14="http://schemas.microsoft.com/office/powerpoint/2010/main" val="9674170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11BA46F2-CF53-4BB8-B2B3-2A891BAE5E47}"/>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1B9881D2-21AA-49F9-B5B7-F14B84610253}"/>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7F56ADEF-068E-49B6-BA28-8B3D2DB2A258}"/>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89763672-346A-4333-BA96-C8C1E1F82158}"/>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47048547-F01A-4D8D-9122-AC780B318240}"/>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RAG as a safeguard</a:t>
            </a:r>
          </a:p>
        </p:txBody>
      </p:sp>
      <p:sp>
        <p:nvSpPr>
          <p:cNvPr id="7" name="Text 5">
            <a:extLst>
              <a:ext uri="{FF2B5EF4-FFF2-40B4-BE49-F238E27FC236}">
                <a16:creationId xmlns:a16="http://schemas.microsoft.com/office/drawing/2014/main" xmlns="" id="{0202B5DB-9EDF-4234-8A86-8ACC9AE172F3}"/>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Retrieval-Augmented Generation lets later phases check raw material again.</a:t>
            </a:r>
          </a:p>
        </p:txBody>
      </p:sp>
      <p:sp>
        <p:nvSpPr>
          <p:cNvPr id="8" name="Text 6">
            <a:extLst>
              <a:ext uri="{FF2B5EF4-FFF2-40B4-BE49-F238E27FC236}">
                <a16:creationId xmlns:a16="http://schemas.microsoft.com/office/drawing/2014/main" xmlns="" id="{8CF425E4-D463-448E-B409-0BC11C082543}"/>
              </a:ext>
            </a:extLst>
          </p:cNvPr>
          <p:cNvSpPr>
            <a:spLocks noGrp="1"/>
          </p:cNvSpPr>
          <p:nvPr/>
        </p:nvSpPr>
        <p:spPr>
          <a:xfrm>
            <a:off x="914400" y="1828800"/>
            <a:ext cx="2743200" cy="731520"/>
          </a:xfrm>
          <a:prstGeom prst="rect">
            <a:avLst/>
          </a:prstGeom>
          <a:solidFill>
            <a:srgbClr val="E7F2FA"/>
          </a:solidFill>
          <a:ln w="15240">
            <a:solidFill>
              <a:srgbClr val="0B4B7A"/>
            </a:solidFill>
          </a:ln>
        </p:spPr>
        <p:txBody>
          <a:bodyPr wrap="square" lIns="1016" tIns="1016" rIns="1016" bIns="1016" anchor="ctr">
            <a:normAutofit/>
          </a:bodyPr>
          <a:lstStyle/>
          <a:p>
            <a:pPr marL="0" indent="0" algn="ctr">
              <a:buNone/>
            </a:pPr>
            <a:r>
              <a:rPr sz="1800" b="1">
                <a:solidFill>
                  <a:srgbClr val="1F2937"/>
                </a:solidFill>
              </a:rPr>
              <a:t>Question or synthesis task</a:t>
            </a:r>
          </a:p>
        </p:txBody>
      </p:sp>
      <p:sp>
        <p:nvSpPr>
          <p:cNvPr id="9" name="Shape 7">
            <a:extLst>
              <a:ext uri="{FF2B5EF4-FFF2-40B4-BE49-F238E27FC236}">
                <a16:creationId xmlns:a16="http://schemas.microsoft.com/office/drawing/2014/main" xmlns="" id="{2BD5ABE2-5208-4C56-88C4-832551B9E67F}"/>
              </a:ext>
            </a:extLst>
          </p:cNvPr>
          <p:cNvSpPr>
            <a:spLocks noGrp="1"/>
          </p:cNvSpPr>
          <p:nvPr/>
        </p:nvSpPr>
        <p:spPr>
          <a:xfrm>
            <a:off x="3840480" y="2194560"/>
            <a:ext cx="731520" cy="0"/>
          </a:xfrm>
          <a:prstGeom prst="line">
            <a:avLst/>
          </a:prstGeom>
          <a:noFill/>
          <a:ln w="16510">
            <a:solidFill>
              <a:srgbClr val="596273"/>
            </a:solidFill>
            <a:prstDash val="solid"/>
          </a:ln>
        </p:spPr>
      </p:sp>
      <p:sp>
        <p:nvSpPr>
          <p:cNvPr id="10" name="Text 8">
            <a:extLst>
              <a:ext uri="{FF2B5EF4-FFF2-40B4-BE49-F238E27FC236}">
                <a16:creationId xmlns:a16="http://schemas.microsoft.com/office/drawing/2014/main" xmlns="" id="{1FD2AB92-F293-4B1C-B0A5-160B8F4E69F4}"/>
              </a:ext>
            </a:extLst>
          </p:cNvPr>
          <p:cNvSpPr>
            <a:spLocks noGrp="1"/>
          </p:cNvSpPr>
          <p:nvPr/>
        </p:nvSpPr>
        <p:spPr>
          <a:xfrm>
            <a:off x="4754880" y="1828800"/>
            <a:ext cx="3108960" cy="731520"/>
          </a:xfrm>
          <a:prstGeom prst="rect">
            <a:avLst/>
          </a:prstGeom>
          <a:solidFill>
            <a:srgbClr val="EEEAFE"/>
          </a:solidFill>
          <a:ln w="15240">
            <a:solidFill>
              <a:srgbClr val="40319B"/>
            </a:solidFill>
          </a:ln>
        </p:spPr>
        <p:txBody>
          <a:bodyPr wrap="square" lIns="1016" tIns="1016" rIns="1016" bIns="1016" anchor="ctr">
            <a:normAutofit/>
          </a:bodyPr>
          <a:lstStyle/>
          <a:p>
            <a:pPr marL="0" indent="0" algn="ctr">
              <a:buNone/>
            </a:pPr>
            <a:r>
              <a:rPr sz="1700" b="1">
                <a:solidFill>
                  <a:srgbClr val="1F2937"/>
                </a:solidFill>
              </a:rPr>
              <a:t>Retrieve relevant transcript passages</a:t>
            </a:r>
          </a:p>
        </p:txBody>
      </p:sp>
      <p:sp>
        <p:nvSpPr>
          <p:cNvPr id="11" name="Shape 9">
            <a:extLst>
              <a:ext uri="{FF2B5EF4-FFF2-40B4-BE49-F238E27FC236}">
                <a16:creationId xmlns:a16="http://schemas.microsoft.com/office/drawing/2014/main" xmlns="" id="{960489D7-AAB9-4C6A-88FA-0527123B52EA}"/>
              </a:ext>
            </a:extLst>
          </p:cNvPr>
          <p:cNvSpPr>
            <a:spLocks noGrp="1"/>
          </p:cNvSpPr>
          <p:nvPr/>
        </p:nvSpPr>
        <p:spPr>
          <a:xfrm>
            <a:off x="8046720" y="2194560"/>
            <a:ext cx="731520" cy="0"/>
          </a:xfrm>
          <a:prstGeom prst="line">
            <a:avLst/>
          </a:prstGeom>
          <a:noFill/>
          <a:ln w="16510">
            <a:solidFill>
              <a:srgbClr val="596273"/>
            </a:solidFill>
            <a:prstDash val="solid"/>
          </a:ln>
        </p:spPr>
      </p:sp>
      <p:sp>
        <p:nvSpPr>
          <p:cNvPr id="12" name="Text 10">
            <a:extLst>
              <a:ext uri="{FF2B5EF4-FFF2-40B4-BE49-F238E27FC236}">
                <a16:creationId xmlns:a16="http://schemas.microsoft.com/office/drawing/2014/main" xmlns="" id="{E734A5C0-BE83-478C-AB5B-BBBA284FB6F0}"/>
              </a:ext>
            </a:extLst>
          </p:cNvPr>
          <p:cNvSpPr>
            <a:spLocks noGrp="1"/>
          </p:cNvSpPr>
          <p:nvPr/>
        </p:nvSpPr>
        <p:spPr>
          <a:xfrm>
            <a:off x="8961120" y="1828800"/>
            <a:ext cx="2468880" cy="731520"/>
          </a:xfrm>
          <a:prstGeom prst="rect">
            <a:avLst/>
          </a:prstGeom>
          <a:solidFill>
            <a:srgbClr val="E7F6EF"/>
          </a:solidFill>
          <a:ln w="15240">
            <a:solidFill>
              <a:srgbClr val="0E6B46"/>
            </a:solidFill>
          </a:ln>
        </p:spPr>
        <p:txBody>
          <a:bodyPr wrap="square" lIns="1016" tIns="1016" rIns="1016" bIns="1016" anchor="ctr">
            <a:normAutofit/>
          </a:bodyPr>
          <a:lstStyle/>
          <a:p>
            <a:pPr marL="0" indent="0" algn="ctr">
              <a:buNone/>
            </a:pPr>
            <a:r>
              <a:rPr sz="1600" b="1">
                <a:solidFill>
                  <a:srgbClr val="1F2937"/>
                </a:solidFill>
              </a:rPr>
              <a:t>Generate answer using retrieved text</a:t>
            </a:r>
          </a:p>
        </p:txBody>
      </p:sp>
      <p:sp>
        <p:nvSpPr>
          <p:cNvPr id="13" name="Text 11">
            <a:extLst>
              <a:ext uri="{FF2B5EF4-FFF2-40B4-BE49-F238E27FC236}">
                <a16:creationId xmlns:a16="http://schemas.microsoft.com/office/drawing/2014/main" xmlns="" id="{35A36C2C-EC4C-429E-B9A7-AE83EC36F453}"/>
              </a:ext>
            </a:extLst>
          </p:cNvPr>
          <p:cNvSpPr>
            <a:spLocks noGrp="1"/>
          </p:cNvSpPr>
          <p:nvPr/>
        </p:nvSpPr>
        <p:spPr>
          <a:xfrm>
            <a:off x="960120" y="3977640"/>
            <a:ext cx="10241280" cy="777240"/>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000" b="1">
                <a:solidFill>
                  <a:srgbClr val="1F2937"/>
                </a:solidFill>
              </a:rPr>
              <a:t>RAG means the model does not rely only on memory or intermediate summaries; it retrieves relevant source material before answering.</a:t>
            </a:r>
          </a:p>
        </p:txBody>
      </p:sp>
    </p:spTree>
    <p:extLst>
      <p:ext uri="{BB962C8B-B14F-4D97-AF65-F5344CB8AC3E}">
        <p14:creationId xmlns:p14="http://schemas.microsoft.com/office/powerpoint/2010/main" val="12992431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77F51DAC-6946-478E-8806-836FD1E455F4}"/>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2BDFDFDE-4A5B-48DE-991A-0F2179F1A71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6 · Risks</a:t>
            </a:r>
          </a:p>
        </p:txBody>
      </p:sp>
      <p:sp>
        <p:nvSpPr>
          <p:cNvPr id="4" name="Shape 2">
            <a:extLst>
              <a:ext uri="{FF2B5EF4-FFF2-40B4-BE49-F238E27FC236}">
                <a16:creationId xmlns:a16="http://schemas.microsoft.com/office/drawing/2014/main" xmlns="" id="{4977F23E-4086-4C93-BEC1-37EEE610819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B0ECC5D-77A1-4599-8726-BA028190DD20}"/>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572527B5-B176-4BA7-B20C-C06409EDCE58}"/>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Model filtering or censorship risk</a:t>
            </a:r>
          </a:p>
        </p:txBody>
      </p:sp>
      <p:sp>
        <p:nvSpPr>
          <p:cNvPr id="7" name="Text 5">
            <a:extLst>
              <a:ext uri="{FF2B5EF4-FFF2-40B4-BE49-F238E27FC236}">
                <a16:creationId xmlns:a16="http://schemas.microsoft.com/office/drawing/2014/main" xmlns="" id="{9BC1A57F-6AD8-4715-BF8E-0BAF6AD83499}"/>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If a model returns empty or strangely incomplete output, consider model-side filtering as one possible cause.</a:t>
            </a:r>
          </a:p>
        </p:txBody>
      </p:sp>
      <p:sp>
        <p:nvSpPr>
          <p:cNvPr id="8" name="Text 6">
            <a:extLst>
              <a:ext uri="{FF2B5EF4-FFF2-40B4-BE49-F238E27FC236}">
                <a16:creationId xmlns:a16="http://schemas.microsoft.com/office/drawing/2014/main" xmlns="" id="{DBA30E8C-E8A6-4FF0-98C4-970AFFFD6E93}"/>
              </a:ext>
            </a:extLst>
          </p:cNvPr>
          <p:cNvSpPr>
            <a:spLocks noGrp="1"/>
          </p:cNvSpPr>
          <p:nvPr/>
        </p:nvSpPr>
        <p:spPr>
          <a:xfrm>
            <a:off x="868680" y="159105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C26C6166-F538-40B5-9D51-03D4B740BD0E}"/>
              </a:ext>
            </a:extLst>
          </p:cNvPr>
          <p:cNvSpPr>
            <a:spLocks noGrp="1"/>
          </p:cNvSpPr>
          <p:nvPr/>
        </p:nvSpPr>
        <p:spPr>
          <a:xfrm>
            <a:off x="1197864" y="155448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Sometimes a bucket has input data, but the LLM returns little or nothing.</a:t>
            </a:r>
          </a:p>
        </p:txBody>
      </p:sp>
      <p:sp>
        <p:nvSpPr>
          <p:cNvPr id="10" name="Text 8">
            <a:extLst>
              <a:ext uri="{FF2B5EF4-FFF2-40B4-BE49-F238E27FC236}">
                <a16:creationId xmlns:a16="http://schemas.microsoft.com/office/drawing/2014/main" xmlns="" id="{F59BDE54-5ECD-4F00-B3A9-904702451265}"/>
              </a:ext>
            </a:extLst>
          </p:cNvPr>
          <p:cNvSpPr>
            <a:spLocks noGrp="1"/>
          </p:cNvSpPr>
          <p:nvPr/>
        </p:nvSpPr>
        <p:spPr>
          <a:xfrm>
            <a:off x="868680" y="215798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5FD0CCD9-0E0E-41D5-B991-F2FD400A49F8}"/>
              </a:ext>
            </a:extLst>
          </p:cNvPr>
          <p:cNvSpPr>
            <a:spLocks noGrp="1"/>
          </p:cNvSpPr>
          <p:nvPr/>
        </p:nvSpPr>
        <p:spPr>
          <a:xfrm>
            <a:off x="1197864" y="212140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A stale cache, bad prompt, parsing bug, or content filter could all be possible explanations.</a:t>
            </a:r>
          </a:p>
        </p:txBody>
      </p:sp>
      <p:sp>
        <p:nvSpPr>
          <p:cNvPr id="12" name="Text 10">
            <a:extLst>
              <a:ext uri="{FF2B5EF4-FFF2-40B4-BE49-F238E27FC236}">
                <a16:creationId xmlns:a16="http://schemas.microsoft.com/office/drawing/2014/main" xmlns="" id="{BFD4A9B7-79E0-47DD-8870-717D142B29F1}"/>
              </a:ext>
            </a:extLst>
          </p:cNvPr>
          <p:cNvSpPr>
            <a:spLocks noGrp="1"/>
          </p:cNvSpPr>
          <p:nvPr/>
        </p:nvSpPr>
        <p:spPr>
          <a:xfrm>
            <a:off x="868680" y="272491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8F85A4C8-E930-4750-853D-137FF6ABD020}"/>
              </a:ext>
            </a:extLst>
          </p:cNvPr>
          <p:cNvSpPr>
            <a:spLocks noGrp="1"/>
          </p:cNvSpPr>
          <p:nvPr/>
        </p:nvSpPr>
        <p:spPr>
          <a:xfrm>
            <a:off x="1197864" y="268833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Sensitive wording such as “official data manipulation” may trigger caution in some models.</a:t>
            </a:r>
          </a:p>
        </p:txBody>
      </p:sp>
      <p:sp>
        <p:nvSpPr>
          <p:cNvPr id="14" name="Text 12">
            <a:extLst>
              <a:ext uri="{FF2B5EF4-FFF2-40B4-BE49-F238E27FC236}">
                <a16:creationId xmlns:a16="http://schemas.microsoft.com/office/drawing/2014/main" xmlns="" id="{DE0EA09A-5828-4E58-A960-7D4058E7AC43}"/>
              </a:ext>
            </a:extLst>
          </p:cNvPr>
          <p:cNvSpPr>
            <a:spLocks noGrp="1"/>
          </p:cNvSpPr>
          <p:nvPr/>
        </p:nvSpPr>
        <p:spPr>
          <a:xfrm>
            <a:off x="868680" y="329184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6E68C755-DBC7-4086-AF36-4CE088C41674}"/>
              </a:ext>
            </a:extLst>
          </p:cNvPr>
          <p:cNvSpPr>
            <a:spLocks noGrp="1"/>
          </p:cNvSpPr>
          <p:nvPr/>
        </p:nvSpPr>
        <p:spPr>
          <a:xfrm>
            <a:off x="1197864" y="325526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Treat this as a debugging hypothesis, not an automatic conclusion.</a:t>
            </a:r>
          </a:p>
        </p:txBody>
      </p:sp>
      <p:sp>
        <p:nvSpPr>
          <p:cNvPr id="16" name="Text 14">
            <a:extLst>
              <a:ext uri="{FF2B5EF4-FFF2-40B4-BE49-F238E27FC236}">
                <a16:creationId xmlns:a16="http://schemas.microsoft.com/office/drawing/2014/main" xmlns="" id="{E755503C-288F-430F-9AF8-DF0823DD1332}"/>
              </a:ext>
            </a:extLst>
          </p:cNvPr>
          <p:cNvSpPr>
            <a:spLocks noGrp="1"/>
          </p:cNvSpPr>
          <p:nvPr/>
        </p:nvSpPr>
        <p:spPr>
          <a:xfrm>
            <a:off x="1234440" y="5074920"/>
            <a:ext cx="9601200" cy="658368"/>
          </a:xfrm>
          <a:prstGeom prst="rect">
            <a:avLst/>
          </a:prstGeom>
          <a:solidFill>
            <a:srgbClr val="E7F2FA"/>
          </a:solidFill>
          <a:ln w="15240">
            <a:solidFill>
              <a:srgbClr val="0B4B7A"/>
            </a:solidFill>
          </a:ln>
        </p:spPr>
        <p:txBody>
          <a:bodyPr wrap="square" lIns="1778" tIns="1778" rIns="1778" bIns="1778" anchor="ctr">
            <a:normAutofit/>
          </a:bodyPr>
          <a:lstStyle/>
          <a:p>
            <a:pPr marL="0" indent="0">
              <a:buNone/>
            </a:pPr>
            <a:r>
              <a:rPr sz="2100" b="1">
                <a:solidFill>
                  <a:srgbClr val="1F2937"/>
                </a:solidFill>
              </a:rPr>
              <a:t>Good debugging compares several explanations before blaming the model.</a:t>
            </a:r>
          </a:p>
        </p:txBody>
      </p:sp>
    </p:spTree>
    <p:extLst>
      <p:ext uri="{BB962C8B-B14F-4D97-AF65-F5344CB8AC3E}">
        <p14:creationId xmlns:p14="http://schemas.microsoft.com/office/powerpoint/2010/main" val="7539071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26343532-D382-4B6D-A429-6293DC618C1B}"/>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0A7034A5-4BCA-4E2F-9CA6-13445C9DB95B}"/>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7 · Conclusion</a:t>
            </a:r>
          </a:p>
        </p:txBody>
      </p:sp>
      <p:sp>
        <p:nvSpPr>
          <p:cNvPr id="4" name="Shape 2">
            <a:extLst>
              <a:ext uri="{FF2B5EF4-FFF2-40B4-BE49-F238E27FC236}">
                <a16:creationId xmlns:a16="http://schemas.microsoft.com/office/drawing/2014/main" xmlns="" id="{48D63820-A23C-41E1-A035-52A3E233EF8B}"/>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EA706FE-4840-4BAA-93F1-88B6F2E08F51}"/>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4A259D05-961C-4520-9373-6F0441B4FB3D}"/>
              </a:ext>
            </a:extLst>
          </p:cNvPr>
          <p:cNvSpPr>
            <a:spLocks noGrp="1"/>
          </p:cNvSpPr>
          <p:nvPr/>
        </p:nvSpPr>
        <p:spPr>
          <a:xfrm>
            <a:off x="685800" y="2057400"/>
            <a:ext cx="10789920" cy="822960"/>
          </a:xfrm>
          <a:prstGeom prst="rect">
            <a:avLst/>
          </a:prstGeom>
          <a:noFill/>
        </p:spPr>
        <p:txBody>
          <a:bodyPr wrap="square" lIns="254" tIns="254" rIns="254" bIns="254" anchor="ctr"/>
          <a:lstStyle/>
          <a:p>
            <a:pPr marL="0" indent="0" algn="ctr">
              <a:buNone/>
            </a:pPr>
            <a:r>
              <a:rPr sz="4200" b="1">
                <a:solidFill>
                  <a:srgbClr val="0E6B46"/>
                </a:solidFill>
              </a:rPr>
              <a:t>Final workflow</a:t>
            </a:r>
          </a:p>
        </p:txBody>
      </p:sp>
      <p:sp>
        <p:nvSpPr>
          <p:cNvPr id="7" name="Text 5">
            <a:extLst>
              <a:ext uri="{FF2B5EF4-FFF2-40B4-BE49-F238E27FC236}">
                <a16:creationId xmlns:a16="http://schemas.microsoft.com/office/drawing/2014/main" xmlns="" id="{4AEA298E-B57C-43F4-A792-0BF06022C755}"/>
              </a:ext>
            </a:extLst>
          </p:cNvPr>
          <p:cNvSpPr>
            <a:spLocks noGrp="1"/>
          </p:cNvSpPr>
          <p:nvPr/>
        </p:nvSpPr>
        <p:spPr>
          <a:xfrm>
            <a:off x="1371600" y="2971800"/>
            <a:ext cx="9464040" cy="502920"/>
          </a:xfrm>
          <a:prstGeom prst="rect">
            <a:avLst/>
          </a:prstGeom>
          <a:noFill/>
        </p:spPr>
        <p:txBody>
          <a:bodyPr wrap="square" lIns="254" tIns="254" rIns="254" bIns="254" anchor="ctr">
            <a:normAutofit/>
          </a:bodyPr>
          <a:lstStyle/>
          <a:p>
            <a:pPr marL="0" indent="0" algn="ctr">
              <a:buNone/>
            </a:pPr>
            <a:r>
              <a:rPr sz="2000">
                <a:solidFill>
                  <a:srgbClr val="596273"/>
                </a:solidFill>
              </a:rPr>
              <a:t>A compact checklist for using the whole approach.</a:t>
            </a:r>
          </a:p>
        </p:txBody>
      </p:sp>
    </p:spTree>
    <p:extLst>
      <p:ext uri="{BB962C8B-B14F-4D97-AF65-F5344CB8AC3E}">
        <p14:creationId xmlns:p14="http://schemas.microsoft.com/office/powerpoint/2010/main" val="1111426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F3A08C4E-BA77-41A1-9673-B245D9CFEC82}"/>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7909C6EA-4E12-4818-9514-8F7389F7012A}"/>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7 · Conclusion</a:t>
            </a:r>
          </a:p>
        </p:txBody>
      </p:sp>
      <p:sp>
        <p:nvSpPr>
          <p:cNvPr id="4" name="Shape 2">
            <a:extLst>
              <a:ext uri="{FF2B5EF4-FFF2-40B4-BE49-F238E27FC236}">
                <a16:creationId xmlns:a16="http://schemas.microsoft.com/office/drawing/2014/main" xmlns="" id="{25EAF4BF-8338-43B2-BFAE-E7CB6CD127DC}"/>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41B2C8E-03E9-48F5-A456-A079338E7701}"/>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2C31BA8C-8153-403B-89B1-BB595C0257A7}"/>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The complete recipe</a:t>
            </a:r>
          </a:p>
        </p:txBody>
      </p:sp>
      <p:sp>
        <p:nvSpPr>
          <p:cNvPr id="7" name="Text 5">
            <a:extLst>
              <a:ext uri="{FF2B5EF4-FFF2-40B4-BE49-F238E27FC236}">
                <a16:creationId xmlns:a16="http://schemas.microsoft.com/office/drawing/2014/main" xmlns="" id="{92C17DC6-4417-42FA-AB92-6FEE0D36455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Follow this sequence to build the project systematically.</a:t>
            </a:r>
          </a:p>
        </p:txBody>
      </p:sp>
      <p:sp>
        <p:nvSpPr>
          <p:cNvPr id="8" name="Text 6">
            <a:extLst>
              <a:ext uri="{FF2B5EF4-FFF2-40B4-BE49-F238E27FC236}">
                <a16:creationId xmlns:a16="http://schemas.microsoft.com/office/drawing/2014/main" xmlns="" id="{B4960D09-33D0-4669-AC90-CB604015F287}"/>
              </a:ext>
            </a:extLst>
          </p:cNvPr>
          <p:cNvSpPr>
            <a:spLocks noGrp="1"/>
          </p:cNvSpPr>
          <p:nvPr/>
        </p:nvSpPr>
        <p:spPr>
          <a:xfrm>
            <a:off x="777240" y="1664208"/>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9" name="Text 7">
            <a:extLst>
              <a:ext uri="{FF2B5EF4-FFF2-40B4-BE49-F238E27FC236}">
                <a16:creationId xmlns:a16="http://schemas.microsoft.com/office/drawing/2014/main" xmlns="" id="{2F97A334-A1AB-427A-A8D2-8615C008A254}"/>
              </a:ext>
            </a:extLst>
          </p:cNvPr>
          <p:cNvSpPr>
            <a:spLocks noGrp="1"/>
          </p:cNvSpPr>
          <p:nvPr/>
        </p:nvSpPr>
        <p:spPr>
          <a:xfrm>
            <a:off x="1106424" y="1627632"/>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1. Collect transcripts locally and keep file names consistent.</a:t>
            </a:r>
          </a:p>
        </p:txBody>
      </p:sp>
      <p:sp>
        <p:nvSpPr>
          <p:cNvPr id="10" name="Text 8">
            <a:extLst>
              <a:ext uri="{FF2B5EF4-FFF2-40B4-BE49-F238E27FC236}">
                <a16:creationId xmlns:a16="http://schemas.microsoft.com/office/drawing/2014/main" xmlns="" id="{F13BC631-BF03-442E-9407-B0D5FC1CF6E3}"/>
              </a:ext>
            </a:extLst>
          </p:cNvPr>
          <p:cNvSpPr>
            <a:spLocks noGrp="1"/>
          </p:cNvSpPr>
          <p:nvPr/>
        </p:nvSpPr>
        <p:spPr>
          <a:xfrm>
            <a:off x="777240" y="2176272"/>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1" name="Text 9">
            <a:extLst>
              <a:ext uri="{FF2B5EF4-FFF2-40B4-BE49-F238E27FC236}">
                <a16:creationId xmlns:a16="http://schemas.microsoft.com/office/drawing/2014/main" xmlns="" id="{AB408507-F221-4087-B022-44A7FD5EA416}"/>
              </a:ext>
            </a:extLst>
          </p:cNvPr>
          <p:cNvSpPr>
            <a:spLocks noGrp="1"/>
          </p:cNvSpPr>
          <p:nvPr/>
        </p:nvSpPr>
        <p:spPr>
          <a:xfrm>
            <a:off x="1106424" y="2139696"/>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2. Describe inputs, outputs, definitions, roles, tools, and rules in a declarative prompt.</a:t>
            </a:r>
          </a:p>
        </p:txBody>
      </p:sp>
      <p:sp>
        <p:nvSpPr>
          <p:cNvPr id="12" name="Text 10">
            <a:extLst>
              <a:ext uri="{FF2B5EF4-FFF2-40B4-BE49-F238E27FC236}">
                <a16:creationId xmlns:a16="http://schemas.microsoft.com/office/drawing/2014/main" xmlns="" id="{177D1C41-35F4-4A39-A79F-F2D8BBE4279B}"/>
              </a:ext>
            </a:extLst>
          </p:cNvPr>
          <p:cNvSpPr>
            <a:spLocks noGrp="1"/>
          </p:cNvSpPr>
          <p:nvPr/>
        </p:nvSpPr>
        <p:spPr>
          <a:xfrm>
            <a:off x="777240" y="2688336"/>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3" name="Text 11">
            <a:extLst>
              <a:ext uri="{FF2B5EF4-FFF2-40B4-BE49-F238E27FC236}">
                <a16:creationId xmlns:a16="http://schemas.microsoft.com/office/drawing/2014/main" xmlns="" id="{32DA7206-FD98-452C-B5B7-B26CD7FB3EF8}"/>
              </a:ext>
            </a:extLst>
          </p:cNvPr>
          <p:cNvSpPr>
            <a:spLocks noGrp="1"/>
          </p:cNvSpPr>
          <p:nvPr/>
        </p:nvSpPr>
        <p:spPr>
          <a:xfrm>
            <a:off x="1106424" y="2651760"/>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3. Attach output models and the structural description of the compendium.</a:t>
            </a:r>
          </a:p>
        </p:txBody>
      </p:sp>
      <p:sp>
        <p:nvSpPr>
          <p:cNvPr id="14" name="Text 12">
            <a:extLst>
              <a:ext uri="{FF2B5EF4-FFF2-40B4-BE49-F238E27FC236}">
                <a16:creationId xmlns:a16="http://schemas.microsoft.com/office/drawing/2014/main" xmlns="" id="{BBA9C57B-38E1-4022-A253-B1A6D956C5EC}"/>
              </a:ext>
            </a:extLst>
          </p:cNvPr>
          <p:cNvSpPr>
            <a:spLocks noGrp="1"/>
          </p:cNvSpPr>
          <p:nvPr/>
        </p:nvSpPr>
        <p:spPr>
          <a:xfrm>
            <a:off x="777240" y="3200400"/>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5" name="Text 13">
            <a:extLst>
              <a:ext uri="{FF2B5EF4-FFF2-40B4-BE49-F238E27FC236}">
                <a16:creationId xmlns:a16="http://schemas.microsoft.com/office/drawing/2014/main" xmlns="" id="{E0F35401-75EE-4971-8A55-71DE685B16D4}"/>
              </a:ext>
            </a:extLst>
          </p:cNvPr>
          <p:cNvSpPr>
            <a:spLocks noGrp="1"/>
          </p:cNvSpPr>
          <p:nvPr/>
        </p:nvSpPr>
        <p:spPr>
          <a:xfrm>
            <a:off x="1106424" y="3163824"/>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4. Ask Claude to rewrite the prompt to expose missing rules.</a:t>
            </a:r>
          </a:p>
        </p:txBody>
      </p:sp>
      <p:sp>
        <p:nvSpPr>
          <p:cNvPr id="16" name="Text 14">
            <a:extLst>
              <a:ext uri="{FF2B5EF4-FFF2-40B4-BE49-F238E27FC236}">
                <a16:creationId xmlns:a16="http://schemas.microsoft.com/office/drawing/2014/main" xmlns="" id="{662C78F4-A576-4866-8886-ECE207774A20}"/>
              </a:ext>
            </a:extLst>
          </p:cNvPr>
          <p:cNvSpPr>
            <a:spLocks noGrp="1"/>
          </p:cNvSpPr>
          <p:nvPr/>
        </p:nvSpPr>
        <p:spPr>
          <a:xfrm>
            <a:off x="777240" y="3712464"/>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7" name="Text 15">
            <a:extLst>
              <a:ext uri="{FF2B5EF4-FFF2-40B4-BE49-F238E27FC236}">
                <a16:creationId xmlns:a16="http://schemas.microsoft.com/office/drawing/2014/main" xmlns="" id="{F010ADAC-27FF-4BC2-A86C-CC6E15B8B3CB}"/>
              </a:ext>
            </a:extLst>
          </p:cNvPr>
          <p:cNvSpPr>
            <a:spLocks noGrp="1"/>
          </p:cNvSpPr>
          <p:nvPr/>
        </p:nvSpPr>
        <p:spPr>
          <a:xfrm>
            <a:off x="1106424" y="3675888"/>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5. Ask Claude to write the Python pipeline that calls DeepSeek.</a:t>
            </a:r>
          </a:p>
        </p:txBody>
      </p:sp>
      <p:sp>
        <p:nvSpPr>
          <p:cNvPr id="18" name="Text 16">
            <a:extLst>
              <a:ext uri="{FF2B5EF4-FFF2-40B4-BE49-F238E27FC236}">
                <a16:creationId xmlns:a16="http://schemas.microsoft.com/office/drawing/2014/main" xmlns="" id="{9E800143-121A-423A-9127-EE33FA0950EF}"/>
              </a:ext>
            </a:extLst>
          </p:cNvPr>
          <p:cNvSpPr>
            <a:spLocks noGrp="1"/>
          </p:cNvSpPr>
          <p:nvPr/>
        </p:nvSpPr>
        <p:spPr>
          <a:xfrm>
            <a:off x="777240" y="4224528"/>
            <a:ext cx="228600" cy="256032"/>
          </a:xfrm>
          <a:prstGeom prst="rect">
            <a:avLst/>
          </a:prstGeom>
          <a:noFill/>
        </p:spPr>
        <p:txBody>
          <a:bodyPr wrap="square" lIns="0" tIns="0" rIns="0" bIns="0" anchor="ctr"/>
          <a:lstStyle/>
          <a:p>
            <a:pPr marL="0" indent="0">
              <a:buNone/>
            </a:pPr>
            <a:r>
              <a:rPr sz="1900" b="1">
                <a:solidFill>
                  <a:srgbClr val="40319B"/>
                </a:solidFill>
              </a:rPr>
              <a:t>•</a:t>
            </a:r>
          </a:p>
        </p:txBody>
      </p:sp>
      <p:sp>
        <p:nvSpPr>
          <p:cNvPr id="19" name="Text 17">
            <a:extLst>
              <a:ext uri="{FF2B5EF4-FFF2-40B4-BE49-F238E27FC236}">
                <a16:creationId xmlns:a16="http://schemas.microsoft.com/office/drawing/2014/main" xmlns="" id="{A1DF866A-71C1-49F0-8FAA-60E2865E7493}"/>
              </a:ext>
            </a:extLst>
          </p:cNvPr>
          <p:cNvSpPr>
            <a:spLocks noGrp="1"/>
          </p:cNvSpPr>
          <p:nvPr/>
        </p:nvSpPr>
        <p:spPr>
          <a:xfrm>
            <a:off x="1106424" y="4187952"/>
            <a:ext cx="10460736" cy="384048"/>
          </a:xfrm>
          <a:prstGeom prst="rect">
            <a:avLst/>
          </a:prstGeom>
          <a:noFill/>
        </p:spPr>
        <p:txBody>
          <a:bodyPr wrap="square" lIns="254" tIns="254" rIns="254" bIns="254" anchor="ctr">
            <a:normAutofit/>
          </a:bodyPr>
          <a:lstStyle/>
          <a:p>
            <a:pPr marL="0" indent="0">
              <a:buNone/>
            </a:pPr>
            <a:r>
              <a:rPr sz="1900">
                <a:solidFill>
                  <a:srgbClr val="1F2937"/>
                </a:solidFill>
              </a:rPr>
              <a:t>6. Run the pipeline, inspect checkpoints, evaluate metrics, and iterate.</a:t>
            </a:r>
          </a:p>
        </p:txBody>
      </p:sp>
    </p:spTree>
    <p:extLst>
      <p:ext uri="{BB962C8B-B14F-4D97-AF65-F5344CB8AC3E}">
        <p14:creationId xmlns:p14="http://schemas.microsoft.com/office/powerpoint/2010/main" val="8714411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F3F7588-4CDA-40B2-8096-3D51F451C77E}"/>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8AEDCF3E-417A-4194-896E-05520DB136F8}"/>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7 · Conclusion</a:t>
            </a:r>
          </a:p>
        </p:txBody>
      </p:sp>
      <p:sp>
        <p:nvSpPr>
          <p:cNvPr id="4" name="Shape 2">
            <a:extLst>
              <a:ext uri="{FF2B5EF4-FFF2-40B4-BE49-F238E27FC236}">
                <a16:creationId xmlns:a16="http://schemas.microsoft.com/office/drawing/2014/main" xmlns="" id="{1AE7D293-4224-4725-8739-6BD1EFE8C8F4}"/>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90801997-81E0-47B4-AC1F-B98541FD2E15}"/>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E8180C43-68F0-44B4-891D-1DA45A84AB57}"/>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What a non-programmer should remember</a:t>
            </a:r>
          </a:p>
        </p:txBody>
      </p:sp>
      <p:sp>
        <p:nvSpPr>
          <p:cNvPr id="7" name="Text 5">
            <a:extLst>
              <a:ext uri="{FF2B5EF4-FFF2-40B4-BE49-F238E27FC236}">
                <a16:creationId xmlns:a16="http://schemas.microsoft.com/office/drawing/2014/main" xmlns="" id="{76DECBED-AAFB-4B0A-A4ED-86355E1E95AE}"/>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main skill is not writing every line of code by hand. The main skill is specifying the target clearly.</a:t>
            </a:r>
          </a:p>
        </p:txBody>
      </p:sp>
      <p:sp>
        <p:nvSpPr>
          <p:cNvPr id="8" name="Text 6">
            <a:extLst>
              <a:ext uri="{FF2B5EF4-FFF2-40B4-BE49-F238E27FC236}">
                <a16:creationId xmlns:a16="http://schemas.microsoft.com/office/drawing/2014/main" xmlns="" id="{4D71F1C8-4C2E-4CF0-B93A-A4DE9450D246}"/>
              </a:ext>
            </a:extLst>
          </p:cNvPr>
          <p:cNvSpPr>
            <a:spLocks noGrp="1"/>
          </p:cNvSpPr>
          <p:nvPr/>
        </p:nvSpPr>
        <p:spPr>
          <a:xfrm>
            <a:off x="868680" y="163677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9" name="Text 7">
            <a:extLst>
              <a:ext uri="{FF2B5EF4-FFF2-40B4-BE49-F238E27FC236}">
                <a16:creationId xmlns:a16="http://schemas.microsoft.com/office/drawing/2014/main" xmlns="" id="{398BD246-BF46-4CFB-AF47-3F2BB4FC0B66}"/>
              </a:ext>
            </a:extLst>
          </p:cNvPr>
          <p:cNvSpPr>
            <a:spLocks noGrp="1"/>
          </p:cNvSpPr>
          <p:nvPr/>
        </p:nvSpPr>
        <p:spPr>
          <a:xfrm>
            <a:off x="1197864" y="1600200"/>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Be precise about what files go in and what files must come out.</a:t>
            </a:r>
          </a:p>
        </p:txBody>
      </p:sp>
      <p:sp>
        <p:nvSpPr>
          <p:cNvPr id="10" name="Text 8">
            <a:extLst>
              <a:ext uri="{FF2B5EF4-FFF2-40B4-BE49-F238E27FC236}">
                <a16:creationId xmlns:a16="http://schemas.microsoft.com/office/drawing/2014/main" xmlns="" id="{5EEFEA1F-0BAF-4611-87EF-B3034F1C5C7E}"/>
              </a:ext>
            </a:extLst>
          </p:cNvPr>
          <p:cNvSpPr>
            <a:spLocks noGrp="1"/>
          </p:cNvSpPr>
          <p:nvPr/>
        </p:nvSpPr>
        <p:spPr>
          <a:xfrm>
            <a:off x="868680" y="2203704"/>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1" name="Text 9">
            <a:extLst>
              <a:ext uri="{FF2B5EF4-FFF2-40B4-BE49-F238E27FC236}">
                <a16:creationId xmlns:a16="http://schemas.microsoft.com/office/drawing/2014/main" xmlns="" id="{9E66BEFB-83AD-4674-8322-B0EDA8FC5BBF}"/>
              </a:ext>
            </a:extLst>
          </p:cNvPr>
          <p:cNvSpPr>
            <a:spLocks noGrp="1"/>
          </p:cNvSpPr>
          <p:nvPr/>
        </p:nvSpPr>
        <p:spPr>
          <a:xfrm>
            <a:off x="1197864" y="2167128"/>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Use examples whenever possible.</a:t>
            </a:r>
          </a:p>
        </p:txBody>
      </p:sp>
      <p:sp>
        <p:nvSpPr>
          <p:cNvPr id="12" name="Text 10">
            <a:extLst>
              <a:ext uri="{FF2B5EF4-FFF2-40B4-BE49-F238E27FC236}">
                <a16:creationId xmlns:a16="http://schemas.microsoft.com/office/drawing/2014/main" xmlns="" id="{119A65A7-DBB4-4578-9412-E89F55207A81}"/>
              </a:ext>
            </a:extLst>
          </p:cNvPr>
          <p:cNvSpPr>
            <a:spLocks noGrp="1"/>
          </p:cNvSpPr>
          <p:nvPr/>
        </p:nvSpPr>
        <p:spPr>
          <a:xfrm>
            <a:off x="868680" y="277063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3" name="Text 11">
            <a:extLst>
              <a:ext uri="{FF2B5EF4-FFF2-40B4-BE49-F238E27FC236}">
                <a16:creationId xmlns:a16="http://schemas.microsoft.com/office/drawing/2014/main" xmlns="" id="{9F2FCE9A-EC5D-4FB1-924C-21C68DEBCBB0}"/>
              </a:ext>
            </a:extLst>
          </p:cNvPr>
          <p:cNvSpPr>
            <a:spLocks noGrp="1"/>
          </p:cNvSpPr>
          <p:nvPr/>
        </p:nvSpPr>
        <p:spPr>
          <a:xfrm>
            <a:off x="1197864" y="2734056"/>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Define the structure of the output before asking for code.</a:t>
            </a:r>
          </a:p>
        </p:txBody>
      </p:sp>
      <p:sp>
        <p:nvSpPr>
          <p:cNvPr id="14" name="Text 12">
            <a:extLst>
              <a:ext uri="{FF2B5EF4-FFF2-40B4-BE49-F238E27FC236}">
                <a16:creationId xmlns:a16="http://schemas.microsoft.com/office/drawing/2014/main" xmlns="" id="{0E957FD2-CB54-44AE-BFD9-F2FC84E82B82}"/>
              </a:ext>
            </a:extLst>
          </p:cNvPr>
          <p:cNvSpPr>
            <a:spLocks noGrp="1"/>
          </p:cNvSpPr>
          <p:nvPr/>
        </p:nvSpPr>
        <p:spPr>
          <a:xfrm>
            <a:off x="868680" y="3337560"/>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5" name="Text 13">
            <a:extLst>
              <a:ext uri="{FF2B5EF4-FFF2-40B4-BE49-F238E27FC236}">
                <a16:creationId xmlns:a16="http://schemas.microsoft.com/office/drawing/2014/main" xmlns="" id="{1B986F0C-2C52-4D17-88A3-7919F9680CED}"/>
              </a:ext>
            </a:extLst>
          </p:cNvPr>
          <p:cNvSpPr>
            <a:spLocks noGrp="1"/>
          </p:cNvSpPr>
          <p:nvPr/>
        </p:nvSpPr>
        <p:spPr>
          <a:xfrm>
            <a:off x="1197864" y="3300984"/>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Turn vague preferences into explicit rules.</a:t>
            </a:r>
          </a:p>
        </p:txBody>
      </p:sp>
      <p:sp>
        <p:nvSpPr>
          <p:cNvPr id="16" name="Text 14">
            <a:extLst>
              <a:ext uri="{FF2B5EF4-FFF2-40B4-BE49-F238E27FC236}">
                <a16:creationId xmlns:a16="http://schemas.microsoft.com/office/drawing/2014/main" xmlns="" id="{B803B7E7-A7EF-481A-B512-A0C9932CC00B}"/>
              </a:ext>
            </a:extLst>
          </p:cNvPr>
          <p:cNvSpPr>
            <a:spLocks noGrp="1"/>
          </p:cNvSpPr>
          <p:nvPr/>
        </p:nvSpPr>
        <p:spPr>
          <a:xfrm>
            <a:off x="868680" y="390448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7" name="Text 15">
            <a:extLst>
              <a:ext uri="{FF2B5EF4-FFF2-40B4-BE49-F238E27FC236}">
                <a16:creationId xmlns:a16="http://schemas.microsoft.com/office/drawing/2014/main" xmlns="" id="{F00A5B26-FE22-4365-86C1-350819CBD179}"/>
              </a:ext>
            </a:extLst>
          </p:cNvPr>
          <p:cNvSpPr>
            <a:spLocks noGrp="1"/>
          </p:cNvSpPr>
          <p:nvPr/>
        </p:nvSpPr>
        <p:spPr>
          <a:xfrm>
            <a:off x="1197864" y="3867912"/>
            <a:ext cx="10186416" cy="438912"/>
          </a:xfrm>
          <a:prstGeom prst="rect">
            <a:avLst/>
          </a:prstGeom>
          <a:noFill/>
        </p:spPr>
        <p:txBody>
          <a:bodyPr wrap="square" lIns="254" tIns="254" rIns="254" bIns="254" anchor="ctr">
            <a:normAutofit/>
          </a:bodyPr>
          <a:lstStyle/>
          <a:p>
            <a:pPr marL="0" indent="0">
              <a:buNone/>
            </a:pPr>
            <a:r>
              <a:rPr sz="2000">
                <a:solidFill>
                  <a:srgbClr val="1F2937"/>
                </a:solidFill>
              </a:rPr>
              <a:t>Use metrics to compare versions rather than relying only on impressions.</a:t>
            </a:r>
          </a:p>
        </p:txBody>
      </p:sp>
      <p:sp>
        <p:nvSpPr>
          <p:cNvPr id="18" name="Text 16">
            <a:extLst>
              <a:ext uri="{FF2B5EF4-FFF2-40B4-BE49-F238E27FC236}">
                <a16:creationId xmlns:a16="http://schemas.microsoft.com/office/drawing/2014/main" xmlns="" id="{3E093F57-6C38-443E-BDBE-4920FAFF86C8}"/>
              </a:ext>
            </a:extLst>
          </p:cNvPr>
          <p:cNvSpPr>
            <a:spLocks noGrp="1"/>
          </p:cNvSpPr>
          <p:nvPr/>
        </p:nvSpPr>
        <p:spPr>
          <a:xfrm>
            <a:off x="1143000" y="5074920"/>
            <a:ext cx="9875520" cy="658368"/>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100" b="1">
                <a:solidFill>
                  <a:srgbClr val="1F2937"/>
                </a:solidFill>
              </a:rPr>
              <a:t>The prompt is the specification. The code is Claude’s implementation of that specification.</a:t>
            </a:r>
          </a:p>
        </p:txBody>
      </p:sp>
    </p:spTree>
    <p:extLst>
      <p:ext uri="{BB962C8B-B14F-4D97-AF65-F5344CB8AC3E}">
        <p14:creationId xmlns:p14="http://schemas.microsoft.com/office/powerpoint/2010/main" val="10015575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E88FBD1E-FE66-4D80-8946-E001C6E5067C}"/>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2030F1E7-B80B-4755-827A-79FEECB3C8F0}"/>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7 · Conclusion</a:t>
            </a:r>
          </a:p>
        </p:txBody>
      </p:sp>
      <p:sp>
        <p:nvSpPr>
          <p:cNvPr id="4" name="Shape 2">
            <a:extLst>
              <a:ext uri="{FF2B5EF4-FFF2-40B4-BE49-F238E27FC236}">
                <a16:creationId xmlns:a16="http://schemas.microsoft.com/office/drawing/2014/main" xmlns="" id="{2D06D2C6-6C5C-41FD-8F04-01EA071E4E6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7084E156-DCE8-492C-B117-5E253A311CDC}"/>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62EBF031-0471-480C-8DAB-6A68DE6F2633}"/>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Suggested demo</a:t>
            </a:r>
          </a:p>
        </p:txBody>
      </p:sp>
      <p:sp>
        <p:nvSpPr>
          <p:cNvPr id="7" name="Text 5">
            <a:extLst>
              <a:ext uri="{FF2B5EF4-FFF2-40B4-BE49-F238E27FC236}">
                <a16:creationId xmlns:a16="http://schemas.microsoft.com/office/drawing/2014/main" xmlns="" id="{D80899CC-B6B7-4158-AB40-D5E647CFE512}"/>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A live demonstration should use a small subset before attempting the full channel.</a:t>
            </a:r>
          </a:p>
        </p:txBody>
      </p:sp>
      <p:sp>
        <p:nvSpPr>
          <p:cNvPr id="8" name="Text 6">
            <a:extLst>
              <a:ext uri="{FF2B5EF4-FFF2-40B4-BE49-F238E27FC236}">
                <a16:creationId xmlns:a16="http://schemas.microsoft.com/office/drawing/2014/main" xmlns="" id="{9115C0C1-D47C-4B10-AC05-6563F6548EFE}"/>
              </a:ext>
            </a:extLst>
          </p:cNvPr>
          <p:cNvSpPr>
            <a:spLocks noGrp="1"/>
          </p:cNvSpPr>
          <p:nvPr/>
        </p:nvSpPr>
        <p:spPr>
          <a:xfrm>
            <a:off x="777240" y="1664208"/>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9" name="Text 7">
            <a:extLst>
              <a:ext uri="{FF2B5EF4-FFF2-40B4-BE49-F238E27FC236}">
                <a16:creationId xmlns:a16="http://schemas.microsoft.com/office/drawing/2014/main" xmlns="" id="{4C0A7BC3-0B0D-424F-B1CD-1128BA290F51}"/>
              </a:ext>
            </a:extLst>
          </p:cNvPr>
          <p:cNvSpPr>
            <a:spLocks noGrp="1"/>
          </p:cNvSpPr>
          <p:nvPr/>
        </p:nvSpPr>
        <p:spPr>
          <a:xfrm>
            <a:off x="1106424" y="1627632"/>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Start with 10–20 transcripts, not the whole channel.</a:t>
            </a:r>
          </a:p>
        </p:txBody>
      </p:sp>
      <p:sp>
        <p:nvSpPr>
          <p:cNvPr id="10" name="Text 8">
            <a:extLst>
              <a:ext uri="{FF2B5EF4-FFF2-40B4-BE49-F238E27FC236}">
                <a16:creationId xmlns:a16="http://schemas.microsoft.com/office/drawing/2014/main" xmlns="" id="{E407612C-CCFA-4015-A4A4-8EE5398D003D}"/>
              </a:ext>
            </a:extLst>
          </p:cNvPr>
          <p:cNvSpPr>
            <a:spLocks noGrp="1"/>
          </p:cNvSpPr>
          <p:nvPr/>
        </p:nvSpPr>
        <p:spPr>
          <a:xfrm>
            <a:off x="777240" y="2185416"/>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11" name="Text 9">
            <a:extLst>
              <a:ext uri="{FF2B5EF4-FFF2-40B4-BE49-F238E27FC236}">
                <a16:creationId xmlns:a16="http://schemas.microsoft.com/office/drawing/2014/main" xmlns="" id="{E76EBED1-AB44-40D1-9603-994C73F05D0D}"/>
              </a:ext>
            </a:extLst>
          </p:cNvPr>
          <p:cNvSpPr>
            <a:spLocks noGrp="1"/>
          </p:cNvSpPr>
          <p:nvPr/>
        </p:nvSpPr>
        <p:spPr>
          <a:xfrm>
            <a:off x="1106424" y="2148840"/>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Run all five phases and inspect every output file.</a:t>
            </a:r>
          </a:p>
        </p:txBody>
      </p:sp>
      <p:sp>
        <p:nvSpPr>
          <p:cNvPr id="12" name="Text 10">
            <a:extLst>
              <a:ext uri="{FF2B5EF4-FFF2-40B4-BE49-F238E27FC236}">
                <a16:creationId xmlns:a16="http://schemas.microsoft.com/office/drawing/2014/main" xmlns="" id="{7B7AFD5D-0152-4AFE-ADCE-3012DF7663F6}"/>
              </a:ext>
            </a:extLst>
          </p:cNvPr>
          <p:cNvSpPr>
            <a:spLocks noGrp="1"/>
          </p:cNvSpPr>
          <p:nvPr/>
        </p:nvSpPr>
        <p:spPr>
          <a:xfrm>
            <a:off x="777240" y="2706624"/>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13" name="Text 11">
            <a:extLst>
              <a:ext uri="{FF2B5EF4-FFF2-40B4-BE49-F238E27FC236}">
                <a16:creationId xmlns:a16="http://schemas.microsoft.com/office/drawing/2014/main" xmlns="" id="{1D34FD47-3877-43A5-ACDF-C6FB770B16E9}"/>
              </a:ext>
            </a:extLst>
          </p:cNvPr>
          <p:cNvSpPr>
            <a:spLocks noGrp="1"/>
          </p:cNvSpPr>
          <p:nvPr/>
        </p:nvSpPr>
        <p:spPr>
          <a:xfrm>
            <a:off x="1106424" y="2670048"/>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Open canonical.json and check the Central Claims and Themes.</a:t>
            </a:r>
          </a:p>
        </p:txBody>
      </p:sp>
      <p:sp>
        <p:nvSpPr>
          <p:cNvPr id="14" name="Text 12">
            <a:extLst>
              <a:ext uri="{FF2B5EF4-FFF2-40B4-BE49-F238E27FC236}">
                <a16:creationId xmlns:a16="http://schemas.microsoft.com/office/drawing/2014/main" xmlns="" id="{A057C7F5-A1B1-454B-A3B9-2AD44ADFAD82}"/>
              </a:ext>
            </a:extLst>
          </p:cNvPr>
          <p:cNvSpPr>
            <a:spLocks noGrp="1"/>
          </p:cNvSpPr>
          <p:nvPr/>
        </p:nvSpPr>
        <p:spPr>
          <a:xfrm>
            <a:off x="777240" y="3227832"/>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15" name="Text 13">
            <a:extLst>
              <a:ext uri="{FF2B5EF4-FFF2-40B4-BE49-F238E27FC236}">
                <a16:creationId xmlns:a16="http://schemas.microsoft.com/office/drawing/2014/main" xmlns="" id="{096BFA81-13BD-4BB3-BBDA-CDC1BAFF0912}"/>
              </a:ext>
            </a:extLst>
          </p:cNvPr>
          <p:cNvSpPr>
            <a:spLocks noGrp="1"/>
          </p:cNvSpPr>
          <p:nvPr/>
        </p:nvSpPr>
        <p:spPr>
          <a:xfrm>
            <a:off x="1106424" y="3191256"/>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Open compendium.md and check whether it is thin or thick.</a:t>
            </a:r>
          </a:p>
        </p:txBody>
      </p:sp>
      <p:sp>
        <p:nvSpPr>
          <p:cNvPr id="16" name="Text 14">
            <a:extLst>
              <a:ext uri="{FF2B5EF4-FFF2-40B4-BE49-F238E27FC236}">
                <a16:creationId xmlns:a16="http://schemas.microsoft.com/office/drawing/2014/main" xmlns="" id="{91FE2CA8-B0CC-4199-8C98-14E62D9D476D}"/>
              </a:ext>
            </a:extLst>
          </p:cNvPr>
          <p:cNvSpPr>
            <a:spLocks noGrp="1"/>
          </p:cNvSpPr>
          <p:nvPr/>
        </p:nvSpPr>
        <p:spPr>
          <a:xfrm>
            <a:off x="777240" y="3749040"/>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17" name="Text 15">
            <a:extLst>
              <a:ext uri="{FF2B5EF4-FFF2-40B4-BE49-F238E27FC236}">
                <a16:creationId xmlns:a16="http://schemas.microsoft.com/office/drawing/2014/main" xmlns="" id="{70D7FBBA-480A-47EE-B63A-FB9D1B529021}"/>
              </a:ext>
            </a:extLst>
          </p:cNvPr>
          <p:cNvSpPr>
            <a:spLocks noGrp="1"/>
          </p:cNvSpPr>
          <p:nvPr/>
        </p:nvSpPr>
        <p:spPr>
          <a:xfrm>
            <a:off x="1106424" y="3712464"/>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Run the evaluation script and record the metrics.</a:t>
            </a:r>
          </a:p>
        </p:txBody>
      </p:sp>
      <p:sp>
        <p:nvSpPr>
          <p:cNvPr id="18" name="Text 16">
            <a:extLst>
              <a:ext uri="{FF2B5EF4-FFF2-40B4-BE49-F238E27FC236}">
                <a16:creationId xmlns:a16="http://schemas.microsoft.com/office/drawing/2014/main" xmlns="" id="{E4B90C03-754F-4FF9-9810-E8F13E2BA103}"/>
              </a:ext>
            </a:extLst>
          </p:cNvPr>
          <p:cNvSpPr>
            <a:spLocks noGrp="1"/>
          </p:cNvSpPr>
          <p:nvPr/>
        </p:nvSpPr>
        <p:spPr>
          <a:xfrm>
            <a:off x="777240" y="4270248"/>
            <a:ext cx="228600" cy="256032"/>
          </a:xfrm>
          <a:prstGeom prst="rect">
            <a:avLst/>
          </a:prstGeom>
          <a:noFill/>
        </p:spPr>
        <p:txBody>
          <a:bodyPr wrap="square" lIns="0" tIns="0" rIns="0" bIns="0" anchor="ctr"/>
          <a:lstStyle/>
          <a:p>
            <a:pPr marL="0" indent="0">
              <a:buNone/>
            </a:pPr>
            <a:r>
              <a:rPr sz="1950" b="1">
                <a:solidFill>
                  <a:srgbClr val="40319B"/>
                </a:solidFill>
              </a:rPr>
              <a:t>•</a:t>
            </a:r>
          </a:p>
        </p:txBody>
      </p:sp>
      <p:sp>
        <p:nvSpPr>
          <p:cNvPr id="19" name="Text 17">
            <a:extLst>
              <a:ext uri="{FF2B5EF4-FFF2-40B4-BE49-F238E27FC236}">
                <a16:creationId xmlns:a16="http://schemas.microsoft.com/office/drawing/2014/main" xmlns="" id="{833480CC-560C-442D-9D3A-1FCE90C8A541}"/>
              </a:ext>
            </a:extLst>
          </p:cNvPr>
          <p:cNvSpPr>
            <a:spLocks noGrp="1"/>
          </p:cNvSpPr>
          <p:nvPr/>
        </p:nvSpPr>
        <p:spPr>
          <a:xfrm>
            <a:off x="1106424" y="4233672"/>
            <a:ext cx="10460736" cy="393192"/>
          </a:xfrm>
          <a:prstGeom prst="rect">
            <a:avLst/>
          </a:prstGeom>
          <a:noFill/>
        </p:spPr>
        <p:txBody>
          <a:bodyPr wrap="square" lIns="254" tIns="254" rIns="254" bIns="254" anchor="ctr">
            <a:normAutofit/>
          </a:bodyPr>
          <a:lstStyle/>
          <a:p>
            <a:pPr marL="0" indent="0">
              <a:buNone/>
            </a:pPr>
            <a:r>
              <a:rPr sz="1950">
                <a:solidFill>
                  <a:srgbClr val="1F2937"/>
                </a:solidFill>
              </a:rPr>
              <a:t>Only then scale to hundreds or thousands of transcripts.</a:t>
            </a:r>
          </a:p>
        </p:txBody>
      </p:sp>
      <p:sp>
        <p:nvSpPr>
          <p:cNvPr id="20" name="Text 18">
            <a:extLst>
              <a:ext uri="{FF2B5EF4-FFF2-40B4-BE49-F238E27FC236}">
                <a16:creationId xmlns:a16="http://schemas.microsoft.com/office/drawing/2014/main" xmlns="" id="{D03271DA-3BE3-40C6-9520-649F6C1BF539}"/>
              </a:ext>
            </a:extLst>
          </p:cNvPr>
          <p:cNvSpPr>
            <a:spLocks noGrp="1"/>
          </p:cNvSpPr>
          <p:nvPr/>
        </p:nvSpPr>
        <p:spPr>
          <a:xfrm>
            <a:off x="2743200" y="5577840"/>
            <a:ext cx="6675120" cy="566928"/>
          </a:xfrm>
          <a:prstGeom prst="rect">
            <a:avLst/>
          </a:prstGeom>
          <a:solidFill>
            <a:srgbClr val="FFF3DA"/>
          </a:solidFill>
          <a:ln w="15240">
            <a:solidFill>
              <a:srgbClr val="A55D00"/>
            </a:solidFill>
          </a:ln>
        </p:spPr>
        <p:txBody>
          <a:bodyPr wrap="square" lIns="1778" tIns="1778" rIns="1778" bIns="1778" anchor="ctr">
            <a:normAutofit/>
          </a:bodyPr>
          <a:lstStyle/>
          <a:p>
            <a:pPr marL="0" indent="0">
              <a:buNone/>
            </a:pPr>
            <a:r>
              <a:rPr sz="2100" b="1">
                <a:solidFill>
                  <a:srgbClr val="1F2937"/>
                </a:solidFill>
              </a:rPr>
              <a:t>Small demo first. Full corpus second.</a:t>
            </a:r>
          </a:p>
        </p:txBody>
      </p:sp>
    </p:spTree>
    <p:extLst>
      <p:ext uri="{BB962C8B-B14F-4D97-AF65-F5344CB8AC3E}">
        <p14:creationId xmlns:p14="http://schemas.microsoft.com/office/powerpoint/2010/main" val="17648300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xmlns="" id="{00C4A630-FF2D-48E4-9530-2E787F35D9EF}"/>
              </a:ext>
            </a:extLst>
          </p:cNvPr>
          <p:cNvSpPr>
            <a:spLocks noGrp="1"/>
          </p:cNvSpPr>
          <p:nvPr/>
        </p:nvSpPr>
        <p:spPr>
          <a:xfrm>
            <a:off x="2" y="0"/>
            <a:ext cx="12191695" cy="6858000"/>
          </a:xfrm>
          <a:prstGeom prst="rect">
            <a:avLst/>
          </a:prstGeom>
          <a:solidFill>
            <a:srgbClr val="FAF8F3"/>
          </a:solidFill>
          <a:ln w="12700">
            <a:solidFill>
              <a:srgbClr val="FAF8F3">
                <a:alpha val="0"/>
              </a:srgbClr>
            </a:solidFill>
            <a:prstDash val="solid"/>
          </a:ln>
        </p:spPr>
      </p:sp>
      <p:sp>
        <p:nvSpPr>
          <p:cNvPr id="3" name="Text 1">
            <a:extLst>
              <a:ext uri="{FF2B5EF4-FFF2-40B4-BE49-F238E27FC236}">
                <a16:creationId xmlns:a16="http://schemas.microsoft.com/office/drawing/2014/main" xmlns="" id="{5C5BBCC9-24E5-4B15-ABCB-D68072AA7676}"/>
              </a:ext>
            </a:extLst>
          </p:cNvPr>
          <p:cNvSpPr>
            <a:spLocks noGrp="1"/>
          </p:cNvSpPr>
          <p:nvPr/>
        </p:nvSpPr>
        <p:spPr>
          <a:xfrm>
            <a:off x="502920" y="182880"/>
            <a:ext cx="3657600" cy="228600"/>
          </a:xfrm>
          <a:prstGeom prst="rect">
            <a:avLst/>
          </a:prstGeom>
          <a:noFill/>
        </p:spPr>
        <p:txBody>
          <a:bodyPr wrap="square" lIns="0" tIns="0" rIns="0" bIns="0" anchor="ctr"/>
          <a:lstStyle/>
          <a:p>
            <a:pPr marL="0" indent="0">
              <a:buNone/>
            </a:pPr>
            <a:r>
              <a:rPr sz="900" b="1">
                <a:solidFill>
                  <a:srgbClr val="596273"/>
                </a:solidFill>
                <a:latin typeface="Aptos"/>
                <a:ea typeface="Aptos"/>
                <a:cs typeface="Aptos"/>
              </a:rPr>
              <a:t>7 · Conclusion</a:t>
            </a:r>
          </a:p>
        </p:txBody>
      </p:sp>
      <p:sp>
        <p:nvSpPr>
          <p:cNvPr id="4" name="Shape 2">
            <a:extLst>
              <a:ext uri="{FF2B5EF4-FFF2-40B4-BE49-F238E27FC236}">
                <a16:creationId xmlns:a16="http://schemas.microsoft.com/office/drawing/2014/main" xmlns="" id="{46675945-601C-4863-A71A-59D67C69097E}"/>
              </a:ext>
            </a:extLst>
          </p:cNvPr>
          <p:cNvSpPr>
            <a:spLocks noGrp="1"/>
          </p:cNvSpPr>
          <p:nvPr/>
        </p:nvSpPr>
        <p:spPr>
          <a:xfrm>
            <a:off x="502920" y="6355080"/>
            <a:ext cx="11155680" cy="0"/>
          </a:xfrm>
          <a:prstGeom prst="line">
            <a:avLst/>
          </a:prstGeom>
          <a:noFill/>
          <a:ln w="10160">
            <a:solidFill>
              <a:srgbClr val="D6D0C5"/>
            </a:solidFill>
            <a:prstDash val="solid"/>
          </a:ln>
        </p:spPr>
      </p:sp>
      <p:sp>
        <p:nvSpPr>
          <p:cNvPr id="5" name="Text 3">
            <a:extLst>
              <a:ext uri="{FF2B5EF4-FFF2-40B4-BE49-F238E27FC236}">
                <a16:creationId xmlns:a16="http://schemas.microsoft.com/office/drawing/2014/main" xmlns="" id="{A6C76A58-E7B3-452A-84A4-001D0F4ADE81}"/>
              </a:ext>
            </a:extLst>
          </p:cNvPr>
          <p:cNvSpPr>
            <a:spLocks noGrp="1"/>
          </p:cNvSpPr>
          <p:nvPr/>
        </p:nvSpPr>
        <p:spPr>
          <a:xfrm>
            <a:off x="502920" y="6446520"/>
            <a:ext cx="4572000" cy="201168"/>
          </a:xfrm>
          <a:prstGeom prst="rect">
            <a:avLst/>
          </a:prstGeom>
          <a:noFill/>
        </p:spPr>
        <p:txBody>
          <a:bodyPr wrap="square" lIns="0" tIns="0" rIns="0" bIns="0" anchor="ctr"/>
          <a:lstStyle/>
          <a:p>
            <a:pPr marL="0" indent="0">
              <a:buNone/>
            </a:pPr>
            <a:r>
              <a:rPr sz="850">
                <a:solidFill>
                  <a:srgbClr val="596273"/>
                </a:solidFill>
              </a:rPr>
              <a:t>Programmable LLM Agent applied to Crypto Channels</a:t>
            </a:r>
          </a:p>
        </p:txBody>
      </p:sp>
      <p:sp>
        <p:nvSpPr>
          <p:cNvPr id="6" name="Text 4">
            <a:extLst>
              <a:ext uri="{FF2B5EF4-FFF2-40B4-BE49-F238E27FC236}">
                <a16:creationId xmlns:a16="http://schemas.microsoft.com/office/drawing/2014/main" xmlns="" id="{5F9412E4-C518-4864-B798-8A7E4BADA13B}"/>
              </a:ext>
            </a:extLst>
          </p:cNvPr>
          <p:cNvSpPr>
            <a:spLocks noGrp="1"/>
          </p:cNvSpPr>
          <p:nvPr/>
        </p:nvSpPr>
        <p:spPr>
          <a:xfrm>
            <a:off x="594360" y="512064"/>
            <a:ext cx="10972800" cy="621792"/>
          </a:xfrm>
          <a:prstGeom prst="rect">
            <a:avLst/>
          </a:prstGeom>
          <a:noFill/>
        </p:spPr>
        <p:txBody>
          <a:bodyPr wrap="square" lIns="254" tIns="254" rIns="254" bIns="254" anchor="ctr">
            <a:normAutofit/>
          </a:bodyPr>
          <a:lstStyle/>
          <a:p>
            <a:pPr marL="0" indent="0">
              <a:buNone/>
            </a:pPr>
            <a:r>
              <a:rPr sz="3100" b="1">
                <a:solidFill>
                  <a:srgbClr val="1F2937"/>
                </a:solidFill>
              </a:rPr>
              <a:t>Final takeaway</a:t>
            </a:r>
          </a:p>
        </p:txBody>
      </p:sp>
      <p:sp>
        <p:nvSpPr>
          <p:cNvPr id="7" name="Text 5">
            <a:extLst>
              <a:ext uri="{FF2B5EF4-FFF2-40B4-BE49-F238E27FC236}">
                <a16:creationId xmlns:a16="http://schemas.microsoft.com/office/drawing/2014/main" xmlns="" id="{44E09D16-D138-4171-B0A1-AB4BBC53A9F7}"/>
              </a:ext>
            </a:extLst>
          </p:cNvPr>
          <p:cNvSpPr>
            <a:spLocks noGrp="1"/>
          </p:cNvSpPr>
          <p:nvPr/>
        </p:nvSpPr>
        <p:spPr>
          <a:xfrm>
            <a:off x="621792" y="1261872"/>
            <a:ext cx="10607040" cy="219456"/>
          </a:xfrm>
          <a:prstGeom prst="rect">
            <a:avLst/>
          </a:prstGeom>
          <a:noFill/>
        </p:spPr>
        <p:txBody>
          <a:bodyPr wrap="square" lIns="127" tIns="127" rIns="127" bIns="127" anchor="ctr">
            <a:normAutofit lnSpcReduction="10000"/>
          </a:bodyPr>
          <a:lstStyle/>
          <a:p>
            <a:pPr marL="0" indent="0">
              <a:buNone/>
            </a:pPr>
            <a:r>
              <a:rPr sz="1550">
                <a:solidFill>
                  <a:srgbClr val="596273"/>
                </a:solidFill>
              </a:rPr>
              <a:t>The project is a controlled method for turning a large speech corpus into a usable knowledge base.</a:t>
            </a:r>
          </a:p>
        </p:txBody>
      </p:sp>
      <p:sp>
        <p:nvSpPr>
          <p:cNvPr id="8" name="Text 6">
            <a:extLst>
              <a:ext uri="{FF2B5EF4-FFF2-40B4-BE49-F238E27FC236}">
                <a16:creationId xmlns:a16="http://schemas.microsoft.com/office/drawing/2014/main" xmlns="" id="{491CBD77-04BC-43E2-87A8-D92C9D28D91A}"/>
              </a:ext>
            </a:extLst>
          </p:cNvPr>
          <p:cNvSpPr>
            <a:spLocks noGrp="1"/>
          </p:cNvSpPr>
          <p:nvPr/>
        </p:nvSpPr>
        <p:spPr>
          <a:xfrm>
            <a:off x="1097280" y="2057400"/>
            <a:ext cx="9966960" cy="1005840"/>
          </a:xfrm>
          <a:prstGeom prst="rect">
            <a:avLst/>
          </a:prstGeom>
          <a:solidFill>
            <a:srgbClr val="E7F6EF"/>
          </a:solidFill>
          <a:ln w="15240">
            <a:solidFill>
              <a:srgbClr val="0E6B46"/>
            </a:solidFill>
          </a:ln>
        </p:spPr>
        <p:txBody>
          <a:bodyPr wrap="square" lIns="1778" tIns="1778" rIns="1778" bIns="1778" anchor="ctr">
            <a:normAutofit/>
          </a:bodyPr>
          <a:lstStyle/>
          <a:p>
            <a:pPr marL="0" indent="0">
              <a:buNone/>
            </a:pPr>
            <a:r>
              <a:rPr sz="2200" b="1">
                <a:solidFill>
                  <a:srgbClr val="1F2937"/>
                </a:solidFill>
              </a:rPr>
              <a:t>Raw transcripts are not yet knowledge. The pipeline converts them into structured claims, themes, arguments, evidence, and reviewable uncertainties.</a:t>
            </a:r>
          </a:p>
        </p:txBody>
      </p:sp>
      <p:sp>
        <p:nvSpPr>
          <p:cNvPr id="9" name="Text 7">
            <a:extLst>
              <a:ext uri="{FF2B5EF4-FFF2-40B4-BE49-F238E27FC236}">
                <a16:creationId xmlns:a16="http://schemas.microsoft.com/office/drawing/2014/main" xmlns="" id="{DAE1DC85-DF0D-47E2-B842-6DAF8E6365D1}"/>
              </a:ext>
            </a:extLst>
          </p:cNvPr>
          <p:cNvSpPr>
            <a:spLocks noGrp="1"/>
          </p:cNvSpPr>
          <p:nvPr/>
        </p:nvSpPr>
        <p:spPr>
          <a:xfrm>
            <a:off x="1051560" y="3877056"/>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0" name="Text 8">
            <a:extLst>
              <a:ext uri="{FF2B5EF4-FFF2-40B4-BE49-F238E27FC236}">
                <a16:creationId xmlns:a16="http://schemas.microsoft.com/office/drawing/2014/main" xmlns="" id="{2C5447BB-72FD-4A9C-A86B-ADE1C78AA56A}"/>
              </a:ext>
            </a:extLst>
          </p:cNvPr>
          <p:cNvSpPr>
            <a:spLocks noGrp="1"/>
          </p:cNvSpPr>
          <p:nvPr/>
        </p:nvSpPr>
        <p:spPr>
          <a:xfrm>
            <a:off x="1380744" y="3840480"/>
            <a:ext cx="9729216" cy="411480"/>
          </a:xfrm>
          <a:prstGeom prst="rect">
            <a:avLst/>
          </a:prstGeom>
          <a:noFill/>
        </p:spPr>
        <p:txBody>
          <a:bodyPr wrap="square" lIns="254" tIns="254" rIns="254" bIns="254" anchor="ctr">
            <a:normAutofit/>
          </a:bodyPr>
          <a:lstStyle/>
          <a:p>
            <a:pPr marL="0" indent="0">
              <a:buNone/>
            </a:pPr>
            <a:r>
              <a:rPr sz="2000">
                <a:solidFill>
                  <a:srgbClr val="1F2937"/>
                </a:solidFill>
              </a:rPr>
              <a:t>Declarative prompting tells Claude what must be true of the program and outputs.</a:t>
            </a:r>
          </a:p>
        </p:txBody>
      </p:sp>
      <p:sp>
        <p:nvSpPr>
          <p:cNvPr id="11" name="Text 9">
            <a:extLst>
              <a:ext uri="{FF2B5EF4-FFF2-40B4-BE49-F238E27FC236}">
                <a16:creationId xmlns:a16="http://schemas.microsoft.com/office/drawing/2014/main" xmlns="" id="{44C29023-D6F8-409F-AB10-FEDDF17E6CBF}"/>
              </a:ext>
            </a:extLst>
          </p:cNvPr>
          <p:cNvSpPr>
            <a:spLocks noGrp="1"/>
          </p:cNvSpPr>
          <p:nvPr/>
        </p:nvSpPr>
        <p:spPr>
          <a:xfrm>
            <a:off x="1051560" y="4416552"/>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2" name="Text 10">
            <a:extLst>
              <a:ext uri="{FF2B5EF4-FFF2-40B4-BE49-F238E27FC236}">
                <a16:creationId xmlns:a16="http://schemas.microsoft.com/office/drawing/2014/main" xmlns="" id="{E7EE4A46-60A8-4808-953A-F4ED1B263964}"/>
              </a:ext>
            </a:extLst>
          </p:cNvPr>
          <p:cNvSpPr>
            <a:spLocks noGrp="1"/>
          </p:cNvSpPr>
          <p:nvPr/>
        </p:nvSpPr>
        <p:spPr>
          <a:xfrm>
            <a:off x="1380744" y="4379976"/>
            <a:ext cx="9729216" cy="411480"/>
          </a:xfrm>
          <a:prstGeom prst="rect">
            <a:avLst/>
          </a:prstGeom>
          <a:noFill/>
        </p:spPr>
        <p:txBody>
          <a:bodyPr wrap="square" lIns="254" tIns="254" rIns="254" bIns="254" anchor="ctr">
            <a:normAutofit/>
          </a:bodyPr>
          <a:lstStyle/>
          <a:p>
            <a:pPr marL="0" indent="0">
              <a:buNone/>
            </a:pPr>
            <a:r>
              <a:rPr sz="2000">
                <a:solidFill>
                  <a:srgbClr val="1F2937"/>
                </a:solidFill>
              </a:rPr>
              <a:t>The five-phase pipeline makes a huge corpus manageable.</a:t>
            </a:r>
          </a:p>
        </p:txBody>
      </p:sp>
      <p:sp>
        <p:nvSpPr>
          <p:cNvPr id="13" name="Text 11">
            <a:extLst>
              <a:ext uri="{FF2B5EF4-FFF2-40B4-BE49-F238E27FC236}">
                <a16:creationId xmlns:a16="http://schemas.microsoft.com/office/drawing/2014/main" xmlns="" id="{ADE217D2-ED3E-4548-AFCB-53AB2A18B70F}"/>
              </a:ext>
            </a:extLst>
          </p:cNvPr>
          <p:cNvSpPr>
            <a:spLocks noGrp="1"/>
          </p:cNvSpPr>
          <p:nvPr/>
        </p:nvSpPr>
        <p:spPr>
          <a:xfrm>
            <a:off x="1051560" y="4956048"/>
            <a:ext cx="228600" cy="256032"/>
          </a:xfrm>
          <a:prstGeom prst="rect">
            <a:avLst/>
          </a:prstGeom>
          <a:noFill/>
        </p:spPr>
        <p:txBody>
          <a:bodyPr wrap="square" lIns="0" tIns="0" rIns="0" bIns="0" anchor="ctr"/>
          <a:lstStyle/>
          <a:p>
            <a:pPr marL="0" indent="0">
              <a:buNone/>
            </a:pPr>
            <a:r>
              <a:rPr sz="2000" b="1">
                <a:solidFill>
                  <a:srgbClr val="40319B"/>
                </a:solidFill>
              </a:rPr>
              <a:t>•</a:t>
            </a:r>
          </a:p>
        </p:txBody>
      </p:sp>
      <p:sp>
        <p:nvSpPr>
          <p:cNvPr id="14" name="Text 12">
            <a:extLst>
              <a:ext uri="{FF2B5EF4-FFF2-40B4-BE49-F238E27FC236}">
                <a16:creationId xmlns:a16="http://schemas.microsoft.com/office/drawing/2014/main" xmlns="" id="{9A1E192D-6402-493E-90FB-41FBA4C90268}"/>
              </a:ext>
            </a:extLst>
          </p:cNvPr>
          <p:cNvSpPr>
            <a:spLocks noGrp="1"/>
          </p:cNvSpPr>
          <p:nvPr/>
        </p:nvSpPr>
        <p:spPr>
          <a:xfrm>
            <a:off x="1380744" y="4919472"/>
            <a:ext cx="9729216" cy="411480"/>
          </a:xfrm>
          <a:prstGeom prst="rect">
            <a:avLst/>
          </a:prstGeom>
          <a:noFill/>
        </p:spPr>
        <p:txBody>
          <a:bodyPr wrap="square" lIns="254" tIns="254" rIns="254" bIns="254" anchor="ctr">
            <a:normAutofit/>
          </a:bodyPr>
          <a:lstStyle/>
          <a:p>
            <a:pPr marL="0" indent="0">
              <a:buNone/>
            </a:pPr>
            <a:r>
              <a:rPr sz="2000">
                <a:solidFill>
                  <a:srgbClr val="1F2937"/>
                </a:solidFill>
              </a:rPr>
              <a:t>Metrics and checkpoints make the work inspectable and improvable.</a:t>
            </a:r>
          </a:p>
        </p:txBody>
      </p:sp>
    </p:spTree>
    <p:extLst>
      <p:ext uri="{BB962C8B-B14F-4D97-AF65-F5344CB8AC3E}">
        <p14:creationId xmlns:p14="http://schemas.microsoft.com/office/powerpoint/2010/main" val="10229621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PREREQUISITES (WHAT YOU NEED TO HAVE INSTALLED TO USE THE PROMPT)</a:t>
            </a:r>
            <a:endParaRPr lang="en-US" dirty="0"/>
          </a:p>
        </p:txBody>
      </p:sp>
      <p:sp>
        <p:nvSpPr>
          <p:cNvPr id="3" name="Content Placeholder 2"/>
          <p:cNvSpPr>
            <a:spLocks noGrp="1"/>
          </p:cNvSpPr>
          <p:nvPr>
            <p:ph idx="1"/>
          </p:nvPr>
        </p:nvSpPr>
        <p:spPr/>
        <p:txBody>
          <a:bodyPr>
            <a:normAutofit fontScale="40000" lnSpcReduction="20000"/>
          </a:bodyPr>
          <a:lstStyle/>
          <a:p>
            <a:pPr>
              <a:buNone/>
            </a:pPr>
            <a:r>
              <a:rPr lang="en-US" dirty="0" smtClean="0"/>
              <a:t>We assume deepseek_api.yml is installed within Python Anaconda. </a:t>
            </a:r>
          </a:p>
          <a:p>
            <a:pPr>
              <a:buNone/>
            </a:pPr>
            <a:endParaRPr lang="en-US" dirty="0" smtClean="0"/>
          </a:p>
          <a:p>
            <a:pPr>
              <a:buNone/>
            </a:pPr>
            <a:r>
              <a:rPr lang="en-US" dirty="0" smtClean="0"/>
              <a:t>deepseek_api.yml contains a list a Python packages, similar to a </a:t>
            </a:r>
          </a:p>
          <a:p>
            <a:pPr>
              <a:buNone/>
            </a:pPr>
            <a:r>
              <a:rPr lang="en-US" dirty="0" smtClean="0"/>
              <a:t>conda_list.txt: dependencies:</a:t>
            </a:r>
          </a:p>
          <a:p>
            <a:pPr>
              <a:buNone/>
            </a:pPr>
            <a:r>
              <a:rPr lang="en-US" dirty="0" smtClean="0"/>
              <a:t> - pip=26.0.1=pyhc872135_1 </a:t>
            </a:r>
          </a:p>
          <a:p>
            <a:pPr>
              <a:buNone/>
            </a:pPr>
            <a:r>
              <a:rPr lang="en-US" dirty="0"/>
              <a:t> </a:t>
            </a:r>
            <a:r>
              <a:rPr lang="en-US" dirty="0" smtClean="0"/>
              <a:t>- python=3.11.15=h1044e36_0 </a:t>
            </a:r>
          </a:p>
          <a:p>
            <a:pPr>
              <a:buNone/>
            </a:pPr>
            <a:r>
              <a:rPr lang="en-US" dirty="0"/>
              <a:t> </a:t>
            </a:r>
            <a:r>
              <a:rPr lang="en-US" dirty="0" smtClean="0"/>
              <a:t>- a bunch of other packages... </a:t>
            </a:r>
          </a:p>
          <a:p>
            <a:pPr>
              <a:buNone/>
            </a:pPr>
            <a:endParaRPr lang="en-US" dirty="0" smtClean="0"/>
          </a:p>
          <a:p>
            <a:pPr>
              <a:buNone/>
            </a:pPr>
            <a:r>
              <a:rPr lang="en-US" dirty="0" smtClean="0"/>
              <a:t>install Python Anaconda from here: </a:t>
            </a:r>
          </a:p>
          <a:p>
            <a:pPr>
              <a:buNone/>
            </a:pPr>
            <a:r>
              <a:rPr lang="en-US" dirty="0" smtClean="0"/>
              <a:t>https://www.anaconda.com/docs/getting-started/anaconda/install/overview </a:t>
            </a:r>
          </a:p>
          <a:p>
            <a:pPr>
              <a:buNone/>
            </a:pPr>
            <a:endParaRPr lang="en-US" dirty="0" smtClean="0"/>
          </a:p>
          <a:p>
            <a:pPr>
              <a:buNone/>
            </a:pPr>
            <a:r>
              <a:rPr lang="en-US" dirty="0" smtClean="0"/>
              <a:t>Put deepseek_api.yml in your home directory: </a:t>
            </a:r>
          </a:p>
          <a:p>
            <a:pPr>
              <a:buNone/>
            </a:pPr>
            <a:endParaRPr lang="en-US" dirty="0" smtClean="0"/>
          </a:p>
          <a:p>
            <a:pPr>
              <a:buNone/>
            </a:pPr>
            <a:r>
              <a:rPr lang="en-US" dirty="0" smtClean="0"/>
              <a:t>in Windows: C:\Users\YourUserName\ </a:t>
            </a:r>
          </a:p>
          <a:p>
            <a:pPr>
              <a:buNone/>
            </a:pPr>
            <a:r>
              <a:rPr lang="en-US" dirty="0" smtClean="0"/>
              <a:t>in Mac: /Users/</a:t>
            </a:r>
            <a:r>
              <a:rPr lang="en-US" dirty="0" err="1" smtClean="0"/>
              <a:t>YourUserName</a:t>
            </a:r>
            <a:r>
              <a:rPr lang="en-US" dirty="0" smtClean="0"/>
              <a:t>/ </a:t>
            </a:r>
          </a:p>
          <a:p>
            <a:pPr>
              <a:buNone/>
            </a:pPr>
            <a:endParaRPr lang="en-US" dirty="0" smtClean="0"/>
          </a:p>
          <a:p>
            <a:pPr>
              <a:buNone/>
            </a:pPr>
            <a:r>
              <a:rPr lang="en-US" dirty="0" smtClean="0"/>
              <a:t>Open a terminal: </a:t>
            </a:r>
          </a:p>
          <a:p>
            <a:pPr>
              <a:buNone/>
            </a:pPr>
            <a:endParaRPr lang="en-US" dirty="0" smtClean="0"/>
          </a:p>
          <a:p>
            <a:pPr>
              <a:buNone/>
            </a:pPr>
            <a:r>
              <a:rPr lang="en-US" dirty="0" smtClean="0"/>
              <a:t>in Windows: open the "Anaconda prompt" </a:t>
            </a:r>
          </a:p>
          <a:p>
            <a:pPr>
              <a:buNone/>
            </a:pPr>
            <a:r>
              <a:rPr lang="en-US" dirty="0" smtClean="0"/>
              <a:t>In Mac: </a:t>
            </a:r>
            <a:r>
              <a:rPr lang="en-US" dirty="0" err="1" smtClean="0"/>
              <a:t>Goto</a:t>
            </a:r>
            <a:r>
              <a:rPr lang="en-US" dirty="0" smtClean="0"/>
              <a:t> your home directory and open a terminal </a:t>
            </a:r>
          </a:p>
          <a:p>
            <a:pPr>
              <a:buNone/>
            </a:pPr>
            <a:endParaRPr lang="en-US" dirty="0" smtClean="0"/>
          </a:p>
          <a:p>
            <a:pPr>
              <a:buNone/>
            </a:pPr>
            <a:r>
              <a:rPr lang="en-US" dirty="0" smtClean="0"/>
              <a:t>Type: </a:t>
            </a:r>
            <a:r>
              <a:rPr lang="en-US" dirty="0" err="1" smtClean="0"/>
              <a:t>conda</a:t>
            </a:r>
            <a:r>
              <a:rPr lang="en-US" dirty="0" smtClean="0"/>
              <a:t> </a:t>
            </a:r>
            <a:r>
              <a:rPr lang="en-US" dirty="0" err="1" smtClean="0"/>
              <a:t>env</a:t>
            </a:r>
            <a:r>
              <a:rPr lang="en-US" dirty="0" smtClean="0"/>
              <a:t> create -f deepseek_api.yml </a:t>
            </a:r>
          </a:p>
          <a:p>
            <a:pPr>
              <a:buNone/>
            </a:pPr>
            <a:r>
              <a:rPr lang="en-US" dirty="0" smtClean="0"/>
              <a:t>This will install all the packages </a:t>
            </a:r>
          </a:p>
          <a:p>
            <a:pPr>
              <a:buNone/>
            </a:pPr>
            <a:endParaRPr lang="en-US" dirty="0" smtClean="0"/>
          </a:p>
          <a:p>
            <a:pPr>
              <a:buNone/>
            </a:pPr>
            <a:r>
              <a:rPr lang="en-US" dirty="0" smtClean="0"/>
              <a:t>(your computer needs to have internet enabled)</a:t>
            </a:r>
          </a:p>
          <a:p>
            <a:pPr>
              <a:buNone/>
            </a:pPr>
            <a:endParaRPr lang="en-US" dirty="0"/>
          </a:p>
        </p:txBody>
      </p:sp>
      <p:sp>
        <p:nvSpPr>
          <p:cNvPr id="4" name="Slide Number Placeholder 3"/>
          <p:cNvSpPr>
            <a:spLocks noGrp="1"/>
          </p:cNvSpPr>
          <p:nvPr>
            <p:ph type="sldNum" idx="12"/>
          </p:nvPr>
        </p:nvSpPr>
        <p:spPr/>
        <p:txBody>
          <a:bodyPr/>
          <a:lstStyle/>
          <a:p>
            <a:fld id="{33749B41-47CE-4FC4-9498-EEF687BF6FCF}" type="slidenum">
              <a:rPr lang="en-US" smtClean="0"/>
              <a:pPr/>
              <a:t>85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TotalTime>
  <Words>9249</Words>
  <Application>Microsoft Office PowerPoint</Application>
  <DocSecurity>0</DocSecurity>
  <PresentationFormat>Custom</PresentationFormat>
  <Paragraphs>1144</Paragraphs>
  <Slides>85</Slides>
  <Notes>69</Notes>
  <HiddenSlides>0</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Historical Evolution of LLMs</vt:lpstr>
      <vt:lpstr>PowerPoint Presentation</vt:lpstr>
      <vt:lpstr>THE PROMPT</vt:lpstr>
      <vt:lpstr>PART 1 OF THE PROMPT  (FACTS) (transcribe into the LLMA window exactly as it is written below)</vt:lpstr>
      <vt:lpstr>PART 2 OF THE PROMPT (FACTS)  (Transcribe into the LLMA window exactly as it is written below)</vt:lpstr>
      <vt:lpstr>PART 3 OF THE PROMPT (QUERY) (Transcribe into the LLMA window exactly as it is written below)</vt:lpstr>
      <vt:lpstr>PART 4 OF THE PROMPT (DIRECTIVES) (Transcribe into the LLMA window exactly as it is written below)</vt:lpstr>
      <vt:lpstr>PART 5 OF THE PROMPT (FACTS)  (Transcribe into the LLMA window exactly as it is written below)</vt:lpstr>
      <vt:lpstr>PART 6 OF THE PROMPT (QUERY)  (Transcribe into the LLMA window exactly as it is written below)</vt:lpstr>
      <vt:lpstr>PART 7 OF THE PROMPT (RULES/FACTS)  (Transcribe into the LLMA window exactly as it is written below)</vt:lpstr>
      <vt:lpstr>How to write a Prompt like this </vt:lpstr>
      <vt:lpstr>PowerPoint Presentation</vt:lpstr>
      <vt:lpstr>PowerPoint Presentation</vt:lpstr>
      <vt:lpstr>Channel Titles</vt:lpstr>
      <vt:lpstr>Channel Themes</vt:lpstr>
      <vt:lpstr>PowerPoint Presentation</vt:lpstr>
      <vt:lpstr>PowerPoint Presentation</vt:lpstr>
      <vt:lpstr>PowerPoint Presentation</vt:lpstr>
      <vt:lpstr>PowerPoint Presentation</vt:lpstr>
      <vt:lpstr>Prolog &amp; Prompts</vt:lpstr>
      <vt:lpstr>END OF PROMPT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Central Claim of a Thin Compendium is thinly populated</vt:lpstr>
      <vt:lpstr>A Central Claim of a Thick Compendium is Well Populated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PREREQUISITES (WHAT YOU NEED TO HAVE INSTALLED TO USE THE PROMPT)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ThinkPad</cp:lastModifiedBy>
  <cp:revision>46</cp:revision>
  <dcterms:created xsi:type="dcterms:W3CDTF">2026-06-23T23:11:42Z</dcterms:created>
  <dcterms:modified xsi:type="dcterms:W3CDTF">2026-09-15T20:20:35Z</dcterms:modified>
</cp:coreProperties>
</file>