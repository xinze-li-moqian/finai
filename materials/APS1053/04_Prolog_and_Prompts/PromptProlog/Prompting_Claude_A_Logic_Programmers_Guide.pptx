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3" d="100"/>
          <a:sy n="123" d="100"/>
        </p:scale>
        <p:origin x="-444" y="-9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1B3479-074D-4940-BB8D-AB040712EAF9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47625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BDC3772-DDEE-4ED3-9BDB-E5FD32DF64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38578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://www.learnprolognow.org/" TargetMode="Externa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-731520"/>
            <a:ext cx="4114800" cy="4114800"/>
          </a:xfrm>
          <a:prstGeom prst="ellipse">
            <a:avLst/>
          </a:prstGeom>
          <a:solidFill>
            <a:srgbClr val="3A5199">
              <a:alpha val="40000"/>
            </a:srgbClr>
          </a:solidFill>
          <a:ln w="12700">
            <a:solidFill>
              <a:srgbClr val="3A519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766560" y="-274320"/>
            <a:ext cx="2743200" cy="2743200"/>
          </a:xfrm>
          <a:prstGeom prst="ellipse">
            <a:avLst/>
          </a:prstGeom>
          <a:solidFill>
            <a:srgbClr val="4F8EF7">
              <a:alpha val="25000"/>
            </a:srgbClr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46304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Prompting Claude: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502920" y="233172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i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Logic Programmer's Guide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02920" y="3063240"/>
            <a:ext cx="2011680" cy="54864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32461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7B9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Prolog as a conceptual lens for writing better prompts</a:t>
            </a:r>
            <a:endParaRPr lang="en-US" sz="15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92608"/>
            <a:ext cx="1325880" cy="274320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658368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Core Insight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02920" y="118872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Both Prolog and prompting are declarative.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02920" y="1691640"/>
            <a:ext cx="8138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describe what you want — not how to compute it.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figures out the how.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" y="2514600"/>
            <a:ext cx="3749040" cy="347472"/>
          </a:xfrm>
          <a:prstGeom prst="rect">
            <a:avLst/>
          </a:prstGeom>
          <a:solidFill>
            <a:srgbClr val="5B2D8E"/>
          </a:solidFill>
          <a:ln w="12700">
            <a:solidFill>
              <a:srgbClr val="5B2D8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251460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 smtClean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Prolog Program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02920" y="2862072"/>
            <a:ext cx="3749040" cy="1828800"/>
          </a:xfrm>
          <a:prstGeom prst="rect">
            <a:avLst/>
          </a:prstGeom>
          <a:solidFill>
            <a:srgbClr val="0D1B4B"/>
          </a:solidFill>
          <a:ln w="6350">
            <a:solidFill>
              <a:srgbClr val="7B92C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7512" y="2926080"/>
            <a:ext cx="3419856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facts + rules.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a query.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inference engine finds the proof.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846320" y="2514600"/>
            <a:ext cx="3749040" cy="34747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251460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 smtClean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Prolog Style Prompt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846320" y="2862072"/>
            <a:ext cx="3749040" cy="1828800"/>
          </a:xfrm>
          <a:prstGeom prst="rect">
            <a:avLst/>
          </a:prstGeom>
          <a:solidFill>
            <a:srgbClr val="0D1B4B"/>
          </a:solidFill>
          <a:ln w="6350">
            <a:solidFill>
              <a:srgbClr val="7B92C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10912" y="2926080"/>
            <a:ext cx="3419856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context + instructions.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a question.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reasons toward an answer.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251960" y="3383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C9A84C"/>
                </a:solidFill>
              </a:rPr>
              <a:t>≈</a:t>
            </a:r>
            <a:endParaRPr lang="en-US" sz="36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92608"/>
            <a:ext cx="1010412" cy="274320"/>
          </a:xfrm>
          <a:prstGeom prst="rect">
            <a:avLst/>
          </a:prstGeom>
          <a:solidFill>
            <a:srgbClr val="5B2D8E"/>
          </a:solidFill>
          <a:ln w="12700">
            <a:solidFill>
              <a:srgbClr val="5B2D8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10104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658368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Facts  ↔  Context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02920" y="1097280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7B9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Prolog facts are ground truths. Prompt context plays the same role.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02920" y="1574937"/>
            <a:ext cx="3749040" cy="1828800"/>
          </a:xfrm>
          <a:prstGeom prst="rect">
            <a:avLst/>
          </a:prstGeom>
          <a:solidFill>
            <a:srgbClr val="F0F4FF"/>
          </a:solidFill>
          <a:ln w="6350">
            <a:solidFill>
              <a:srgbClr val="7B92C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645920"/>
            <a:ext cx="3474720" cy="1609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 Facts
</a:t>
            </a:r>
            <a:r>
              <a:rPr lang="en-US" sz="11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parent(tom, bob).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parent(bob, ann).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speaks(ann, french).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speaks(bob, english).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138988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B2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Prolog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846320" y="1574937"/>
            <a:ext cx="3749040" cy="1828800"/>
          </a:xfrm>
          <a:prstGeom prst="rect">
            <a:avLst/>
          </a:prstGeom>
          <a:solidFill>
            <a:srgbClr val="F0F4FF"/>
          </a:solidFill>
          <a:ln w="6350">
            <a:solidFill>
              <a:srgbClr val="7B92C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83480" y="1645920"/>
            <a:ext cx="3474720" cy="1609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Context
</a:t>
            </a:r>
            <a:r>
              <a:rPr lang="en-US" sz="1100" dirty="0" smtClean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Bob </a:t>
            </a:r>
            <a:r>
              <a:rPr lang="en-US" sz="11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 Ann's parent.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Tom is Bob's parent</a:t>
            </a:r>
            <a:r>
              <a:rPr lang="en-US" sz="1100" dirty="0" smtClean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</a:p>
          <a:p>
            <a:r>
              <a:rPr lang="en-US" sz="11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Ann speaks French.</a:t>
            </a:r>
            <a:endParaRPr lang="en-US" sz="1100" dirty="0"/>
          </a:p>
          <a:p>
            <a:r>
              <a:rPr lang="en-US" sz="11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Bob speaks English.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846319" y="1389888"/>
            <a:ext cx="180245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 smtClean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Prompt: First Part: Context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160520" y="214884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C9A84C"/>
                </a:solidFill>
              </a:rPr>
              <a:t>≈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502920" y="3493008"/>
            <a:ext cx="8138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information. One is formal syntax; the other is natural language.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02920" y="3886200"/>
            <a:ext cx="8138160" cy="822960"/>
          </a:xfrm>
          <a:prstGeom prst="rect">
            <a:avLst/>
          </a:prstGeom>
          <a:solidFill>
            <a:srgbClr val="CADCFC"/>
          </a:solidFill>
          <a:ln w="6350">
            <a:solidFill>
              <a:srgbClr val="BBCCE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393192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Claude applies an open-world assumption — if a fact isn't stated, it draws on training data rather than returning false. Add "Answer only from the facts given above" to close the world.</a:t>
            </a:r>
            <a:endParaRPr lang="en-US" sz="13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92608"/>
            <a:ext cx="1010412" cy="274320"/>
          </a:xfrm>
          <a:prstGeom prst="rect">
            <a:avLst/>
          </a:prstGeom>
          <a:solidFill>
            <a:srgbClr val="5B2D8E"/>
          </a:solidFill>
          <a:ln w="12700">
            <a:solidFill>
              <a:srgbClr val="5B2D8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10104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495639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Rules  ↔  Instructions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02920" y="1097280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7B9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:- symbol means if. Prompt instructions are the same conditional logic in natural language.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02920" y="1574937"/>
            <a:ext cx="3749040" cy="1920240"/>
          </a:xfrm>
          <a:prstGeom prst="rect">
            <a:avLst/>
          </a:prstGeom>
          <a:solidFill>
            <a:srgbClr val="F0F4FF"/>
          </a:solidFill>
          <a:ln w="6350">
            <a:solidFill>
              <a:srgbClr val="7B92C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645920"/>
            <a:ext cx="3474720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ancestor(X,Y) :- parent(X,Y).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ancestor(X,Y) :- parent(X,Z),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ancestor(Z,Y).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bilingual(X) :- parent(X,Y),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speaks(X,english),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speaks(Y,french).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138988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B2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Prolog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846320" y="1574937"/>
            <a:ext cx="3749040" cy="1920240"/>
          </a:xfrm>
          <a:prstGeom prst="rect">
            <a:avLst/>
          </a:prstGeom>
          <a:solidFill>
            <a:srgbClr val="F0F4FF"/>
          </a:solidFill>
          <a:ln w="6350">
            <a:solidFill>
              <a:srgbClr val="7B92C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83480" y="1645920"/>
            <a:ext cx="3474720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Instructions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 find an ancestor, trace parent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relationships step by step.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a parent and child speak different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languages, note the family is bilingual.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846320" y="1389888"/>
            <a:ext cx="21976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 smtClean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Prompt: Second Part: Instructions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160520" y="219456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C9A84C"/>
                </a:solidFill>
              </a:rPr>
              <a:t>≈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502920" y="3547872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Prolog rules are exact and exhaustive. Prompt instructions are fuzzy — Claude applies them approximately, handling cases you didn't anticipate. This is the power and the risk.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02920" y="4160520"/>
            <a:ext cx="8138160" cy="640080"/>
          </a:xfrm>
          <a:prstGeom prst="rect">
            <a:avLst/>
          </a:prstGeom>
          <a:solidFill>
            <a:srgbClr val="CADCFC"/>
          </a:solidFill>
          <a:ln w="6350">
            <a:solidFill>
              <a:srgbClr val="BBCCE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420624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reading Prolog before the cut operator (!) appears — once cut arrives, the clean declarative analogy breaks down.</a:t>
            </a:r>
            <a:endParaRPr lang="en-US" sz="13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92608"/>
            <a:ext cx="1010412" cy="274320"/>
          </a:xfrm>
          <a:prstGeom prst="rect">
            <a:avLst/>
          </a:prstGeom>
          <a:solidFill>
            <a:srgbClr val="5B2D8E"/>
          </a:solidFill>
          <a:ln w="12700">
            <a:solidFill>
              <a:srgbClr val="5B2D8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10104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433647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Query  ↔  The User's Question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502920" y="1189494"/>
            <a:ext cx="3749040" cy="3291840"/>
          </a:xfrm>
          <a:prstGeom prst="rect">
            <a:avLst/>
          </a:prstGeom>
          <a:solidFill>
            <a:srgbClr val="F0F4FF"/>
          </a:solidFill>
          <a:ln w="6350">
            <a:solidFill>
              <a:srgbClr val="7B92C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252728"/>
            <a:ext cx="3474720" cy="3072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 Facts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parent(tom, bob).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parent(bob, ann).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speaks(ann, french).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speaks(bob, english).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 Rules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ancestor(X,Y) :- parent(X,Y).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ancestor(X,Y) :- parent(X,Z),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ancestor(Z,Y).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 Query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?- ancestor(tom, ann).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100584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B2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Prolog program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846320" y="1197243"/>
            <a:ext cx="3749040" cy="3291840"/>
          </a:xfrm>
          <a:prstGeom prst="rect">
            <a:avLst/>
          </a:prstGeom>
          <a:solidFill>
            <a:srgbClr val="F0F4FF"/>
          </a:solidFill>
          <a:ln w="6350">
            <a:solidFill>
              <a:srgbClr val="7B92C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83480" y="1252728"/>
            <a:ext cx="3474720" cy="3072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Context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Tom is Bob's parent.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Bob is Ann's parent.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Ann speaks French.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Bob speaks English.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Instructions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Trace parent relationships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by step to find ancestors.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Question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 Tom an ancestor of Ann?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846320" y="100584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</a:t>
            </a:r>
            <a:r>
              <a:rPr lang="en-US" sz="1100" b="1" dirty="0" smtClean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prompt: With Question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160520" y="246888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C9A84C"/>
                </a:solidFill>
              </a:rPr>
              <a:t>≈</a:t>
            </a:r>
            <a:endParaRPr lang="en-US" sz="3200" dirty="0"/>
          </a:p>
        </p:txBody>
      </p:sp>
      <p:sp>
        <p:nvSpPr>
          <p:cNvPr id="12" name="Shape 10"/>
          <p:cNvSpPr/>
          <p:nvPr/>
        </p:nvSpPr>
        <p:spPr>
          <a:xfrm>
            <a:off x="502920" y="4526280"/>
            <a:ext cx="8138160" cy="4114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4526280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Facts → Context   |   Rules → Instructions   |   Query → User's Question   |   Inference Engine → Claude's Reasoning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92608"/>
            <a:ext cx="1220724" cy="274320"/>
          </a:xfrm>
          <a:prstGeom prst="rect">
            <a:avLst/>
          </a:prstGeom>
          <a:solidFill>
            <a:srgbClr val="B83232"/>
          </a:solidFill>
          <a:ln w="12700">
            <a:solidFill>
              <a:srgbClr val="B832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12207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DEBUGGING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549882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When Things Go Wrong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02920" y="1133235"/>
            <a:ext cx="8138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7B9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Prolog makes underspecification visible. Claude conceals it behind fluent prose.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02920" y="1508760"/>
            <a:ext cx="3749040" cy="1417320"/>
          </a:xfrm>
          <a:prstGeom prst="rect">
            <a:avLst/>
          </a:prstGeom>
          <a:solidFill>
            <a:srgbClr val="F5F7FA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508760"/>
            <a:ext cx="91440" cy="1417320"/>
          </a:xfrm>
          <a:prstGeom prst="rect">
            <a:avLst/>
          </a:prstGeom>
          <a:solidFill>
            <a:srgbClr val="B83232"/>
          </a:solidFill>
          <a:ln w="12700">
            <a:solidFill>
              <a:srgbClr val="B8323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6002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Missing facts → Hallucination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85800" y="1892808"/>
            <a:ext cx="3474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Prolog: false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Claude: invents a confident answer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Fix: "Answer only from the facts given above."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846320" y="1508760"/>
            <a:ext cx="3749040" cy="1417320"/>
          </a:xfrm>
          <a:prstGeom prst="rect">
            <a:avLst/>
          </a:prstGeom>
          <a:solidFill>
            <a:srgbClr val="F5F7FA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846320" y="1508760"/>
            <a:ext cx="91440" cy="14173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0" y="16002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Conflicting rules → Unpredictable output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029200" y="1892808"/>
            <a:ext cx="3474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Prolog: tries rules in order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Claude: follows whichever feels most salient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Fix: resolve conflicts explicitly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02920" y="3063240"/>
            <a:ext cx="3749040" cy="1417320"/>
          </a:xfrm>
          <a:prstGeom prst="rect">
            <a:avLst/>
          </a:prstGeom>
          <a:solidFill>
            <a:srgbClr val="F5F7FA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02920" y="3063240"/>
            <a:ext cx="91440" cy="1417320"/>
          </a:xfrm>
          <a:prstGeom prst="rect">
            <a:avLst/>
          </a:prstGeom>
          <a:solidFill>
            <a:srgbClr val="3A5199"/>
          </a:solidFill>
          <a:ln w="12700">
            <a:solidFill>
              <a:srgbClr val="3A519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31546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Silent disambiguation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85800" y="3447288"/>
            <a:ext cx="3474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Prolog: enumerates all valid answers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Claude: silently picks one interpretation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Fix: make the query more specific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846320" y="3063240"/>
            <a:ext cx="3749040" cy="1417320"/>
          </a:xfrm>
          <a:prstGeom prst="rect">
            <a:avLst/>
          </a:prstGeom>
          <a:solidFill>
            <a:srgbClr val="F5F7FA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846320" y="3063240"/>
            <a:ext cx="91440" cy="1417320"/>
          </a:xfrm>
          <a:prstGeom prst="rect">
            <a:avLst/>
          </a:prstGeom>
          <a:solidFill>
            <a:srgbClr val="5B2D8E"/>
          </a:solidFill>
          <a:ln w="12700">
            <a:solidFill>
              <a:srgbClr val="5B2D8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0" y="31546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Missing edge cases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029200" y="3447288"/>
            <a:ext cx="3474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Prolog: missing base case → stack error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Claude: missing edge case → unexpected output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Fix: enumerate boundary conditions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92608"/>
            <a:ext cx="2482596" cy="274320"/>
          </a:xfrm>
          <a:prstGeom prst="rect">
            <a:avLst/>
          </a:prstGeom>
          <a:solidFill>
            <a:srgbClr val="7EC8E3"/>
          </a:solidFill>
          <a:ln w="12700">
            <a:solidFill>
              <a:srgbClr val="7EC8E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24825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LIMITS OF THE ANALOGY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658368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Falls Outside the Analogy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02920" y="1097280"/>
            <a:ext cx="8138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Prolog operates entirely within logic. Claude also operates somewhere else.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02920" y="1572768"/>
            <a:ext cx="1581912" cy="329184"/>
          </a:xfrm>
          <a:prstGeom prst="rect">
            <a:avLst/>
          </a:prstGeom>
          <a:solidFill>
            <a:srgbClr val="7EC8E3"/>
          </a:solidFill>
          <a:ln w="12700">
            <a:solidFill>
              <a:srgbClr val="7EC8E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572768"/>
            <a:ext cx="15819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Tone &amp; Register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02920" y="1901952"/>
            <a:ext cx="1581912" cy="2560320"/>
          </a:xfrm>
          <a:prstGeom prst="rect">
            <a:avLst/>
          </a:prstGeom>
          <a:solidFill>
            <a:srgbClr val="0D1B4B"/>
          </a:solidFill>
          <a:ln w="6350">
            <a:solidFill>
              <a:srgbClr val="7B92C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965960"/>
            <a:ext cx="1399032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proof cannot be warm, dry, or urgent.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can deliver the same fact in radically different registers.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153412" y="1572768"/>
            <a:ext cx="1581912" cy="329184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153412" y="1572768"/>
            <a:ext cx="15819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Style &amp; Voice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153412" y="1901952"/>
            <a:ext cx="1581912" cy="2560320"/>
          </a:xfrm>
          <a:prstGeom prst="rect">
            <a:avLst/>
          </a:prstGeom>
          <a:solidFill>
            <a:srgbClr val="0D1B4B"/>
          </a:solidFill>
          <a:ln w="6350">
            <a:solidFill>
              <a:srgbClr val="7B92C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244852" y="1965960"/>
            <a:ext cx="1399032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correct Prolog programs are interchangeable.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can write with a distinctive voice.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803904" y="1572768"/>
            <a:ext cx="1581912" cy="32918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03904" y="1572768"/>
            <a:ext cx="15819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Creativity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803904" y="1901952"/>
            <a:ext cx="1581912" cy="2560320"/>
          </a:xfrm>
          <a:prstGeom prst="rect">
            <a:avLst/>
          </a:prstGeom>
          <a:solidFill>
            <a:srgbClr val="0D1B4B"/>
          </a:solidFill>
          <a:ln w="6350">
            <a:solidFill>
              <a:srgbClr val="7B92C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95344" y="1965960"/>
            <a:ext cx="1399032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Prolog is closed under its knowledge base.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can invent — metaphors, plots, novel analogies.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54396" y="1572768"/>
            <a:ext cx="1581912" cy="329184"/>
          </a:xfrm>
          <a:prstGeom prst="rect">
            <a:avLst/>
          </a:prstGeom>
          <a:solidFill>
            <a:srgbClr val="5B2D8E"/>
          </a:solidFill>
          <a:ln w="12700">
            <a:solidFill>
              <a:srgbClr val="5B2D8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54396" y="1572768"/>
            <a:ext cx="15819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Judgment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54396" y="1901952"/>
            <a:ext cx="1581912" cy="2560320"/>
          </a:xfrm>
          <a:prstGeom prst="rect">
            <a:avLst/>
          </a:prstGeom>
          <a:solidFill>
            <a:srgbClr val="0D1B4B"/>
          </a:solidFill>
          <a:ln w="6350">
            <a:solidFill>
              <a:srgbClr val="7B92C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545836" y="1965960"/>
            <a:ext cx="1399032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Prolog fails cleanly on ambiguity.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exercises practical wisdom where rules run out.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104888" y="1572768"/>
            <a:ext cx="1581912" cy="32918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104888" y="1572768"/>
            <a:ext cx="15819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Empathy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104888" y="1901952"/>
            <a:ext cx="1581912" cy="2560320"/>
          </a:xfrm>
          <a:prstGeom prst="rect">
            <a:avLst/>
          </a:prstGeom>
          <a:solidFill>
            <a:srgbClr val="0D1B4B"/>
          </a:solidFill>
          <a:ln w="6350">
            <a:solidFill>
              <a:srgbClr val="7B92C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196328" y="1965960"/>
            <a:ext cx="1399032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Prolog has no model of the asker.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can read intent, infer need, respond to the person.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02920" y="4572000"/>
            <a:ext cx="8138160" cy="347472"/>
          </a:xfrm>
          <a:prstGeom prst="rect">
            <a:avLst/>
          </a:prstGeom>
          <a:solidFill>
            <a:srgbClr val="3A5199"/>
          </a:solidFill>
          <a:ln w="12700">
            <a:solidFill>
              <a:srgbClr val="3A519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" y="4572000"/>
            <a:ext cx="8138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Prolog tells you what to make explicit. The rest tells you what must be cultivated and trusted.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92608"/>
            <a:ext cx="1325880" cy="274320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LOOP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743607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ReAct Loop: Prolog Made Visible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502920" y="2240280"/>
            <a:ext cx="1691640" cy="10972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235000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Thought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02920" y="2715768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 selection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(next subgoal)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2203704" y="2587752"/>
            <a:ext cx="3291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9A84C"/>
                </a:solidFill>
              </a:rPr>
              <a:t>→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2514600" y="2240280"/>
            <a:ext cx="1691640" cy="1097280"/>
          </a:xfrm>
          <a:prstGeom prst="rect">
            <a:avLst/>
          </a:prstGeom>
          <a:solidFill>
            <a:srgbClr val="5B2D8E"/>
          </a:solidFill>
          <a:ln w="12700">
            <a:solidFill>
              <a:srgbClr val="5B2D8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14600" y="235000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Action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514600" y="2715768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predicate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(tool call)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215384" y="2587752"/>
            <a:ext cx="3291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9A84C"/>
                </a:solidFill>
              </a:rPr>
              <a:t>→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4526280" y="2240280"/>
            <a:ext cx="1691640" cy="10972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26280" y="235000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Observation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526280" y="2715768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Unification with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227064" y="2587752"/>
            <a:ext cx="3291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9A84C"/>
                </a:solidFill>
              </a:rPr>
              <a:t>→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6537960" y="2240280"/>
            <a:ext cx="1691640" cy="1097280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37960" y="235000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Answer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537960" y="2715768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output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(final response)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02920" y="3566160"/>
            <a:ext cx="8138160" cy="256032"/>
          </a:xfrm>
          <a:prstGeom prst="rect">
            <a:avLst/>
          </a:prstGeom>
          <a:solidFill>
            <a:srgbClr val="1E2761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4360" y="356616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Prolog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617720" y="356616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02920" y="3822192"/>
            <a:ext cx="8138160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4360" y="382219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 engine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617720" y="382219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(decides, reasons)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02920" y="4078224"/>
            <a:ext cx="8138160" cy="256032"/>
          </a:xfrm>
          <a:prstGeom prst="rect">
            <a:avLst/>
          </a:prstGeom>
          <a:solidFill>
            <a:srgbClr val="F5F7FA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4360" y="407822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predicate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617720" y="4078224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executes a tool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02920" y="4334256"/>
            <a:ext cx="8138160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94360" y="433425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unified into proof state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617720" y="4334256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 appended to history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502920" y="4590288"/>
            <a:ext cx="8138160" cy="256032"/>
          </a:xfrm>
          <a:prstGeom prst="rect">
            <a:avLst/>
          </a:prstGeom>
          <a:solidFill>
            <a:srgbClr val="F5F7FA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94360" y="459028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state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617720" y="459028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 history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502920" y="4846320"/>
            <a:ext cx="8138160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94360" y="484632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resolution step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4617720" y="484632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call to the model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502920" y="1536192"/>
            <a:ext cx="8138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7B9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ReAct loop is Prolog's inference engine stretched across time, with tool calls as external predicates.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92608"/>
            <a:ext cx="1536192" cy="274320"/>
          </a:xfrm>
          <a:prstGeom prst="rect">
            <a:avLst/>
          </a:prstGeom>
          <a:solidFill>
            <a:srgbClr val="3A5199"/>
          </a:solidFill>
          <a:ln w="12700">
            <a:solidFill>
              <a:srgbClr val="3A519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1536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658368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System, User, Assistant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02920" y="1148733"/>
            <a:ext cx="8138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7B9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three roles map onto Prolog — but conversation breaks the analogy in a revealing way.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02920" y="1536192"/>
            <a:ext cx="2606040" cy="38404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536192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System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02920" y="1920240"/>
            <a:ext cx="2606040" cy="502920"/>
          </a:xfrm>
          <a:prstGeom prst="rect">
            <a:avLst/>
          </a:prstGeom>
          <a:solidFill>
            <a:srgbClr val="5B2D8E">
              <a:alpha val="20000"/>
            </a:srgbClr>
          </a:solidFill>
          <a:ln w="6350">
            <a:solidFill>
              <a:srgbClr val="5B2D8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92024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≈  Knowledge base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(facts + rules)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02920" y="2423160"/>
            <a:ext cx="2606040" cy="1280160"/>
          </a:xfrm>
          <a:prstGeom prst="rect">
            <a:avLst/>
          </a:prstGeom>
          <a:solidFill>
            <a:srgbClr val="F5F7FA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2648" y="2487168"/>
            <a:ext cx="237744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Fixed, loaded once.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Axioms the inference engine consults.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337560" y="1536192"/>
            <a:ext cx="2606040" cy="38404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37560" y="1536192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User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337560" y="1920240"/>
            <a:ext cx="2606040" cy="502920"/>
          </a:xfrm>
          <a:prstGeom prst="rect">
            <a:avLst/>
          </a:prstGeom>
          <a:solidFill>
            <a:srgbClr val="028090">
              <a:alpha val="20000"/>
            </a:srgbClr>
          </a:solidFill>
          <a:ln w="6350">
            <a:solidFill>
              <a:srgbClr val="02809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29000" y="192024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≈  Query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(+ assert/1)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337560" y="2423160"/>
            <a:ext cx="2606040" cy="1280160"/>
          </a:xfrm>
          <a:prstGeom prst="rect">
            <a:avLst/>
          </a:prstGeom>
          <a:solidFill>
            <a:srgbClr val="F5F7FA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47288" y="2487168"/>
            <a:ext cx="237744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Poses questions but also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 new facts dynamically.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172200" y="1536192"/>
            <a:ext cx="2606040" cy="384048"/>
          </a:xfrm>
          <a:prstGeom prst="rect">
            <a:avLst/>
          </a:prstGeom>
          <a:solidFill>
            <a:srgbClr val="3A5199"/>
          </a:solidFill>
          <a:ln w="12700">
            <a:solidFill>
              <a:srgbClr val="3A519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72200" y="1536192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Assistant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172200" y="1920240"/>
            <a:ext cx="2606040" cy="502920"/>
          </a:xfrm>
          <a:prstGeom prst="rect">
            <a:avLst/>
          </a:prstGeom>
          <a:solidFill>
            <a:srgbClr val="5B2D8E">
              <a:alpha val="20000"/>
            </a:srgbClr>
          </a:solidFill>
          <a:ln w="6350">
            <a:solidFill>
              <a:srgbClr val="5B2D8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63640" y="192024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≈  Proof output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(+ context shaper)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172200" y="2423160"/>
            <a:ext cx="2606040" cy="1280160"/>
          </a:xfrm>
          <a:prstGeom prst="rect">
            <a:avLst/>
          </a:prstGeom>
          <a:solidFill>
            <a:srgbClr val="F5F7FA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81928" y="2487168"/>
            <a:ext cx="237744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just an answer — each turn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reshapes what follows.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02920" y="3794760"/>
            <a:ext cx="8138160" cy="1051560"/>
          </a:xfrm>
          <a:prstGeom prst="rect">
            <a:avLst/>
          </a:prstGeom>
          <a:solidFill>
            <a:srgbClr val="CADCFC"/>
          </a:solidFill>
          <a:ln w="6350">
            <a:solidFill>
              <a:srgbClr val="BBCCE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3840480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key difference from Prolog: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40080" y="4114800"/>
            <a:ext cx="7863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Prolog's knowledge base is fixed between queries. In conversation, each assistant turn becomes part of the context — the "knowledge base" grows dynamically. This is assert/retract, but it is not a workaround; it is the whole point.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92608"/>
            <a:ext cx="2167128" cy="274320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2167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ARCHITECTURE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658368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 Decides · Agent Acts · History Remembers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02920" y="1417320"/>
            <a:ext cx="2606040" cy="3154680"/>
          </a:xfrm>
          <a:prstGeom prst="rect">
            <a:avLst/>
          </a:prstGeom>
          <a:solidFill>
            <a:srgbClr val="0D1B4B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417320"/>
            <a:ext cx="2606040" cy="47548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417320"/>
            <a:ext cx="2606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Model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0080" y="1965960"/>
            <a:ext cx="233172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Stateless. Receives a payload,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a response, stops.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function from input to output.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 Prolog's inference engine.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337560" y="1417320"/>
            <a:ext cx="2606040" cy="3154680"/>
          </a:xfrm>
          <a:prstGeom prst="rect">
            <a:avLst/>
          </a:prstGeom>
          <a:solidFill>
            <a:srgbClr val="0D1B4B"/>
          </a:solidFill>
          <a:ln w="19050">
            <a:solidFill>
              <a:srgbClr val="5B2D8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337560" y="1417320"/>
            <a:ext cx="2606040" cy="475488"/>
          </a:xfrm>
          <a:prstGeom prst="rect">
            <a:avLst/>
          </a:prstGeom>
          <a:solidFill>
            <a:srgbClr val="5B2D8E"/>
          </a:solidFill>
          <a:ln w="12700">
            <a:solidFill>
              <a:srgbClr val="5B2D8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37560" y="1417320"/>
            <a:ext cx="2606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Agent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474720" y="1965960"/>
            <a:ext cx="233172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Holds message history.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Executes tool calls.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Receives observations.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Decides when to loop or stop.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172200" y="1417320"/>
            <a:ext cx="2606040" cy="3154680"/>
          </a:xfrm>
          <a:prstGeom prst="rect">
            <a:avLst/>
          </a:prstGeom>
          <a:solidFill>
            <a:srgbClr val="0D1B4B"/>
          </a:solidFill>
          <a:ln w="19050">
            <a:solidFill>
              <a:srgbClr val="02809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172200" y="1417320"/>
            <a:ext cx="2606040" cy="47548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72200" y="1417320"/>
            <a:ext cx="2606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Message History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309360" y="1965960"/>
            <a:ext cx="233172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Explicit, inspectable proof state.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be pruned, edited, resumed.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Makes implicit context explicit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controllable.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02920" y="4663440"/>
            <a:ext cx="8138160" cy="256032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4663440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message history, context accumulates implicitly — harder to inspect, debug, or control.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2286000"/>
            <a:ext cx="4572000" cy="4572000"/>
          </a:xfrm>
          <a:prstGeom prst="ellipse">
            <a:avLst/>
          </a:prstGeom>
          <a:solidFill>
            <a:srgbClr val="3A5199">
              <a:alpha val="30000"/>
            </a:srgbClr>
          </a:solidFill>
          <a:ln w="12700">
            <a:solidFill>
              <a:srgbClr val="3A519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82296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Same Shape,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502920" y="1627632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i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Different Physics.</a:t>
            </a:r>
            <a:endParaRPr lang="en-US" sz="5200" dirty="0"/>
          </a:p>
        </p:txBody>
      </p:sp>
      <p:sp>
        <p:nvSpPr>
          <p:cNvPr id="5" name="Shape 3"/>
          <p:cNvSpPr/>
          <p:nvPr/>
        </p:nvSpPr>
        <p:spPr>
          <a:xfrm>
            <a:off x="502920" y="2487168"/>
            <a:ext cx="2286000" cy="64008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2679192"/>
            <a:ext cx="219456" cy="219456"/>
          </a:xfrm>
          <a:prstGeom prst="ellipse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651760"/>
            <a:ext cx="5394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Prolog's declarative structure is the right mental model for writing precise, reliable prompts.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02920" y="3118104"/>
            <a:ext cx="219456" cy="219456"/>
          </a:xfrm>
          <a:prstGeom prst="ellipse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3090672"/>
            <a:ext cx="5394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Thinking like a Prolog programmer — complete facts, scoped rules, unambiguous queries — catches most prompt bugs before they happen.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02920" y="3557016"/>
            <a:ext cx="219456" cy="219456"/>
          </a:xfrm>
          <a:prstGeom prst="ellipse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3529584"/>
            <a:ext cx="5394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ReAct loop is Prolog's inference engine made explicit, with tool calls as external predicates.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02920" y="3995928"/>
            <a:ext cx="219456" cy="219456"/>
          </a:xfrm>
          <a:prstGeom prst="ellipse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3968496"/>
            <a:ext cx="5394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message history is the proof state: make it explicit and it becomes inspectable, debuggable, controllable.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02920" y="4434840"/>
            <a:ext cx="219456" cy="219456"/>
          </a:xfrm>
          <a:prstGeom prst="ellipse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4407408"/>
            <a:ext cx="5394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analogy ends — tone, creativity, judgment, empathy — is where prompting becomes an art, not an engineering task.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40895" y="1530559"/>
            <a:ext cx="7712368" cy="17081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b="1" i="1" dirty="0"/>
              <a:t>"Learn Prolog Now!"</a:t>
            </a:r>
            <a:r>
              <a:rPr lang="en-US" sz="1050" b="1" dirty="0"/>
              <a:t> by Patrick Blackburn, Johan </a:t>
            </a:r>
            <a:r>
              <a:rPr lang="en-US" sz="1050" b="1" dirty="0" err="1"/>
              <a:t>Bos</a:t>
            </a:r>
            <a:r>
              <a:rPr lang="en-US" sz="1050" b="1" dirty="0"/>
              <a:t>, and Kristina </a:t>
            </a:r>
            <a:r>
              <a:rPr lang="en-US" sz="1050" b="1" dirty="0" err="1"/>
              <a:t>Striegnitz</a:t>
            </a:r>
            <a:r>
              <a:rPr lang="en-US" sz="1050" dirty="0"/>
              <a:t> is the standard recommendation for beginners. </a:t>
            </a:r>
            <a:endParaRPr lang="en-US" sz="1050" dirty="0" smtClean="0"/>
          </a:p>
          <a:p>
            <a:r>
              <a:rPr lang="en-US" sz="1050" dirty="0" smtClean="0"/>
              <a:t>It's </a:t>
            </a:r>
            <a:r>
              <a:rPr lang="en-US" sz="1050" dirty="0"/>
              <a:t>available free online at </a:t>
            </a:r>
            <a:r>
              <a:rPr lang="en-US" sz="1050" u="sng" dirty="0">
                <a:hlinkClick r:id="rId2"/>
              </a:rPr>
              <a:t>learnyouprolognow.com</a:t>
            </a:r>
            <a:r>
              <a:rPr lang="en-US" sz="1050" dirty="0"/>
              <a:t> and </a:t>
            </a:r>
            <a:endParaRPr lang="en-US" sz="1050" dirty="0" smtClean="0"/>
          </a:p>
          <a:p>
            <a:r>
              <a:rPr lang="en-US" sz="1050" dirty="0" smtClean="0"/>
              <a:t>walks </a:t>
            </a:r>
            <a:r>
              <a:rPr lang="en-US" sz="1050" dirty="0"/>
              <a:t>you through the logic carefully without assuming a logic programming background. </a:t>
            </a:r>
            <a:endParaRPr lang="en-US" sz="1050" dirty="0" smtClean="0"/>
          </a:p>
          <a:p>
            <a:endParaRPr lang="en-US" sz="1050" dirty="0"/>
          </a:p>
          <a:p>
            <a:r>
              <a:rPr lang="en-US" sz="1050" b="1" dirty="0"/>
              <a:t>"Programming in Prolog" by </a:t>
            </a:r>
            <a:r>
              <a:rPr lang="en-US" sz="1050" b="1" dirty="0" err="1"/>
              <a:t>Clocksin</a:t>
            </a:r>
            <a:r>
              <a:rPr lang="en-US" sz="1050" b="1" dirty="0"/>
              <a:t> and </a:t>
            </a:r>
            <a:r>
              <a:rPr lang="en-US" sz="1050" b="1" dirty="0" err="1"/>
              <a:t>Mellish</a:t>
            </a:r>
            <a:r>
              <a:rPr lang="en-US" sz="1050" dirty="0"/>
              <a:t> (the original 1981 textbook). </a:t>
            </a:r>
            <a:endParaRPr lang="en-US" sz="1050" dirty="0" smtClean="0"/>
          </a:p>
          <a:p>
            <a:r>
              <a:rPr lang="en-US" sz="1050" dirty="0" smtClean="0"/>
              <a:t>The </a:t>
            </a:r>
            <a:r>
              <a:rPr lang="en-US" sz="1050" dirty="0"/>
              <a:t>first two chapters — facts, rules, and queries — are extremely clean and short. </a:t>
            </a:r>
            <a:endParaRPr lang="en-US" sz="1050" dirty="0" smtClean="0"/>
          </a:p>
          <a:p>
            <a:r>
              <a:rPr lang="en-US" sz="1050" dirty="0" smtClean="0"/>
              <a:t>The </a:t>
            </a:r>
            <a:r>
              <a:rPr lang="en-US" sz="1050" dirty="0"/>
              <a:t>syntax is minimal, the examples are everyday (family trees, simple classifications), and the declarative logic is front and center before </a:t>
            </a:r>
            <a:endParaRPr lang="en-US" sz="1050" dirty="0" smtClean="0"/>
          </a:p>
          <a:p>
            <a:r>
              <a:rPr lang="en-US" sz="1050" dirty="0" smtClean="0"/>
              <a:t>any </a:t>
            </a:r>
            <a:r>
              <a:rPr lang="en-US" sz="1050" dirty="0"/>
              <a:t>procedural complications creep in. </a:t>
            </a:r>
            <a:endParaRPr lang="en-US" sz="1050" dirty="0" smtClean="0"/>
          </a:p>
          <a:p>
            <a:r>
              <a:rPr lang="en-US" sz="1050" dirty="0" smtClean="0"/>
              <a:t>It's </a:t>
            </a:r>
            <a:r>
              <a:rPr lang="en-US" sz="1050" dirty="0"/>
              <a:t>the most "pure" presentation of the paradigm before you hit cuts, assert/retract, and all the messy pragmatics</a:t>
            </a:r>
            <a:r>
              <a:rPr lang="en-US" sz="1050" dirty="0" smtClean="0"/>
              <a:t>.</a:t>
            </a:r>
          </a:p>
          <a:p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9210205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1228</Words>
  <Application>Microsoft Office PowerPoint</Application>
  <PresentationFormat>On-screen Show (16:9)</PresentationFormat>
  <Paragraphs>218</Paragraphs>
  <Slides>12</Slides>
  <Notes>11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Prompting Claude: A Logic Programmer's Guide</dc:title>
  <dc:subject>PptxGenJS Presentation</dc:subject>
  <dc:creator>PptxGenJS</dc:creator>
  <cp:lastModifiedBy>Vincenzo</cp:lastModifiedBy>
  <cp:revision>8</cp:revision>
  <dcterms:created xsi:type="dcterms:W3CDTF">2026-06-01T00:50:47Z</dcterms:created>
  <dcterms:modified xsi:type="dcterms:W3CDTF">2026-09-10T16:40:17Z</dcterms:modified>
</cp:coreProperties>
</file>